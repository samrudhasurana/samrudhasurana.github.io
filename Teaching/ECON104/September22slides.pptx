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90" r:id="rId34"/>
    <p:sldId id="292" r:id="rId35"/>
    <p:sldId id="294" r:id="rId36"/>
    <p:sldId id="296" r:id="rId37"/>
    <p:sldId id="298" r:id="rId38"/>
    <p:sldId id="299" r:id="rId39"/>
    <p:sldId id="300" r:id="rId40"/>
    <p:sldId id="302" r:id="rId41"/>
    <p:sldId id="303" r:id="rId42"/>
    <p:sldId id="304" r:id="rId43"/>
    <p:sldId id="305" r:id="rId44"/>
    <p:sldId id="306" r:id="rId45"/>
    <p:sldId id="307" r:id="rId46"/>
    <p:sldId id="308" r:id="rId47"/>
    <p:sldId id="309" r:id="rId48"/>
    <p:sldId id="31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54"/>
    <p:restoredTop sz="79521"/>
  </p:normalViewPr>
  <p:slideViewPr>
    <p:cSldViewPr snapToGrid="0" snapToObjects="1">
      <p:cViewPr varScale="1">
        <p:scale>
          <a:sx n="100" d="100"/>
          <a:sy n="100" d="100"/>
        </p:scale>
        <p:origin x="104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of 48. Title slide. Small heading: Week 5, September 22, 2026. Title: Quiz Review and Exam Overview; Introduction to Equilibrium. Course label: ECON 103. Every slide in this deck has the same footer: ECON 103, Contemporary Microeconomic Principles, followed by the slide number. Today we review Pop Quiz 2, go over Exam 1, and, if time allows, begin the new topic of equilibrium.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of 48. Today's Objectives. A numbered list of five items: 1, Quiz Review. 2, Exam Overview. 3, Exam Review. 4, Your Questions. 5, Introduction to Equilibrium, if time allows.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of 48. Quiz Review, answer. Title: Question 1a and 1b: Inferior versus Normal Good. On the quiz, each type of good was matched to a situation numbered with Roman numerals. Part a, Inferior good, matches situation ii: a consumer's income increases, and the demand for good X decreases. Part b, Normal good, matches situation iii: a consumer's income increases, and the demand for good X increases. Next point: What separates the two? Both situations start with a change in income; the difference is the direction of the response. Demand for a normal good moves with income; demand for an inferior good moves against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of 48. Quiz Review, graphs. Title: Question 1a and 1b: Inferior versus Normal Good. Two graphs sit side by side. In both, the vertical axis is Price and the horizontal axis is Quantity of good X. Each graph has two parallel straight demand lines sloping downward from upper left to lower right. D1, the original demand, is a dashed line. D2, the new demand after income increases, is a solid line. An arrow between them shows the direction of the shift. Left graph: Inferior good, income increases. D2 lies to the left of D1 and the arrow points left. Caption: Demand decreases. At every price, consumers now buy less. Right graph: Normal good, income increases. D2 lies to the right of D1 and the arrow points right. Caption: Demand increases. At every price, consumers now buy more. The whole curve moves. This is a shift in demand, not a movement along a single curve.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of 48. Quiz Review, answer. Title: Question 1c and 1d: Substitute versus Complement Goods. Part c, Substitute goods, matches situation iv: the price of good A increases, and the demand for good B increases. Part d, Complement goods, matches situation i: the price of good A increases, and the demand for good B decreases. Next point: What separates the two? Both situations start with a change in another good's price; again, the direction of the response is what differs. Substitutes are alternatives, so buyers switch toward B. Complements are used together, so buyers want less of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of 48. Quiz Review, graphs. Title: Question 1c and 1d: Substitute versus Complement Goods. Two graphs sit side by side. In both, the vertical axis is Price and the horizontal axis is Quantity of good B. Each graph has two parallel straight demand lines sloping downward. D1, the original demand for good B, is dashed. D2, the new demand after the price of good A increases, is solid. An arrow shows the direction of the shift. Left graph: Substitute goods. D2 lies to the right of D1 and the arrow points right. Caption: Demand increases. Right graph: Complement goods. D2 lies to the left of D1 and the arrow points left. Caption: Demand decreases.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of 48. Quiz Review, Question 2. Title: Consumer Surplus. A table with two columns: Consumer, and Willingness to Pay for a Case of Alani. Five rows: Ben, $17. Alyssa, $15. Hannah, $18. Brady, $12. Amanda, $21. Below the table: Market price equals $15 per case. Each person considers buying one case. Consumer surplus is willingness to pay minus the price paid.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No consumers have been added yet. Caption below the graph: Each consumer considers one case. Who buys at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Caption below the graph: Amanda is willing to pay up to $21 for one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Caption below the graph: Amanda gains $6 from buying at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Caption below the graph: Hannah is willing to pay up to $18 for one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Caption below the graph: Hannah gains $3 from buying at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Caption below the graph: Ben is willing to pay up to $17 for one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Caption below the graph: Ben gains $2 from buying at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Alyssa's step is at exactly $15, from quantity 3 to 4, so it sits right on the market price line. Caption below the graph: Alyssa is willing to pay up to $15 for one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Alyssa's step is at exactly $15, from quantity 3 to 4, so it sits right on the market price line. Her label reads $15 minus $15 equals $0. Caption below the graph: Alyssa is indifferent at $15 and gains $0 surplus.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Alyssa's step is at exactly $15, from quantity 3 to 4, so it sits right on the market price line. Her label reads $15 minus $15 equals $0. Brady's step is at $12, from quantity 4 to 5, below the market price line. The full staircase is now labeled Demand. Caption below the graph: Brady is willing to pay up to $12 for one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Alyssa's step is at exactly $15, from quantity 3 to 4, so it sits right on the market price line. Her label reads $15 minus $15 equals $0. Brady's step is at $12, from quantity 4 to 5, below the market price line. The full staircase is now labeled Demand. Brady is labeled No purchase, $0 surplus, because his willingness to pay is below the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of 48. Quiz Review, Question 2. Title: Consumer Surplus. The slide shows a graph. The vertical axis is Price, marked at $0, $6, $12, $15, $18, $21, and $24. The horizontal axis is Quantity, measured in cases of Alani, marked 0 through 5. A horizontal line runs across the graph at $15, labeled Market price equals $15. Demand is drawn as a staircase: each consumer is one step, one case wide, and the height of each step is that person's willingness to pay. The steps go from highest willingness to pay on the left to lowest on the right. Amanda's step is at $21, from quantity 0 to 1. A short vertical line at her step shows the gap between $21 and the $15 price, labeled $21 minus $15 equals $6. Hannah's step is at $18, from quantity 1 to 2. Her gap to the price line is labeled $18 minus $15 equals $3. Ben's step is at $17, from quantity 2 to 3. His gap is labeled $17 minus $15 equals $2. Alyssa's step is at exactly $15, from quantity 3 to 4, so it sits right on the market price line. Her label reads $15 minus $15 equals $0. Brady's step is at $12, from quantity 4 to 5, below the market price line. The full staircase is now labeled Demand. Brady is labeled No purchase, $0 surplus. The areas between the staircase and the price line are now shaded: a rectangle labeled $6 above Amanda's case, $3 above Hannah's, and $2 above Ben's. Alyssa has no shaded area because her step sits on the price line, and Brady has none because his step is below it. The total shaded area is total consumer surplus. Caption below the graph: Total consumer surplus equals $6 plus $3 plus $2 plus $0, which equals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of 48. Quiz Review, answer. Title: Consumer Surplus. Bulleted list. First: Consumer surplus is the gap between what a buyer is willing to pay and what they actually pay. Sub-point: willingness to pay minus the market price, for each buyer who makes the purchase. Second: Total consumer surplus is every individual's consumer surplus added together. Sub-point: Amanda $6 plus Hannah $3 plus Ben $2 plus Alyssa $0 equals $11 in total consumer surplus. Third: So why didn't Brady get included in this calculation? Sub-points: Go back to our lesson on trade: a person enters a trade only when they expect to be better off for it. Willingness to pay is the most someone will give up to obtain the good. Brady's maximum is $12, and the market price is $15, more than the case is worth to him. So he never enters the trade, and he gains no surplus. He isn't left out of the calculation; he simply isn't a buyer.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of 48. Producer Surplus. Title: Producer Surplus: Beer. Text: Practice example: each beer company offers one case of beer at a market price of $24. This is a made-up classroom example, not real company costs. A table with two columns: Beer company, and Minimum acceptable price. Five rows: Guinness, $12. Heineken, $17. Coors, $22. Miller, $24. Yuengling, $27. Question below the table: Who sells? Who gains the most? What is total producer surplus? Producer surplus is the price received minus the seller's minimum acceptable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of 48. Producer Surplus. Title: Producer Surplus: Beer. The slide shows a graph. The vertical axis is Price, marked every $5 from $0 to $30. The horizontal axis is Quantity, measured in cases of beer, marked 0 through 5. A horizontal line at $24 is labeled Market price equals $24. Supply is drawn as a staircase rising from left to right: each company is one step, one case wide, and the height of each step is its minimum acceptable price. Guinness at $12, from 0 to 1. Heineken at $17, from 1 to 2. Coors at $22, from 2 to 3. Miller at $24, from 3 to 4, right on the price line. Yuengling at $27, from 4 to 5, above the price line. The staircase is labeled Supply. The areas between the price line and the steps below it are shaded: $12 above Guinness, $7 above Heineken, and $2 above Coors. A panel to the right, headed Surplus from each sale, lists: Guinness, $24 minus $12 equals $12. Heineken, $24 minus $17 equals $7. Coors, $24 minus $22 equals $2. Miller, $24 minus $24 equals $0. Yuengling: no sale, because its minimum of $27 is greater than the $24 price, so $0 producer surplus. Caption below the graph: Total producer surplus equals $12 plus $7 plus $2 plus $0, which equals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of 48. Producer Surplus, answer. Title: Let's Do This for Producer Surplus. Bulleted list. First: Producer surplus is the gap between the price a seller receives and the least they would have accepted. Sub-point: the market price minus willingness to sell, for each seller who makes the sale. Second: Total producer surplus is every individual seller's producer surplus added together. Sub-point: add up the surplus of everyone who actually sells at the market price. Third: So why wouldn't a seller whose willingness to sell is above the market price be included? Sub-points: The same logic, from the other side of the market: a seller trades only when they expect to be better off for it. Willingness to sell is the least a seller will accept. If the market price sits below that price, the sale would leave them worse off than keeping the good. So they never enter the trade, and they gain no surplus. They aren't left out of the calculation; they simply aren't a seller.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of 48. Section slide. Small heading: Quiz Review. Title: Any Questions on the Quiz? This is a pause for questions about Pop Quiz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of 48. Section slide. Small heading: Exam 1, Thursday, September 24. Title: Exam Overview. Subtitle: Format, grading, and what to bring.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of 48. Exam 1. Title: Question Format. Four boxes in a two-by-two grid, each with a number and a question type. 25 Multiple Choice. 8 Short Answer. 1 Long Answer. 1 Bonus.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of 48. Exam 1. Title: Exam Grading. Bulleted list. First: There are 106 points available on a 100-point exam. Sub-point: the bonus can only help you. It can never pull your score down. Second: Multiple choice is all or nothing. Sub-point: I will not read notes or work written in the margins on those questions. Third: On short answer, long answer, and the bonus, show me as much work as you can. Sub-points: Partial credit is real. If you miss a step, I can trace where it went wrong and still give you credit for the parts that you got right. If you want to draw a graph, draw it. I take graphs into account on the short and long answer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of 48. Exam 1. Title: Exam Materials. Bulleted list: Bring a pen or a pencil. You can bring a ruler if you'd like one. A calculator is allowed; I am not particular about what kind. You cannot share them. Phones stay put away for the entire exam, no exceptions; they cannot be used for calculations. The exam is closed book and closed note. No shared materials, and no looking at anyone else's paper. Below the list, a shaded box reads: Proctors will be monitoring the room, and I will act on what they report, including a suspicion of cheating. I have already had to address students looking at each other's work during quizzes, so take this as your warning: I will give you a zero and refer the matter to the academic review board if necessary. Let's not end up there. If you use testing accommodations, confirm those arrangements with your instructor before the exam.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of 48. Section slide. Small heading: Exam 1. Title: Any Questions on the Exam? This is a pause for questions about Exam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of 48. Section slide. Small heading: Review. Title: Reviewing Our Concepts. Subtitle: The economic toolkit on the big screen. The next six slides are video clips from films and TV shows that illustrate ideas from the course.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of 48. On the big screen, clip 1 of 6. Title: Moneyball. The clip is called: Moneyball (2011): Flashback to Billy's Mets Offer. The rest of the slide is an embedded YouTube video, centered below the title. Before it plays, it shows a still image: a close-up of a young man's face, with a label reading CLIP in the lower left corner.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of 48. On the big screen, clip 2 of 6. Title: Friends. The clip is called: Friends: Phoebe Hates PBS, from Season 5. The rest of the slide is an embedded YouTube video, centered below the title. Before it plays, it shows a still image: Phoebe, a woman with long blond hair, standing and talking in an apartment, with the Friends logo at the top and a TBS logo in the corner.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of 48. On the big screen, clip 3 of 6. Title: The Simpsons. The clip is called: The Simpsons: Homer the Thief and the Ten Commandments. The rest of the slide is an embedded YouTube video, centered below the title. Before it plays, it shows a still image: Homer Simpson in a green robe standing between two other animated characters in old-fashioned robes and turbans, with a camel behind them.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of 48. On the big screen, clip 4 of 6. Title: Futurama. The clip is called: Futurama: Are you crazy? It's a can of old fish! The rest of the slide is an embedded YouTube video, centered below the title. Before it plays, it shows a still image: Fry, with orange hair, and Leela, with a purple ponytail, seated among other passengers. This clip is in an older, squarer TV shape, so black bars fill the sides of the video window.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35 of 48. On the big screen, clip 5 of 6. Title: Seinfeld. The clip is called: Seinfeld: The Illegal Cable. The rest of the slide is an embedded YouTube video, centered below the title. Before it plays, it shows a still image: two men standing in an apartment; one holds a plate with a slice of chocolate cake. A Seinfeld Shorts logo is in the lower left corner.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36 of 48. On the big screen, clip 6 of 6. Title: Elf. The clip is called: Elf (2003): Cottonheaded Ninnymuggins Scene. The rest of the slide is an embedded YouTube video, centered below the title. Before it plays, it shows a still image: Buddy, a tall man in a green elf costume and yellow hat, beside a smaller elf in a red costume, with a small logo in the lower left corner. The dialogue carries most of the clip's content, and YouTube captions are available with the CC button. If a moment depends on something visual, ask for it to be described. After the clip, the class discusses which economic idea it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37 of 48. Section slide. Small heading: Problem Sets. Title: Your Turn. Subtitle: Any questions on the posted problem sets? This is open time for questions before the exam.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38 of 48. Section slide. Small heading: Looking Ahead. Title: From This Point Forward, We Are Discussing Exam 2 Content. Everything after this slide is new material that will be on Exam 2, not Exam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39 of 48. Section slide. Small heading: New Material. Title: Equilibrium. Subtitle: Where supply and demand meet, more to 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40 of 48. Introduction to Equilibrium. Title: Introduction to Equilibrium. Two boxes side by side. Left box, Last Chapter: We introduced supply and demand, and how to read each of them on a graph. Right box, This Chapter: We discuss equilibrium, meaning how supply and demand are coordinated.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41 of 48. Introduction to Equilibrium. Title: Bringing Supply and Demand Together. Two boxes side by side. Left box, Recall Demand: at some price, we saw a quantity demanded of X. Right box, Recall Supply: at some price, we saw a quantity supplied of Z. A banner below both boxes: We've been discussing these separately; now we join them and find our equilibrium.</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42 of 48. Introduction to Equilibrium. Title: Equilibrium Point. On the left, a shaded box: Equilibrium: the price at which quantity demanded equals quantity supplied. Below it, bullets: Qd equals Qs. Sub-point: buyers want to purchase exactly the amount sellers want to sell. Next bullet: We call this the market-clearing price. On the right, a graph. The vertical axis is Price and the horizontal axis is Quantity. The demand line slopes downward from upper left to lower right. The supply line slopes upward from lower left to upper right. The two lines cross at one point, marked with a dot and labeled Equilibrium. A dashed line runs from that point left to the price axis, labeled P star, the equilibrium price. Another dashed line runs straight down to the quantity axis, labeled Q star, the equilibrium quantity. At P star, the quantity buyers want equals the quantity sellers want, so nothing is left over and no one is left waiting.</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43 of 48. Introduction to Equilibrium. Title: Deviations from Equilibrium. Bulleted list. First: Any point where quantity demanded does not equal quantity supplied is an unstable point. Sub-point: Qd not equal to Qs means the market has not cleared. Second: Economic forces push prices and quantities toward the equilibrium point. Sub-point: the market doesn't stay away from equilibrium for long; the next few slides show why. A banner at the bottom: Unstable points don't last. Equilibrium is where the market comes to rest.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44 of 48. Introduction to Equilibrium. Title: Surplus and Shortage. Two boxes side by side. Left box, Surplus: Qs is greater than Qd. Quantity supplied is greater than quantity demanded. Right box, Shortage: Qd is greater than Qs. Quantity demanded is greater than quantity supplied.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45 of 48. Introduction to Equilibrium. Title: Surplus. On the left, a banner: Equilibrium is where Qd equals Qs. Below it: If the price is above the equilibrium price, then more is supplied than demanded: Qs is greater than Qd. Economic forces put downward pressure on price. On the right, a graph with Price on the vertical axis and Quantity on the horizontal axis. A downward-sloping demand line and an upward-sloping supply line cross at the equilibrium price, labeled P star. A dashed horizontal price line sits above P star, labeled P1 is greater than P star. Moving right along that line, it first meets the demand line at a smaller quantity, labeled Qd, then meets the supply line at a larger quantity, labeled Qs. The stretch of the price line between Qd and Qs is highlighted and labeled Surplus: the units sellers bring that buyers don't want. A downward-pointing arrow beside the price axis, between P1 and P star, shows the price being pushed down toward equilibrium.</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46 of 48. Introduction to Equilibrium. Title: Shortage. On the left, a banner: Equilibrium is where Qd equals Qs. Below it: If the price is below the equilibrium price, then more is demanded than supplied: Qd is greater than Qs. Economic forces put upward pressure on price. On the right, a graph with Price on the vertical axis and Quantity on the horizontal axis. A downward-sloping demand line and an upward-sloping supply line cross at the equilibrium price, labeled P star. A dashed horizontal price line sits below P star, labeled P1 is less than P star. Moving right along that line, it first meets the supply line at a smaller quantity, labeled Qs, then meets the demand line at a larger quantity, labeled Qd. The stretch of the price line between Qs and Qd is highlighted and labeled Shortage: the units buyers want that sellers don't provide. An upward-pointing arrow beside the price axis, between P1 and P star, shows the price being pushed up toward equilibrium.</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47 of 48. Introduction to Equilibrium. Title: Who Is Competing? Intro line: Away from equilibrium, economic forces push or pull us back to the equilibrium price. How? Two boxes side by side. Left box, If There Is a Surplus: Sellers compete with one another. Each lowers their price so that buyers purchase from them. This competition among sellers bids the price down until Qd equals Qs. Right box, If There Is a Shortage: Buyers compete with one another. Each offers a higher price to outbid the others. This competition among buyers bids the price up until Qd equals Qs.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48 of 48. Introduction to Equilibrium. Title: Who Is Competing? A banner in italics: Many people see buyers and sellers as competing with each other. Below it, the heading: The reality. Two boxes side by side. Left box, Sellers versus Sellers: Sellers are constantly competing with other sellers to win customers. Right box, Buyers versus Buyers: Buyers are constantly competing with other buyers to obtain goods and services.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video" Target="https://www.youtube.com/embed/t8MsqN-hXOc?feature=oembed" TargetMode="External"/><Relationship Id="rId4"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video" Target="https://www.youtube.com/embed/197479hGyb8?feature=oembed" TargetMode="External"/><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video" Target="https://www.youtube.com/embed/uP742Fjpn00?feature=oembed" TargetMode="External"/><Relationship Id="rId4"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video" Target="https://www.youtube.com/embed/rxnlx7JoAP4?feature=oembed" TargetMode="External"/><Relationship Id="rId4" Type="http://schemas.openxmlformats.org/officeDocument/2006/relationships/image" Target="../media/image4.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video" Target="https://www.youtube.com/embed/pr_80k9KNuE?feature=oembed" TargetMode="External"/><Relationship Id="rId4" Type="http://schemas.openxmlformats.org/officeDocument/2006/relationships/image" Target="../media/image5.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video" Target="https://www.youtube.com/embed/EwUqlNeF2pg?feature=oembed" TargetMode="External"/><Relationship Id="rId4" Type="http://schemas.openxmlformats.org/officeDocument/2006/relationships/image" Target="../media/image6.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F3146F6-A495-43B2-B179-C7DD558FE122}"/>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5406631B-15E5-4092-879E-A851B4259C73}"/>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a:t>
            </a:r>
            <a:endParaRPr sz="1000"/>
          </a:p>
        </p:txBody>
      </p:sp>
      <p:sp>
        <p:nvSpPr>
          <p:cNvPr id="4" name="Shape 2">
            <a:extLst>
              <a:ext uri="{FF2B5EF4-FFF2-40B4-BE49-F238E27FC236}">
                <a16:creationId xmlns:a16="http://schemas.microsoft.com/office/drawing/2014/main" id="{37EBF7D5-1891-44BF-AD1C-B246D091F933}"/>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C1414F7C-6D2C-4CBB-8FF9-359E01FD0651}"/>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33DCF6A0-7783-4E9B-A9CA-1E62816D8ED7}"/>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WEEK 5  ·  SEPTEMBER 22, 2026</a:t>
            </a:r>
            <a:endParaRPr sz="1300"/>
          </a:p>
        </p:txBody>
      </p:sp>
      <p:sp>
        <p:nvSpPr>
          <p:cNvPr id="7" name="Text 5">
            <a:extLst>
              <a:ext uri="{FF2B5EF4-FFF2-40B4-BE49-F238E27FC236}">
                <a16:creationId xmlns:a16="http://schemas.microsoft.com/office/drawing/2014/main" id="{7AAA9D38-7756-4DC0-8E51-6E75F9473BA6}"/>
              </a:ext>
            </a:extLst>
          </p:cNvPr>
          <p:cNvSpPr>
            <a:spLocks noGrp="1"/>
          </p:cNvSpPr>
          <p:nvPr>
            <p:ph type="title"/>
          </p:nvPr>
        </p:nvSpPr>
        <p:spPr>
          <a:xfrm>
            <a:off x="914400" y="2514600"/>
            <a:ext cx="10360152" cy="1417320"/>
          </a:xfrm>
          <a:prstGeom prst="rect">
            <a:avLst/>
          </a:prstGeom>
          <a:noFill/>
        </p:spPr>
        <p:txBody>
          <a:bodyPr wrap="square" lIns="0" tIns="0" rIns="0" bIns="0" anchor="t"/>
          <a:lstStyle/>
          <a:p>
            <a:pPr marL="0" indent="0" algn="ctr">
              <a:buNone/>
            </a:pPr>
            <a:r>
              <a:rPr sz="4200" b="1">
                <a:solidFill>
                  <a:srgbClr val="1C2321"/>
                </a:solidFill>
                <a:latin typeface="Cambria"/>
                <a:ea typeface="Cambria"/>
                <a:cs typeface="Cambria"/>
              </a:rPr>
              <a:t>Quiz Review &amp; Exam Overview</a:t>
            </a:r>
            <a:endParaRPr sz="4200"/>
          </a:p>
          <a:p>
            <a:pPr marL="0" indent="0" algn="ctr">
              <a:buNone/>
            </a:pPr>
            <a:r>
              <a:rPr sz="4200" b="1">
                <a:solidFill>
                  <a:srgbClr val="1C2321"/>
                </a:solidFill>
                <a:latin typeface="Cambria"/>
                <a:ea typeface="Cambria"/>
                <a:cs typeface="Cambria"/>
              </a:rPr>
              <a:t>Introduction to Equilibrium</a:t>
            </a:r>
            <a:endParaRPr sz="4200"/>
          </a:p>
        </p:txBody>
      </p:sp>
      <p:sp>
        <p:nvSpPr>
          <p:cNvPr id="8" name="Shape 6">
            <a:extLst>
              <a:ext uri="{FF2B5EF4-FFF2-40B4-BE49-F238E27FC236}">
                <a16:creationId xmlns:a16="http://schemas.microsoft.com/office/drawing/2014/main" id="{AEF02C9F-9914-4501-8811-FD1EA5BFACE4}"/>
              </a:ext>
            </a:extLst>
          </p:cNvPr>
          <p:cNvSpPr>
            <a:spLocks noGrp="1"/>
          </p:cNvSpPr>
          <p:nvPr/>
        </p:nvSpPr>
        <p:spPr>
          <a:xfrm>
            <a:off x="4903927" y="4023360"/>
            <a:ext cx="2377440" cy="502920"/>
          </a:xfrm>
          <a:prstGeom prst="roundRect">
            <a:avLst>
              <a:gd name="adj" fmla="val 40000"/>
            </a:avLst>
          </a:prstGeom>
          <a:solidFill>
            <a:srgbClr val="FFFFFF"/>
          </a:solidFill>
          <a:ln w="12700">
            <a:solidFill>
              <a:srgbClr val="3E7C79"/>
            </a:solidFill>
            <a:prstDash val="solid"/>
          </a:ln>
        </p:spPr>
        <p:txBody>
          <a:bodyPr/>
          <a:lstStyle/>
          <a:p>
            <a:endParaRPr/>
          </a:p>
        </p:txBody>
      </p:sp>
      <p:sp>
        <p:nvSpPr>
          <p:cNvPr id="9" name="Text 7">
            <a:extLst>
              <a:ext uri="{FF2B5EF4-FFF2-40B4-BE49-F238E27FC236}">
                <a16:creationId xmlns:a16="http://schemas.microsoft.com/office/drawing/2014/main" id="{0D59FD51-ED1B-464C-9C4F-CE793A731265}"/>
              </a:ext>
            </a:extLst>
          </p:cNvPr>
          <p:cNvSpPr>
            <a:spLocks noGrp="1"/>
          </p:cNvSpPr>
          <p:nvPr/>
        </p:nvSpPr>
        <p:spPr>
          <a:xfrm>
            <a:off x="4903927" y="4023360"/>
            <a:ext cx="2377440" cy="502920"/>
          </a:xfrm>
          <a:prstGeom prst="rect">
            <a:avLst/>
          </a:prstGeom>
          <a:noFill/>
        </p:spPr>
        <p:txBody>
          <a:bodyPr wrap="square" lIns="0" tIns="0" rIns="0" bIns="0" anchor="ctr"/>
          <a:lstStyle/>
          <a:p>
            <a:pPr marL="0" indent="0" algn="ctr">
              <a:buNone/>
            </a:pPr>
            <a:r>
              <a:rPr sz="1500" b="1" spc="100">
                <a:solidFill>
                  <a:srgbClr val="1C2321"/>
                </a:solidFill>
                <a:latin typeface="Cambria"/>
                <a:ea typeface="Cambria"/>
                <a:cs typeface="Cambria"/>
              </a:rPr>
              <a:t>ECON 103</a:t>
            </a:r>
            <a:endParaRPr sz="1500"/>
          </a:p>
        </p:txBody>
      </p:sp>
    </p:spTree>
    <p:extLst>
      <p:ext uri="{BB962C8B-B14F-4D97-AF65-F5344CB8AC3E}">
        <p14:creationId xmlns:p14="http://schemas.microsoft.com/office/powerpoint/2010/main" val="983089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C1080B9-4D3C-4256-918E-2E3B3C4A413A}"/>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28781303-DFDD-4D41-8AC4-09D9F9F7311F}"/>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TODAY</a:t>
            </a:r>
            <a:endParaRPr sz="1300"/>
          </a:p>
        </p:txBody>
      </p:sp>
      <p:sp>
        <p:nvSpPr>
          <p:cNvPr id="4" name="Text 2">
            <a:extLst>
              <a:ext uri="{FF2B5EF4-FFF2-40B4-BE49-F238E27FC236}">
                <a16:creationId xmlns:a16="http://schemas.microsoft.com/office/drawing/2014/main" id="{8CD60E4B-C62E-409A-8422-23562F208E02}"/>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D9FE0A35-28E8-409C-B782-3FCA5435791C}"/>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a:t>
            </a:r>
            <a:endParaRPr sz="1000"/>
          </a:p>
        </p:txBody>
      </p:sp>
      <p:sp>
        <p:nvSpPr>
          <p:cNvPr id="6" name="Text 4">
            <a:extLst>
              <a:ext uri="{FF2B5EF4-FFF2-40B4-BE49-F238E27FC236}">
                <a16:creationId xmlns:a16="http://schemas.microsoft.com/office/drawing/2014/main" id="{63F94EAC-E903-4BF8-B531-2D5460814F70}"/>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Today’s Objectives</a:t>
            </a:r>
            <a:endParaRPr sz="3200"/>
          </a:p>
        </p:txBody>
      </p:sp>
      <p:sp>
        <p:nvSpPr>
          <p:cNvPr id="7" name="Text 5">
            <a:extLst>
              <a:ext uri="{FF2B5EF4-FFF2-40B4-BE49-F238E27FC236}">
                <a16:creationId xmlns:a16="http://schemas.microsoft.com/office/drawing/2014/main" id="{91616189-42C4-405F-A4DA-0E4CC5144AF3}"/>
              </a:ext>
            </a:extLst>
          </p:cNvPr>
          <p:cNvSpPr>
            <a:spLocks noGrp="1"/>
          </p:cNvSpPr>
          <p:nvPr/>
        </p:nvSpPr>
        <p:spPr>
          <a:xfrm>
            <a:off x="640080" y="1783080"/>
            <a:ext cx="384048" cy="384048"/>
          </a:xfrm>
          <a:prstGeom prst="roundRect">
            <a:avLst>
              <a:gd name="adj" fmla="val 59524"/>
            </a:avLst>
          </a:prstGeom>
          <a:solidFill>
            <a:srgbClr val="DCEAE8"/>
          </a:solidFill>
        </p:spPr>
        <p:txBody>
          <a:bodyPr wrap="square" lIns="0" tIns="0" rIns="0" bIns="0" anchor="ctr"/>
          <a:lstStyle/>
          <a:p>
            <a:pPr marL="0" indent="0" algn="ctr">
              <a:buNone/>
            </a:pPr>
            <a:r>
              <a:rPr sz="1500" b="1">
                <a:solidFill>
                  <a:srgbClr val="1C2321"/>
                </a:solidFill>
                <a:latin typeface="Cambria"/>
                <a:ea typeface="Cambria"/>
                <a:cs typeface="Cambria"/>
              </a:rPr>
              <a:t>1</a:t>
            </a:r>
            <a:endParaRPr sz="1500"/>
          </a:p>
        </p:txBody>
      </p:sp>
      <p:sp>
        <p:nvSpPr>
          <p:cNvPr id="8" name="Text 6">
            <a:extLst>
              <a:ext uri="{FF2B5EF4-FFF2-40B4-BE49-F238E27FC236}">
                <a16:creationId xmlns:a16="http://schemas.microsoft.com/office/drawing/2014/main" id="{DB656330-1F3F-480B-B434-0395D8D005AD}"/>
              </a:ext>
            </a:extLst>
          </p:cNvPr>
          <p:cNvSpPr>
            <a:spLocks noGrp="1"/>
          </p:cNvSpPr>
          <p:nvPr/>
        </p:nvSpPr>
        <p:spPr>
          <a:xfrm>
            <a:off x="1225296" y="1737360"/>
            <a:ext cx="9966960" cy="502920"/>
          </a:xfrm>
          <a:prstGeom prst="rect">
            <a:avLst/>
          </a:prstGeom>
          <a:noFill/>
        </p:spPr>
        <p:txBody>
          <a:bodyPr wrap="square" lIns="0" tIns="0" rIns="0" bIns="0" anchor="ctr"/>
          <a:lstStyle/>
          <a:p>
            <a:pPr marL="0" indent="0">
              <a:buNone/>
            </a:pPr>
            <a:r>
              <a:rPr sz="1800">
                <a:solidFill>
                  <a:srgbClr val="1C2321"/>
                </a:solidFill>
                <a:latin typeface="Cambria"/>
                <a:ea typeface="Cambria"/>
                <a:cs typeface="Cambria"/>
              </a:rPr>
              <a:t>Quiz Review</a:t>
            </a:r>
            <a:endParaRPr sz="1800"/>
          </a:p>
        </p:txBody>
      </p:sp>
      <p:sp>
        <p:nvSpPr>
          <p:cNvPr id="9" name="Text 7">
            <a:extLst>
              <a:ext uri="{FF2B5EF4-FFF2-40B4-BE49-F238E27FC236}">
                <a16:creationId xmlns:a16="http://schemas.microsoft.com/office/drawing/2014/main" id="{318F7E40-CD1F-4F9A-ABA9-C80B25B99C47}"/>
              </a:ext>
            </a:extLst>
          </p:cNvPr>
          <p:cNvSpPr>
            <a:spLocks noGrp="1"/>
          </p:cNvSpPr>
          <p:nvPr/>
        </p:nvSpPr>
        <p:spPr>
          <a:xfrm>
            <a:off x="640080" y="2715768"/>
            <a:ext cx="384048" cy="384048"/>
          </a:xfrm>
          <a:prstGeom prst="roundRect">
            <a:avLst>
              <a:gd name="adj" fmla="val 59524"/>
            </a:avLst>
          </a:prstGeom>
          <a:solidFill>
            <a:srgbClr val="DCEAE8"/>
          </a:solidFill>
        </p:spPr>
        <p:txBody>
          <a:bodyPr wrap="square" lIns="0" tIns="0" rIns="0" bIns="0" anchor="ctr"/>
          <a:lstStyle/>
          <a:p>
            <a:pPr marL="0" indent="0" algn="ctr">
              <a:buNone/>
            </a:pPr>
            <a:r>
              <a:rPr sz="1500" b="1">
                <a:solidFill>
                  <a:srgbClr val="1C2321"/>
                </a:solidFill>
                <a:latin typeface="Cambria"/>
                <a:ea typeface="Cambria"/>
                <a:cs typeface="Cambria"/>
              </a:rPr>
              <a:t>2</a:t>
            </a:r>
            <a:endParaRPr sz="1500"/>
          </a:p>
        </p:txBody>
      </p:sp>
      <p:sp>
        <p:nvSpPr>
          <p:cNvPr id="10" name="Text 8">
            <a:extLst>
              <a:ext uri="{FF2B5EF4-FFF2-40B4-BE49-F238E27FC236}">
                <a16:creationId xmlns:a16="http://schemas.microsoft.com/office/drawing/2014/main" id="{39A2DB7D-DCA5-4715-A95E-8850D61002A0}"/>
              </a:ext>
            </a:extLst>
          </p:cNvPr>
          <p:cNvSpPr>
            <a:spLocks noGrp="1"/>
          </p:cNvSpPr>
          <p:nvPr/>
        </p:nvSpPr>
        <p:spPr>
          <a:xfrm>
            <a:off x="1225296" y="2670048"/>
            <a:ext cx="9966960" cy="502920"/>
          </a:xfrm>
          <a:prstGeom prst="rect">
            <a:avLst/>
          </a:prstGeom>
          <a:noFill/>
        </p:spPr>
        <p:txBody>
          <a:bodyPr wrap="square" lIns="0" tIns="0" rIns="0" bIns="0" anchor="ctr"/>
          <a:lstStyle/>
          <a:p>
            <a:pPr marL="0" indent="0">
              <a:buNone/>
            </a:pPr>
            <a:r>
              <a:rPr sz="1800">
                <a:solidFill>
                  <a:srgbClr val="1C2321"/>
                </a:solidFill>
                <a:latin typeface="Cambria"/>
                <a:ea typeface="Cambria"/>
                <a:cs typeface="Cambria"/>
              </a:rPr>
              <a:t>Exam Overview</a:t>
            </a:r>
            <a:endParaRPr sz="1800"/>
          </a:p>
        </p:txBody>
      </p:sp>
      <p:sp>
        <p:nvSpPr>
          <p:cNvPr id="11" name="Text 9">
            <a:extLst>
              <a:ext uri="{FF2B5EF4-FFF2-40B4-BE49-F238E27FC236}">
                <a16:creationId xmlns:a16="http://schemas.microsoft.com/office/drawing/2014/main" id="{5455DAF2-8C28-4818-BEE7-1A563D8AA53D}"/>
              </a:ext>
            </a:extLst>
          </p:cNvPr>
          <p:cNvSpPr>
            <a:spLocks noGrp="1"/>
          </p:cNvSpPr>
          <p:nvPr/>
        </p:nvSpPr>
        <p:spPr>
          <a:xfrm>
            <a:off x="640080" y="3648456"/>
            <a:ext cx="384048" cy="384048"/>
          </a:xfrm>
          <a:prstGeom prst="roundRect">
            <a:avLst>
              <a:gd name="adj" fmla="val 59524"/>
            </a:avLst>
          </a:prstGeom>
          <a:solidFill>
            <a:srgbClr val="DCEAE8"/>
          </a:solidFill>
        </p:spPr>
        <p:txBody>
          <a:bodyPr wrap="square" lIns="0" tIns="0" rIns="0" bIns="0" anchor="ctr"/>
          <a:lstStyle/>
          <a:p>
            <a:pPr marL="0" indent="0" algn="ctr">
              <a:buNone/>
            </a:pPr>
            <a:r>
              <a:rPr sz="1500" b="1">
                <a:solidFill>
                  <a:srgbClr val="1C2321"/>
                </a:solidFill>
                <a:latin typeface="Cambria"/>
                <a:ea typeface="Cambria"/>
                <a:cs typeface="Cambria"/>
              </a:rPr>
              <a:t>3</a:t>
            </a:r>
            <a:endParaRPr sz="1500"/>
          </a:p>
        </p:txBody>
      </p:sp>
      <p:sp>
        <p:nvSpPr>
          <p:cNvPr id="12" name="Text 10">
            <a:extLst>
              <a:ext uri="{FF2B5EF4-FFF2-40B4-BE49-F238E27FC236}">
                <a16:creationId xmlns:a16="http://schemas.microsoft.com/office/drawing/2014/main" id="{E0E55772-5099-451F-9D29-F5911763406F}"/>
              </a:ext>
            </a:extLst>
          </p:cNvPr>
          <p:cNvSpPr>
            <a:spLocks noGrp="1"/>
          </p:cNvSpPr>
          <p:nvPr/>
        </p:nvSpPr>
        <p:spPr>
          <a:xfrm>
            <a:off x="1225296" y="3602736"/>
            <a:ext cx="9966960" cy="502920"/>
          </a:xfrm>
          <a:prstGeom prst="rect">
            <a:avLst/>
          </a:prstGeom>
          <a:noFill/>
        </p:spPr>
        <p:txBody>
          <a:bodyPr wrap="square" lIns="0" tIns="0" rIns="0" bIns="0" anchor="ctr"/>
          <a:lstStyle/>
          <a:p>
            <a:pPr marL="0" indent="0">
              <a:buNone/>
            </a:pPr>
            <a:r>
              <a:rPr sz="1800">
                <a:solidFill>
                  <a:srgbClr val="1C2321"/>
                </a:solidFill>
                <a:latin typeface="Cambria"/>
                <a:ea typeface="Cambria"/>
                <a:cs typeface="Cambria"/>
              </a:rPr>
              <a:t>Exam Review</a:t>
            </a:r>
            <a:endParaRPr sz="1800"/>
          </a:p>
        </p:txBody>
      </p:sp>
      <p:sp>
        <p:nvSpPr>
          <p:cNvPr id="13" name="Text 11">
            <a:extLst>
              <a:ext uri="{FF2B5EF4-FFF2-40B4-BE49-F238E27FC236}">
                <a16:creationId xmlns:a16="http://schemas.microsoft.com/office/drawing/2014/main" id="{B664A2F9-129D-4EF8-B894-8C71BBC5A02C}"/>
              </a:ext>
            </a:extLst>
          </p:cNvPr>
          <p:cNvSpPr>
            <a:spLocks noGrp="1"/>
          </p:cNvSpPr>
          <p:nvPr/>
        </p:nvSpPr>
        <p:spPr>
          <a:xfrm>
            <a:off x="640080" y="4581144"/>
            <a:ext cx="384048" cy="384048"/>
          </a:xfrm>
          <a:prstGeom prst="roundRect">
            <a:avLst>
              <a:gd name="adj" fmla="val 59524"/>
            </a:avLst>
          </a:prstGeom>
          <a:solidFill>
            <a:srgbClr val="DCEAE8"/>
          </a:solidFill>
        </p:spPr>
        <p:txBody>
          <a:bodyPr wrap="square" lIns="0" tIns="0" rIns="0" bIns="0" anchor="ctr"/>
          <a:lstStyle/>
          <a:p>
            <a:pPr marL="0" indent="0" algn="ctr">
              <a:buNone/>
            </a:pPr>
            <a:r>
              <a:rPr sz="1500" b="1">
                <a:solidFill>
                  <a:srgbClr val="1C2321"/>
                </a:solidFill>
                <a:latin typeface="Cambria"/>
                <a:ea typeface="Cambria"/>
                <a:cs typeface="Cambria"/>
              </a:rPr>
              <a:t>4</a:t>
            </a:r>
            <a:endParaRPr sz="1500"/>
          </a:p>
        </p:txBody>
      </p:sp>
      <p:sp>
        <p:nvSpPr>
          <p:cNvPr id="14" name="Text 12">
            <a:extLst>
              <a:ext uri="{FF2B5EF4-FFF2-40B4-BE49-F238E27FC236}">
                <a16:creationId xmlns:a16="http://schemas.microsoft.com/office/drawing/2014/main" id="{94FCF332-33AB-474A-AC9B-BE9F88AD4661}"/>
              </a:ext>
            </a:extLst>
          </p:cNvPr>
          <p:cNvSpPr>
            <a:spLocks noGrp="1"/>
          </p:cNvSpPr>
          <p:nvPr/>
        </p:nvSpPr>
        <p:spPr>
          <a:xfrm>
            <a:off x="1225296" y="4535424"/>
            <a:ext cx="9966960" cy="502920"/>
          </a:xfrm>
          <a:prstGeom prst="rect">
            <a:avLst/>
          </a:prstGeom>
          <a:noFill/>
        </p:spPr>
        <p:txBody>
          <a:bodyPr wrap="square" lIns="0" tIns="0" rIns="0" bIns="0" anchor="ctr"/>
          <a:lstStyle/>
          <a:p>
            <a:pPr marL="0" indent="0">
              <a:buNone/>
            </a:pPr>
            <a:r>
              <a:rPr sz="1800">
                <a:solidFill>
                  <a:srgbClr val="1C2321"/>
                </a:solidFill>
                <a:latin typeface="Cambria"/>
                <a:ea typeface="Cambria"/>
                <a:cs typeface="Cambria"/>
              </a:rPr>
              <a:t>Your Questions</a:t>
            </a:r>
            <a:endParaRPr sz="1800"/>
          </a:p>
        </p:txBody>
      </p:sp>
      <p:sp>
        <p:nvSpPr>
          <p:cNvPr id="15" name="Text 13">
            <a:extLst>
              <a:ext uri="{FF2B5EF4-FFF2-40B4-BE49-F238E27FC236}">
                <a16:creationId xmlns:a16="http://schemas.microsoft.com/office/drawing/2014/main" id="{0492A89E-02FA-4453-9BC0-51EF1D5993F3}"/>
              </a:ext>
            </a:extLst>
          </p:cNvPr>
          <p:cNvSpPr>
            <a:spLocks noGrp="1"/>
          </p:cNvSpPr>
          <p:nvPr/>
        </p:nvSpPr>
        <p:spPr>
          <a:xfrm>
            <a:off x="640080" y="5513832"/>
            <a:ext cx="384048" cy="384048"/>
          </a:xfrm>
          <a:prstGeom prst="roundRect">
            <a:avLst>
              <a:gd name="adj" fmla="val 59524"/>
            </a:avLst>
          </a:prstGeom>
          <a:solidFill>
            <a:srgbClr val="DCEAE8"/>
          </a:solidFill>
        </p:spPr>
        <p:txBody>
          <a:bodyPr wrap="square" lIns="0" tIns="0" rIns="0" bIns="0" anchor="ctr"/>
          <a:lstStyle/>
          <a:p>
            <a:pPr marL="0" indent="0" algn="ctr">
              <a:buNone/>
            </a:pPr>
            <a:r>
              <a:rPr sz="1500" b="1">
                <a:solidFill>
                  <a:srgbClr val="1C2321"/>
                </a:solidFill>
                <a:latin typeface="Cambria"/>
                <a:ea typeface="Cambria"/>
                <a:cs typeface="Cambria"/>
              </a:rPr>
              <a:t>5</a:t>
            </a:r>
            <a:endParaRPr sz="1500"/>
          </a:p>
        </p:txBody>
      </p:sp>
      <p:sp>
        <p:nvSpPr>
          <p:cNvPr id="16" name="Text 14">
            <a:extLst>
              <a:ext uri="{FF2B5EF4-FFF2-40B4-BE49-F238E27FC236}">
                <a16:creationId xmlns:a16="http://schemas.microsoft.com/office/drawing/2014/main" id="{85B8A522-DDF6-48AB-B6AC-9E69C9CA5A20}"/>
              </a:ext>
            </a:extLst>
          </p:cNvPr>
          <p:cNvSpPr>
            <a:spLocks noGrp="1"/>
          </p:cNvSpPr>
          <p:nvPr/>
        </p:nvSpPr>
        <p:spPr>
          <a:xfrm>
            <a:off x="1225296" y="5468112"/>
            <a:ext cx="9966960" cy="502920"/>
          </a:xfrm>
          <a:prstGeom prst="rect">
            <a:avLst/>
          </a:prstGeom>
          <a:noFill/>
        </p:spPr>
        <p:txBody>
          <a:bodyPr wrap="square" lIns="0" tIns="0" rIns="0" bIns="0" anchor="ctr"/>
          <a:lstStyle/>
          <a:p>
            <a:pPr marL="0" indent="0">
              <a:buNone/>
            </a:pPr>
            <a:r>
              <a:rPr sz="1800">
                <a:solidFill>
                  <a:srgbClr val="1C2321"/>
                </a:solidFill>
                <a:latin typeface="Cambria"/>
                <a:ea typeface="Cambria"/>
                <a:cs typeface="Cambria"/>
              </a:rPr>
              <a:t>Introduction to Equilibrium</a:t>
            </a:r>
            <a:r>
              <a:rPr sz="1600" i="1">
                <a:solidFill>
                  <a:srgbClr val="51605E"/>
                </a:solidFill>
                <a:latin typeface="Cambria"/>
                <a:ea typeface="Cambria"/>
                <a:cs typeface="Cambria"/>
              </a:rPr>
              <a:t>   — if time allows</a:t>
            </a:r>
            <a:endParaRPr sz="1800"/>
          </a:p>
        </p:txBody>
      </p:sp>
    </p:spTree>
    <p:extLst>
      <p:ext uri="{BB962C8B-B14F-4D97-AF65-F5344CB8AC3E}">
        <p14:creationId xmlns:p14="http://schemas.microsoft.com/office/powerpoint/2010/main" val="441449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DB043C1-E21C-4708-AEDA-2F2D6EFD13E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71E2B0E6-11B4-4914-9A90-43594BB2CEAC}"/>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ANSWER</a:t>
            </a:r>
            <a:endParaRPr sz="1300"/>
          </a:p>
        </p:txBody>
      </p:sp>
      <p:sp>
        <p:nvSpPr>
          <p:cNvPr id="4" name="Text 2">
            <a:extLst>
              <a:ext uri="{FF2B5EF4-FFF2-40B4-BE49-F238E27FC236}">
                <a16:creationId xmlns:a16="http://schemas.microsoft.com/office/drawing/2014/main" id="{4ACBED65-6A84-401A-96BF-7A893619D61E}"/>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7AAB6EB-F205-48B0-BFED-286E5FD9B083}"/>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a:t>
            </a:r>
            <a:endParaRPr sz="1000"/>
          </a:p>
        </p:txBody>
      </p:sp>
      <p:sp>
        <p:nvSpPr>
          <p:cNvPr id="6" name="Text 4">
            <a:extLst>
              <a:ext uri="{FF2B5EF4-FFF2-40B4-BE49-F238E27FC236}">
                <a16:creationId xmlns:a16="http://schemas.microsoft.com/office/drawing/2014/main" id="{B06CEEA4-42D1-4AD2-B1B4-F9175E989E5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Question 1a &amp; 1b: Inferior vs. Normal Good</a:t>
            </a:r>
            <a:endParaRPr sz="3200"/>
          </a:p>
        </p:txBody>
      </p:sp>
      <p:sp>
        <p:nvSpPr>
          <p:cNvPr id="7" name="Text 5">
            <a:extLst>
              <a:ext uri="{FF2B5EF4-FFF2-40B4-BE49-F238E27FC236}">
                <a16:creationId xmlns:a16="http://schemas.microsoft.com/office/drawing/2014/main" id="{6B9B359B-DA21-46FB-933B-E670995976EA}"/>
              </a:ext>
            </a:extLst>
          </p:cNvPr>
          <p:cNvSpPr>
            <a:spLocks noGrp="1"/>
          </p:cNvSpPr>
          <p:nvPr/>
        </p:nvSpPr>
        <p:spPr>
          <a:xfrm>
            <a:off x="548640" y="1874520"/>
            <a:ext cx="10881360" cy="429768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a. Inferior good → ii</a:t>
            </a:r>
            <a:endParaRPr sz="1800"/>
          </a:p>
          <a:p>
            <a:pPr marL="508000" lvl="1" indent="-254000">
              <a:spcAft>
                <a:spcPts val="1000"/>
              </a:spcAft>
              <a:buSzPct val="100000"/>
              <a:buChar char="–"/>
            </a:pPr>
            <a:r>
              <a:rPr sz="1700" i="1">
                <a:solidFill>
                  <a:srgbClr val="3E7C79"/>
                </a:solidFill>
                <a:latin typeface="Cambria"/>
                <a:ea typeface="Cambria"/>
                <a:cs typeface="Cambria"/>
              </a:rPr>
              <a:t>A consumer’s income increases, and the demand for good X decreases.</a:t>
            </a:r>
            <a:endParaRPr sz="1800"/>
          </a:p>
          <a:p>
            <a:pPr marL="279400" indent="-279400">
              <a:spcAft>
                <a:spcPts val="800"/>
              </a:spcAft>
              <a:buSzPct val="100000"/>
              <a:buChar char="●"/>
            </a:pPr>
            <a:r>
              <a:rPr sz="1800" b="1">
                <a:solidFill>
                  <a:srgbClr val="1C2321"/>
                </a:solidFill>
                <a:latin typeface="Cambria"/>
                <a:ea typeface="Cambria"/>
                <a:cs typeface="Cambria"/>
              </a:rPr>
              <a:t>b. Normal good → iii</a:t>
            </a:r>
            <a:endParaRPr sz="1800"/>
          </a:p>
          <a:p>
            <a:pPr marL="508000" lvl="1" indent="-254000">
              <a:spcAft>
                <a:spcPts val="1000"/>
              </a:spcAft>
              <a:buSzPct val="100000"/>
              <a:buChar char="–"/>
            </a:pPr>
            <a:r>
              <a:rPr sz="1700" i="1">
                <a:solidFill>
                  <a:srgbClr val="3E7C79"/>
                </a:solidFill>
                <a:latin typeface="Cambria"/>
                <a:ea typeface="Cambria"/>
                <a:cs typeface="Cambria"/>
              </a:rPr>
              <a:t>A consumer’s income increases, and the demand for good X increases.</a:t>
            </a:r>
            <a:endParaRPr sz="1800"/>
          </a:p>
          <a:p>
            <a:pPr marL="279400" indent="-279400">
              <a:spcAft>
                <a:spcPts val="800"/>
              </a:spcAft>
              <a:buSzPct val="100000"/>
              <a:buChar char="●"/>
            </a:pPr>
            <a:r>
              <a:rPr sz="1800" b="1">
                <a:solidFill>
                  <a:srgbClr val="1C2321"/>
                </a:solidFill>
                <a:latin typeface="Cambria"/>
                <a:ea typeface="Cambria"/>
                <a:cs typeface="Cambria"/>
              </a:rPr>
              <a:t>What separates the two?</a:t>
            </a:r>
            <a:endParaRPr sz="1800"/>
          </a:p>
          <a:p>
            <a:pPr marL="508000" lvl="1" indent="-254000">
              <a:spcAft>
                <a:spcPts val="1000"/>
              </a:spcAft>
              <a:buSzPct val="100000"/>
              <a:buChar char="–"/>
            </a:pPr>
            <a:r>
              <a:rPr sz="1700" i="1">
                <a:solidFill>
                  <a:srgbClr val="3E7C79"/>
                </a:solidFill>
                <a:latin typeface="Cambria"/>
                <a:ea typeface="Cambria"/>
                <a:cs typeface="Cambria"/>
              </a:rPr>
              <a:t>Both situations start with a change in income — the difference is the direction of the response.</a:t>
            </a:r>
            <a:endParaRPr sz="1800"/>
          </a:p>
          <a:p>
            <a:pPr marL="508000" lvl="1" indent="-254000">
              <a:spcAft>
                <a:spcPts val="1000"/>
              </a:spcAft>
              <a:buSzPct val="100000"/>
              <a:buChar char="–"/>
            </a:pPr>
            <a:r>
              <a:rPr sz="1700" i="1">
                <a:solidFill>
                  <a:srgbClr val="3E7C79"/>
                </a:solidFill>
                <a:latin typeface="Cambria"/>
                <a:ea typeface="Cambria"/>
                <a:cs typeface="Cambria"/>
              </a:rPr>
              <a:t>Demand for a normal good moves with income; demand for an inferior good moves against it.</a:t>
            </a:r>
            <a:endParaRPr sz="1800"/>
          </a:p>
        </p:txBody>
      </p:sp>
    </p:spTree>
    <p:extLst>
      <p:ext uri="{BB962C8B-B14F-4D97-AF65-F5344CB8AC3E}">
        <p14:creationId xmlns:p14="http://schemas.microsoft.com/office/powerpoint/2010/main" val="353043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28872F5-9D28-4857-892F-7151C711C1E6}"/>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5BD5AEEF-4913-4C1D-AA4C-256C589B54F9}"/>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GRAPHS</a:t>
            </a:r>
            <a:endParaRPr sz="1300"/>
          </a:p>
        </p:txBody>
      </p:sp>
      <p:sp>
        <p:nvSpPr>
          <p:cNvPr id="4" name="Text 2">
            <a:extLst>
              <a:ext uri="{FF2B5EF4-FFF2-40B4-BE49-F238E27FC236}">
                <a16:creationId xmlns:a16="http://schemas.microsoft.com/office/drawing/2014/main" id="{724DC7E6-DD23-4706-A66E-F562B9F7FA49}"/>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5F0D4260-6A41-46A8-A78C-3FA3352B639C}"/>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4</a:t>
            </a:r>
            <a:endParaRPr sz="1000"/>
          </a:p>
        </p:txBody>
      </p:sp>
      <p:sp>
        <p:nvSpPr>
          <p:cNvPr id="6" name="Text 4">
            <a:extLst>
              <a:ext uri="{FF2B5EF4-FFF2-40B4-BE49-F238E27FC236}">
                <a16:creationId xmlns:a16="http://schemas.microsoft.com/office/drawing/2014/main" id="{9B9D2121-9648-420D-997A-8213F7948947}"/>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Question 1a &amp; 1b: Inferior vs. Normal Good</a:t>
            </a:r>
            <a:endParaRPr sz="3200"/>
          </a:p>
        </p:txBody>
      </p:sp>
      <p:sp>
        <p:nvSpPr>
          <p:cNvPr id="26" name="Text 0"/>
          <p:cNvSpPr txBox="1"/>
          <p:nvPr/>
        </p:nvSpPr>
        <p:spPr>
          <a:xfrm>
            <a:off x="548640" y="1691640"/>
            <a:ext cx="5449824" cy="365760"/>
          </a:xfrm>
          <a:prstGeom prst="rect">
            <a:avLst/>
          </a:prstGeom>
          <a:noFill/>
          <a:ln/>
        </p:spPr>
        <p:txBody>
          <a:bodyPr wrap="square" lIns="0" tIns="0" rIns="0" bIns="0" rtlCol="0" anchor="ctr"/>
          <a:lstStyle/>
          <a:p>
            <a:pPr marL="0" indent="0" algn="ctr">
              <a:buNone/>
            </a:pPr>
            <a:r>
              <a:rPr lang="en-US" sz="2000" b="1" dirty="0">
                <a:solidFill>
                  <a:srgbClr val="3E7C79"/>
                </a:solidFill>
                <a:latin typeface="Cambria" pitchFamily="34" charset="0"/>
                <a:ea typeface="Cambria" pitchFamily="34" charset="-122"/>
                <a:cs typeface="Cambria" pitchFamily="34" charset="-120"/>
              </a:rPr>
              <a:t>Inferior good</a:t>
            </a:r>
            <a:endParaRPr lang="en-US" sz="2000" dirty="0"/>
          </a:p>
        </p:txBody>
      </p:sp>
      <p:sp>
        <p:nvSpPr>
          <p:cNvPr id="27" name="Text 1"/>
          <p:cNvSpPr txBox="1"/>
          <p:nvPr/>
        </p:nvSpPr>
        <p:spPr>
          <a:xfrm>
            <a:off x="548640" y="2057400"/>
            <a:ext cx="5449824" cy="274320"/>
          </a:xfrm>
          <a:prstGeom prst="rect">
            <a:avLst/>
          </a:prstGeom>
          <a:noFill/>
          <a:ln/>
        </p:spPr>
        <p:txBody>
          <a:bodyPr wrap="square" lIns="0" tIns="0" rIns="0" bIns="0" rtlCol="0" anchor="ctr"/>
          <a:lstStyle/>
          <a:p>
            <a:pPr marL="0" indent="0" algn="ctr">
              <a:buNone/>
            </a:pPr>
            <a:r>
              <a:rPr lang="en-US" sz="1400" i="1" dirty="0">
                <a:solidFill>
                  <a:srgbClr val="51605E"/>
                </a:solidFill>
                <a:latin typeface="Cambria" pitchFamily="34" charset="0"/>
                <a:ea typeface="Cambria" pitchFamily="34" charset="-122"/>
                <a:cs typeface="Cambria" pitchFamily="34" charset="-120"/>
              </a:rPr>
              <a:t>Income increases</a:t>
            </a:r>
            <a:endParaRPr lang="en-US" sz="1400" dirty="0"/>
          </a:p>
        </p:txBody>
      </p:sp>
      <p:sp>
        <p:nvSpPr>
          <p:cNvPr id="28" name="Shape 2"/>
          <p:cNvSpPr/>
          <p:nvPr/>
        </p:nvSpPr>
        <p:spPr>
          <a:xfrm>
            <a:off x="1463040" y="2606040"/>
            <a:ext cx="914" cy="2697480"/>
          </a:xfrm>
          <a:prstGeom prst="line">
            <a:avLst/>
          </a:prstGeom>
          <a:noFill/>
          <a:ln w="19050">
            <a:solidFill>
              <a:srgbClr val="1C2321"/>
            </a:solidFill>
            <a:prstDash val="solid"/>
          </a:ln>
        </p:spPr>
        <p:txBody>
          <a:bodyPr/>
          <a:lstStyle/>
          <a:p>
            <a:endParaRPr lang="en-US"/>
          </a:p>
        </p:txBody>
      </p:sp>
      <p:sp>
        <p:nvSpPr>
          <p:cNvPr id="29" name="Shape 3"/>
          <p:cNvSpPr/>
          <p:nvPr/>
        </p:nvSpPr>
        <p:spPr>
          <a:xfrm>
            <a:off x="1463040" y="5303520"/>
            <a:ext cx="4114800" cy="914"/>
          </a:xfrm>
          <a:prstGeom prst="line">
            <a:avLst/>
          </a:prstGeom>
          <a:noFill/>
          <a:ln w="19050">
            <a:solidFill>
              <a:srgbClr val="1C2321"/>
            </a:solidFill>
            <a:prstDash val="solid"/>
          </a:ln>
        </p:spPr>
        <p:txBody>
          <a:bodyPr/>
          <a:lstStyle/>
          <a:p>
            <a:endParaRPr lang="en-US"/>
          </a:p>
        </p:txBody>
      </p:sp>
      <p:sp>
        <p:nvSpPr>
          <p:cNvPr id="30" name="Text 4"/>
          <p:cNvSpPr txBox="1"/>
          <p:nvPr/>
        </p:nvSpPr>
        <p:spPr>
          <a:xfrm>
            <a:off x="1051560" y="228600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7" name="Text 5"/>
          <p:cNvSpPr txBox="1"/>
          <p:nvPr/>
        </p:nvSpPr>
        <p:spPr>
          <a:xfrm>
            <a:off x="2377440" y="5394960"/>
            <a:ext cx="21945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 of good X</a:t>
            </a:r>
            <a:endParaRPr lang="en-US" sz="1500" dirty="0"/>
          </a:p>
        </p:txBody>
      </p:sp>
      <p:sp>
        <p:nvSpPr>
          <p:cNvPr id="8" name="Shape 6"/>
          <p:cNvSpPr/>
          <p:nvPr/>
        </p:nvSpPr>
        <p:spPr>
          <a:xfrm>
            <a:off x="2670048" y="2958084"/>
            <a:ext cx="2333549" cy="2084832"/>
          </a:xfrm>
          <a:prstGeom prst="line">
            <a:avLst/>
          </a:prstGeom>
          <a:noFill/>
          <a:ln w="25400">
            <a:solidFill>
              <a:srgbClr val="657278"/>
            </a:solidFill>
            <a:prstDash val="dash"/>
          </a:ln>
        </p:spPr>
        <p:txBody>
          <a:bodyPr/>
          <a:lstStyle/>
          <a:p>
            <a:endParaRPr lang="en-US"/>
          </a:p>
        </p:txBody>
      </p:sp>
      <p:sp>
        <p:nvSpPr>
          <p:cNvPr id="9" name="Shape 7"/>
          <p:cNvSpPr/>
          <p:nvPr/>
        </p:nvSpPr>
        <p:spPr>
          <a:xfrm>
            <a:off x="1784909" y="2958084"/>
            <a:ext cx="2333549" cy="2084832"/>
          </a:xfrm>
          <a:prstGeom prst="line">
            <a:avLst/>
          </a:prstGeom>
          <a:noFill/>
          <a:ln w="34925">
            <a:solidFill>
              <a:srgbClr val="3E7C79"/>
            </a:solidFill>
            <a:prstDash val="solid"/>
          </a:ln>
        </p:spPr>
        <p:txBody>
          <a:bodyPr/>
          <a:lstStyle/>
          <a:p>
            <a:endParaRPr lang="en-US"/>
          </a:p>
        </p:txBody>
      </p:sp>
      <p:sp>
        <p:nvSpPr>
          <p:cNvPr id="10" name="Text 8"/>
          <p:cNvSpPr txBox="1"/>
          <p:nvPr/>
        </p:nvSpPr>
        <p:spPr>
          <a:xfrm>
            <a:off x="4957877" y="5024628"/>
            <a:ext cx="411480" cy="274320"/>
          </a:xfrm>
          <a:prstGeom prst="rect">
            <a:avLst/>
          </a:prstGeom>
          <a:noFill/>
          <a:ln/>
        </p:spPr>
        <p:txBody>
          <a:bodyPr wrap="square" lIns="0" tIns="0" rIns="0" bIns="0" rtlCol="0" anchor="ctr"/>
          <a:lstStyle/>
          <a:p>
            <a:pPr marL="0" indent="0" algn="l">
              <a:buNone/>
            </a:pPr>
            <a:r>
              <a:rPr lang="en-US" sz="1500" b="1" dirty="0">
                <a:solidFill>
                  <a:srgbClr val="657278"/>
                </a:solidFill>
                <a:latin typeface="Cambria" pitchFamily="34" charset="0"/>
                <a:ea typeface="Cambria" pitchFamily="34" charset="-122"/>
                <a:cs typeface="Cambria" pitchFamily="34" charset="-120"/>
              </a:rPr>
              <a:t>D₁</a:t>
            </a:r>
            <a:endParaRPr lang="en-US" sz="1500" dirty="0"/>
          </a:p>
        </p:txBody>
      </p:sp>
      <p:sp>
        <p:nvSpPr>
          <p:cNvPr id="11" name="Text 9"/>
          <p:cNvSpPr txBox="1"/>
          <p:nvPr/>
        </p:nvSpPr>
        <p:spPr>
          <a:xfrm>
            <a:off x="4072738" y="5024628"/>
            <a:ext cx="411480" cy="274320"/>
          </a:xfrm>
          <a:prstGeom prst="rect">
            <a:avLst/>
          </a:prstGeom>
          <a:noFill/>
          <a:ln/>
        </p:spPr>
        <p:txBody>
          <a:bodyPr wrap="square" lIns="0" tIns="0" rIns="0" bIns="0" rtlCol="0" anchor="ctr"/>
          <a:lstStyle/>
          <a:p>
            <a:pPr marL="0" indent="0" algn="l">
              <a:buNone/>
            </a:pPr>
            <a:r>
              <a:rPr lang="en-US" sz="1500" b="1" dirty="0">
                <a:solidFill>
                  <a:srgbClr val="3E7C79"/>
                </a:solidFill>
                <a:latin typeface="Cambria" pitchFamily="34" charset="0"/>
                <a:ea typeface="Cambria" pitchFamily="34" charset="-122"/>
                <a:cs typeface="Cambria" pitchFamily="34" charset="-120"/>
              </a:rPr>
              <a:t>D₂</a:t>
            </a:r>
            <a:endParaRPr lang="en-US" sz="1500" dirty="0"/>
          </a:p>
        </p:txBody>
      </p:sp>
      <p:sp>
        <p:nvSpPr>
          <p:cNvPr id="12" name="Shape 10"/>
          <p:cNvSpPr/>
          <p:nvPr/>
        </p:nvSpPr>
        <p:spPr>
          <a:xfrm>
            <a:off x="3072384" y="3881628"/>
            <a:ext cx="610819" cy="237744"/>
          </a:xfrm>
          <a:prstGeom prst="leftArrow">
            <a:avLst/>
          </a:prstGeom>
          <a:solidFill>
            <a:srgbClr val="BE7F5E"/>
          </a:solidFill>
          <a:ln/>
        </p:spPr>
        <p:txBody>
          <a:bodyPr/>
          <a:lstStyle/>
          <a:p>
            <a:endParaRPr lang="en-US"/>
          </a:p>
        </p:txBody>
      </p:sp>
      <p:sp>
        <p:nvSpPr>
          <p:cNvPr id="13" name="Text 11"/>
          <p:cNvSpPr txBox="1"/>
          <p:nvPr/>
        </p:nvSpPr>
        <p:spPr>
          <a:xfrm>
            <a:off x="548640" y="5943600"/>
            <a:ext cx="5449824" cy="365760"/>
          </a:xfrm>
          <a:prstGeom prst="rect">
            <a:avLst/>
          </a:prstGeom>
          <a:noFill/>
          <a:ln/>
        </p:spPr>
        <p:txBody>
          <a:bodyPr wrap="square" lIns="0" tIns="0" rIns="0" bIns="0" rtlCol="0" anchor="ctr"/>
          <a:lstStyle/>
          <a:p>
            <a:pPr marL="0" indent="0" algn="ctr">
              <a:buNone/>
            </a:pPr>
            <a:r>
              <a:rPr lang="en-US" sz="1700" b="1" dirty="0">
                <a:solidFill>
                  <a:srgbClr val="BE7F5E"/>
                </a:solidFill>
                <a:latin typeface="Cambria" pitchFamily="34" charset="0"/>
                <a:ea typeface="Cambria" pitchFamily="34" charset="-122"/>
                <a:cs typeface="Cambria" pitchFamily="34" charset="-120"/>
              </a:rPr>
              <a:t>Demand decreases</a:t>
            </a:r>
            <a:endParaRPr lang="en-US" sz="1700" dirty="0"/>
          </a:p>
        </p:txBody>
      </p:sp>
      <p:sp>
        <p:nvSpPr>
          <p:cNvPr id="14" name="Text 12"/>
          <p:cNvSpPr txBox="1"/>
          <p:nvPr/>
        </p:nvSpPr>
        <p:spPr>
          <a:xfrm>
            <a:off x="6190488" y="1691640"/>
            <a:ext cx="5449824" cy="365760"/>
          </a:xfrm>
          <a:prstGeom prst="rect">
            <a:avLst/>
          </a:prstGeom>
          <a:noFill/>
          <a:ln/>
        </p:spPr>
        <p:txBody>
          <a:bodyPr wrap="square" lIns="0" tIns="0" rIns="0" bIns="0" rtlCol="0" anchor="ctr"/>
          <a:lstStyle/>
          <a:p>
            <a:pPr marL="0" indent="0" algn="ctr">
              <a:buNone/>
            </a:pPr>
            <a:r>
              <a:rPr lang="en-US" sz="2000" b="1" dirty="0">
                <a:solidFill>
                  <a:srgbClr val="3E7C79"/>
                </a:solidFill>
                <a:latin typeface="Cambria" pitchFamily="34" charset="0"/>
                <a:ea typeface="Cambria" pitchFamily="34" charset="-122"/>
                <a:cs typeface="Cambria" pitchFamily="34" charset="-120"/>
              </a:rPr>
              <a:t>Normal good</a:t>
            </a:r>
            <a:endParaRPr lang="en-US" sz="2000" dirty="0"/>
          </a:p>
        </p:txBody>
      </p:sp>
      <p:sp>
        <p:nvSpPr>
          <p:cNvPr id="15" name="Text 13"/>
          <p:cNvSpPr txBox="1"/>
          <p:nvPr/>
        </p:nvSpPr>
        <p:spPr>
          <a:xfrm>
            <a:off x="6190488" y="2057400"/>
            <a:ext cx="5449824" cy="274320"/>
          </a:xfrm>
          <a:prstGeom prst="rect">
            <a:avLst/>
          </a:prstGeom>
          <a:noFill/>
          <a:ln/>
        </p:spPr>
        <p:txBody>
          <a:bodyPr wrap="square" lIns="0" tIns="0" rIns="0" bIns="0" rtlCol="0" anchor="ctr"/>
          <a:lstStyle/>
          <a:p>
            <a:pPr marL="0" indent="0" algn="ctr">
              <a:buNone/>
            </a:pPr>
            <a:r>
              <a:rPr lang="en-US" sz="1400" i="1" dirty="0">
                <a:solidFill>
                  <a:srgbClr val="51605E"/>
                </a:solidFill>
                <a:latin typeface="Cambria" pitchFamily="34" charset="0"/>
                <a:ea typeface="Cambria" pitchFamily="34" charset="-122"/>
                <a:cs typeface="Cambria" pitchFamily="34" charset="-120"/>
              </a:rPr>
              <a:t>Income increases</a:t>
            </a:r>
            <a:endParaRPr lang="en-US" sz="1400" dirty="0"/>
          </a:p>
        </p:txBody>
      </p:sp>
      <p:sp>
        <p:nvSpPr>
          <p:cNvPr id="16" name="Shape 14"/>
          <p:cNvSpPr/>
          <p:nvPr/>
        </p:nvSpPr>
        <p:spPr>
          <a:xfrm>
            <a:off x="7104888" y="2606040"/>
            <a:ext cx="914" cy="2697480"/>
          </a:xfrm>
          <a:prstGeom prst="line">
            <a:avLst/>
          </a:prstGeom>
          <a:noFill/>
          <a:ln w="19050">
            <a:solidFill>
              <a:srgbClr val="1C2321"/>
            </a:solidFill>
            <a:prstDash val="solid"/>
          </a:ln>
        </p:spPr>
        <p:txBody>
          <a:bodyPr/>
          <a:lstStyle/>
          <a:p>
            <a:endParaRPr lang="en-US"/>
          </a:p>
        </p:txBody>
      </p:sp>
      <p:sp>
        <p:nvSpPr>
          <p:cNvPr id="17" name="Shape 15"/>
          <p:cNvSpPr/>
          <p:nvPr/>
        </p:nvSpPr>
        <p:spPr>
          <a:xfrm>
            <a:off x="7104888" y="5303520"/>
            <a:ext cx="4114800" cy="914"/>
          </a:xfrm>
          <a:prstGeom prst="line">
            <a:avLst/>
          </a:prstGeom>
          <a:noFill/>
          <a:ln w="19050">
            <a:solidFill>
              <a:srgbClr val="1C2321"/>
            </a:solidFill>
            <a:prstDash val="solid"/>
          </a:ln>
        </p:spPr>
        <p:txBody>
          <a:bodyPr/>
          <a:lstStyle/>
          <a:p>
            <a:endParaRPr lang="en-US"/>
          </a:p>
        </p:txBody>
      </p:sp>
      <p:sp>
        <p:nvSpPr>
          <p:cNvPr id="18" name="Text 16"/>
          <p:cNvSpPr txBox="1"/>
          <p:nvPr/>
        </p:nvSpPr>
        <p:spPr>
          <a:xfrm>
            <a:off x="6693408" y="228600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19" name="Text 17"/>
          <p:cNvSpPr txBox="1"/>
          <p:nvPr/>
        </p:nvSpPr>
        <p:spPr>
          <a:xfrm>
            <a:off x="8019288" y="5394960"/>
            <a:ext cx="21945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 of good X</a:t>
            </a:r>
            <a:endParaRPr lang="en-US" sz="1500" dirty="0"/>
          </a:p>
        </p:txBody>
      </p:sp>
      <p:sp>
        <p:nvSpPr>
          <p:cNvPr id="20" name="Shape 18"/>
          <p:cNvSpPr/>
          <p:nvPr/>
        </p:nvSpPr>
        <p:spPr>
          <a:xfrm>
            <a:off x="7426757" y="2958084"/>
            <a:ext cx="2333549" cy="2084832"/>
          </a:xfrm>
          <a:prstGeom prst="line">
            <a:avLst/>
          </a:prstGeom>
          <a:noFill/>
          <a:ln w="25400">
            <a:solidFill>
              <a:srgbClr val="657278"/>
            </a:solidFill>
            <a:prstDash val="dash"/>
          </a:ln>
        </p:spPr>
        <p:txBody>
          <a:bodyPr/>
          <a:lstStyle/>
          <a:p>
            <a:endParaRPr lang="en-US"/>
          </a:p>
        </p:txBody>
      </p:sp>
      <p:sp>
        <p:nvSpPr>
          <p:cNvPr id="21" name="Shape 19"/>
          <p:cNvSpPr/>
          <p:nvPr/>
        </p:nvSpPr>
        <p:spPr>
          <a:xfrm>
            <a:off x="8311896" y="2958084"/>
            <a:ext cx="2333549" cy="2084832"/>
          </a:xfrm>
          <a:prstGeom prst="line">
            <a:avLst/>
          </a:prstGeom>
          <a:noFill/>
          <a:ln w="34925">
            <a:solidFill>
              <a:srgbClr val="3E7C79"/>
            </a:solidFill>
            <a:prstDash val="solid"/>
          </a:ln>
        </p:spPr>
        <p:txBody>
          <a:bodyPr/>
          <a:lstStyle/>
          <a:p>
            <a:endParaRPr lang="en-US"/>
          </a:p>
        </p:txBody>
      </p:sp>
      <p:sp>
        <p:nvSpPr>
          <p:cNvPr id="22" name="Text 20"/>
          <p:cNvSpPr txBox="1"/>
          <p:nvPr/>
        </p:nvSpPr>
        <p:spPr>
          <a:xfrm>
            <a:off x="9714586" y="5024628"/>
            <a:ext cx="411480" cy="274320"/>
          </a:xfrm>
          <a:prstGeom prst="rect">
            <a:avLst/>
          </a:prstGeom>
          <a:noFill/>
          <a:ln/>
        </p:spPr>
        <p:txBody>
          <a:bodyPr wrap="square" lIns="0" tIns="0" rIns="0" bIns="0" rtlCol="0" anchor="ctr"/>
          <a:lstStyle/>
          <a:p>
            <a:pPr marL="0" indent="0" algn="l">
              <a:buNone/>
            </a:pPr>
            <a:r>
              <a:rPr lang="en-US" sz="1500" b="1" dirty="0">
                <a:solidFill>
                  <a:srgbClr val="657278"/>
                </a:solidFill>
                <a:latin typeface="Cambria" pitchFamily="34" charset="0"/>
                <a:ea typeface="Cambria" pitchFamily="34" charset="-122"/>
                <a:cs typeface="Cambria" pitchFamily="34" charset="-120"/>
              </a:rPr>
              <a:t>D₁</a:t>
            </a:r>
            <a:endParaRPr lang="en-US" sz="1500" dirty="0"/>
          </a:p>
        </p:txBody>
      </p:sp>
      <p:sp>
        <p:nvSpPr>
          <p:cNvPr id="23" name="Text 21"/>
          <p:cNvSpPr txBox="1"/>
          <p:nvPr/>
        </p:nvSpPr>
        <p:spPr>
          <a:xfrm>
            <a:off x="10599725" y="5024628"/>
            <a:ext cx="411480" cy="274320"/>
          </a:xfrm>
          <a:prstGeom prst="rect">
            <a:avLst/>
          </a:prstGeom>
          <a:noFill/>
          <a:ln/>
        </p:spPr>
        <p:txBody>
          <a:bodyPr wrap="square" lIns="0" tIns="0" rIns="0" bIns="0" rtlCol="0" anchor="ctr"/>
          <a:lstStyle/>
          <a:p>
            <a:pPr marL="0" indent="0" algn="l">
              <a:buNone/>
            </a:pPr>
            <a:r>
              <a:rPr lang="en-US" sz="1500" b="1" dirty="0">
                <a:solidFill>
                  <a:srgbClr val="3E7C79"/>
                </a:solidFill>
                <a:latin typeface="Cambria" pitchFamily="34" charset="0"/>
                <a:ea typeface="Cambria" pitchFamily="34" charset="-122"/>
                <a:cs typeface="Cambria" pitchFamily="34" charset="-120"/>
              </a:rPr>
              <a:t>D₂</a:t>
            </a:r>
            <a:endParaRPr lang="en-US" sz="1500" dirty="0"/>
          </a:p>
        </p:txBody>
      </p:sp>
      <p:sp>
        <p:nvSpPr>
          <p:cNvPr id="24" name="Shape 22"/>
          <p:cNvSpPr/>
          <p:nvPr/>
        </p:nvSpPr>
        <p:spPr>
          <a:xfrm>
            <a:off x="8714232" y="3881628"/>
            <a:ext cx="610819" cy="237744"/>
          </a:xfrm>
          <a:prstGeom prst="rightArrow">
            <a:avLst/>
          </a:prstGeom>
          <a:solidFill>
            <a:srgbClr val="BE7F5E"/>
          </a:solidFill>
          <a:ln/>
        </p:spPr>
        <p:txBody>
          <a:bodyPr/>
          <a:lstStyle/>
          <a:p>
            <a:endParaRPr lang="en-US"/>
          </a:p>
        </p:txBody>
      </p:sp>
      <p:sp>
        <p:nvSpPr>
          <p:cNvPr id="25" name="Text 23"/>
          <p:cNvSpPr txBox="1"/>
          <p:nvPr/>
        </p:nvSpPr>
        <p:spPr>
          <a:xfrm>
            <a:off x="6190488" y="5943600"/>
            <a:ext cx="5449824" cy="365760"/>
          </a:xfrm>
          <a:prstGeom prst="rect">
            <a:avLst/>
          </a:prstGeom>
          <a:noFill/>
          <a:ln/>
        </p:spPr>
        <p:txBody>
          <a:bodyPr wrap="square" lIns="0" tIns="0" rIns="0" bIns="0" rtlCol="0" anchor="ctr"/>
          <a:lstStyle/>
          <a:p>
            <a:pPr marL="0" indent="0" algn="ctr">
              <a:buNone/>
            </a:pPr>
            <a:r>
              <a:rPr lang="en-US" sz="1700" b="1" dirty="0">
                <a:solidFill>
                  <a:srgbClr val="BE7F5E"/>
                </a:solidFill>
                <a:latin typeface="Cambria" pitchFamily="34" charset="0"/>
                <a:ea typeface="Cambria" pitchFamily="34" charset="-122"/>
                <a:cs typeface="Cambria" pitchFamily="34" charset="-120"/>
              </a:rPr>
              <a:t>Demand increases</a:t>
            </a:r>
            <a:endParaRPr lang="en-US" sz="1700" dirty="0"/>
          </a:p>
        </p:txBody>
      </p:sp>
    </p:spTree>
    <p:extLst>
      <p:ext uri="{BB962C8B-B14F-4D97-AF65-F5344CB8AC3E}">
        <p14:creationId xmlns:p14="http://schemas.microsoft.com/office/powerpoint/2010/main" val="1485300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0468F08-E1D0-4F18-B99A-7DF6C3F32F08}"/>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46BEB8DE-D139-4AB7-A7D8-4D147FA55671}"/>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ANSWER</a:t>
            </a:r>
            <a:endParaRPr sz="1300"/>
          </a:p>
        </p:txBody>
      </p:sp>
      <p:sp>
        <p:nvSpPr>
          <p:cNvPr id="4" name="Text 2">
            <a:extLst>
              <a:ext uri="{FF2B5EF4-FFF2-40B4-BE49-F238E27FC236}">
                <a16:creationId xmlns:a16="http://schemas.microsoft.com/office/drawing/2014/main" id="{E91E06F5-989D-4DDA-A8EE-E3631FE467FC}"/>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97A17C9C-EF8F-4CBA-89B0-4363D1870AF5}"/>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5</a:t>
            </a:r>
            <a:endParaRPr sz="1000"/>
          </a:p>
        </p:txBody>
      </p:sp>
      <p:sp>
        <p:nvSpPr>
          <p:cNvPr id="6" name="Text 4">
            <a:extLst>
              <a:ext uri="{FF2B5EF4-FFF2-40B4-BE49-F238E27FC236}">
                <a16:creationId xmlns:a16="http://schemas.microsoft.com/office/drawing/2014/main" id="{ECEF9E08-43CC-4C86-AFD8-E29D2351F4B8}"/>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Question 1c &amp; 1d: Substitute vs. Complement Goods</a:t>
            </a:r>
            <a:endParaRPr sz="3200"/>
          </a:p>
        </p:txBody>
      </p:sp>
      <p:sp>
        <p:nvSpPr>
          <p:cNvPr id="7" name="Text 5">
            <a:extLst>
              <a:ext uri="{FF2B5EF4-FFF2-40B4-BE49-F238E27FC236}">
                <a16:creationId xmlns:a16="http://schemas.microsoft.com/office/drawing/2014/main" id="{F4F60D00-D400-4A41-A5C1-03618CE05EF2}"/>
              </a:ext>
            </a:extLst>
          </p:cNvPr>
          <p:cNvSpPr>
            <a:spLocks noGrp="1"/>
          </p:cNvSpPr>
          <p:nvPr/>
        </p:nvSpPr>
        <p:spPr>
          <a:xfrm>
            <a:off x="548640" y="1874520"/>
            <a:ext cx="10881360" cy="429768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c. Substitute goods → iv</a:t>
            </a:r>
            <a:endParaRPr sz="1800"/>
          </a:p>
          <a:p>
            <a:pPr marL="508000" lvl="1" indent="-254000">
              <a:spcAft>
                <a:spcPts val="1000"/>
              </a:spcAft>
              <a:buSzPct val="100000"/>
              <a:buChar char="–"/>
            </a:pPr>
            <a:r>
              <a:rPr sz="1700" i="1">
                <a:solidFill>
                  <a:srgbClr val="3E7C79"/>
                </a:solidFill>
                <a:latin typeface="Cambria"/>
                <a:ea typeface="Cambria"/>
                <a:cs typeface="Cambria"/>
              </a:rPr>
              <a:t>The price of good A increases, and the demand for good B increases.</a:t>
            </a:r>
            <a:endParaRPr sz="1800"/>
          </a:p>
          <a:p>
            <a:pPr marL="279400" indent="-279400">
              <a:spcAft>
                <a:spcPts val="800"/>
              </a:spcAft>
              <a:buSzPct val="100000"/>
              <a:buChar char="●"/>
            </a:pPr>
            <a:r>
              <a:rPr sz="1800" b="1">
                <a:solidFill>
                  <a:srgbClr val="1C2321"/>
                </a:solidFill>
                <a:latin typeface="Cambria"/>
                <a:ea typeface="Cambria"/>
                <a:cs typeface="Cambria"/>
              </a:rPr>
              <a:t>d. Complement goods → i</a:t>
            </a:r>
            <a:endParaRPr sz="1800"/>
          </a:p>
          <a:p>
            <a:pPr marL="508000" lvl="1" indent="-254000">
              <a:spcAft>
                <a:spcPts val="1000"/>
              </a:spcAft>
              <a:buSzPct val="100000"/>
              <a:buChar char="–"/>
            </a:pPr>
            <a:r>
              <a:rPr sz="1700" i="1">
                <a:solidFill>
                  <a:srgbClr val="3E7C79"/>
                </a:solidFill>
                <a:latin typeface="Cambria"/>
                <a:ea typeface="Cambria"/>
                <a:cs typeface="Cambria"/>
              </a:rPr>
              <a:t>The price of good A increases, and the demand for good B decreases.</a:t>
            </a:r>
            <a:endParaRPr sz="1800"/>
          </a:p>
          <a:p>
            <a:pPr marL="279400" indent="-279400">
              <a:spcAft>
                <a:spcPts val="800"/>
              </a:spcAft>
              <a:buSzPct val="100000"/>
              <a:buChar char="●"/>
            </a:pPr>
            <a:r>
              <a:rPr sz="1800" b="1">
                <a:solidFill>
                  <a:srgbClr val="1C2321"/>
                </a:solidFill>
                <a:latin typeface="Cambria"/>
                <a:ea typeface="Cambria"/>
                <a:cs typeface="Cambria"/>
              </a:rPr>
              <a:t>What separates the two?</a:t>
            </a:r>
            <a:endParaRPr sz="1800"/>
          </a:p>
          <a:p>
            <a:pPr marL="508000" lvl="1" indent="-254000">
              <a:spcAft>
                <a:spcPts val="1000"/>
              </a:spcAft>
              <a:buSzPct val="100000"/>
              <a:buChar char="–"/>
            </a:pPr>
            <a:r>
              <a:rPr sz="1700" i="1">
                <a:solidFill>
                  <a:srgbClr val="3E7C79"/>
                </a:solidFill>
                <a:latin typeface="Cambria"/>
                <a:ea typeface="Cambria"/>
                <a:cs typeface="Cambria"/>
              </a:rPr>
              <a:t>Both situations start with a change in another good’s price — again, the direction of the response is what differs.</a:t>
            </a:r>
            <a:endParaRPr sz="1800"/>
          </a:p>
          <a:p>
            <a:pPr marL="508000" lvl="1" indent="-254000">
              <a:spcAft>
                <a:spcPts val="1000"/>
              </a:spcAft>
              <a:buSzPct val="100000"/>
              <a:buChar char="–"/>
            </a:pPr>
            <a:r>
              <a:rPr sz="1700" i="1">
                <a:solidFill>
                  <a:srgbClr val="3E7C79"/>
                </a:solidFill>
                <a:latin typeface="Cambria"/>
                <a:ea typeface="Cambria"/>
                <a:cs typeface="Cambria"/>
              </a:rPr>
              <a:t>Substitutes are alternatives, so buyers switch toward B. Complements are used together, so buyers want less of both.</a:t>
            </a:r>
            <a:endParaRPr sz="1800"/>
          </a:p>
        </p:txBody>
      </p:sp>
    </p:spTree>
    <p:extLst>
      <p:ext uri="{BB962C8B-B14F-4D97-AF65-F5344CB8AC3E}">
        <p14:creationId xmlns:p14="http://schemas.microsoft.com/office/powerpoint/2010/main" val="64342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98EC7C4-C877-4875-BDA1-38C594BB81FE}"/>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C119669F-C4C4-4585-A7A8-881EFC900449}"/>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GRAPHS</a:t>
            </a:r>
            <a:endParaRPr sz="1300"/>
          </a:p>
        </p:txBody>
      </p:sp>
      <p:sp>
        <p:nvSpPr>
          <p:cNvPr id="4" name="Text 2">
            <a:extLst>
              <a:ext uri="{FF2B5EF4-FFF2-40B4-BE49-F238E27FC236}">
                <a16:creationId xmlns:a16="http://schemas.microsoft.com/office/drawing/2014/main" id="{34478B3E-EFF4-4F8F-8226-62CC567F4844}"/>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4364107B-F30B-4F3B-975D-B3B8C1B38DA4}"/>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6</a:t>
            </a:r>
            <a:endParaRPr sz="1000"/>
          </a:p>
        </p:txBody>
      </p:sp>
      <p:sp>
        <p:nvSpPr>
          <p:cNvPr id="6" name="Text 4">
            <a:extLst>
              <a:ext uri="{FF2B5EF4-FFF2-40B4-BE49-F238E27FC236}">
                <a16:creationId xmlns:a16="http://schemas.microsoft.com/office/drawing/2014/main" id="{9A745953-D4F2-4BA7-AE52-3C260D6552FF}"/>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Question 1c &amp; 1d: Substitute vs. Complement Goods</a:t>
            </a:r>
            <a:endParaRPr sz="3200"/>
          </a:p>
        </p:txBody>
      </p:sp>
      <p:sp>
        <p:nvSpPr>
          <p:cNvPr id="26" name="Text 0"/>
          <p:cNvSpPr txBox="1"/>
          <p:nvPr/>
        </p:nvSpPr>
        <p:spPr>
          <a:xfrm>
            <a:off x="548640" y="1691640"/>
            <a:ext cx="5449824" cy="365760"/>
          </a:xfrm>
          <a:prstGeom prst="rect">
            <a:avLst/>
          </a:prstGeom>
          <a:noFill/>
          <a:ln/>
        </p:spPr>
        <p:txBody>
          <a:bodyPr wrap="square" lIns="0" tIns="0" rIns="0" bIns="0" rtlCol="0" anchor="ctr"/>
          <a:lstStyle/>
          <a:p>
            <a:pPr marL="0" indent="0" algn="ctr">
              <a:buNone/>
            </a:pPr>
            <a:r>
              <a:rPr lang="en-US" sz="2000" b="1" dirty="0">
                <a:solidFill>
                  <a:srgbClr val="3E7C79"/>
                </a:solidFill>
                <a:latin typeface="Cambria" pitchFamily="34" charset="0"/>
                <a:ea typeface="Cambria" pitchFamily="34" charset="-122"/>
                <a:cs typeface="Cambria" pitchFamily="34" charset="-120"/>
              </a:rPr>
              <a:t>Substitute goods</a:t>
            </a:r>
            <a:endParaRPr lang="en-US" sz="2000" dirty="0"/>
          </a:p>
        </p:txBody>
      </p:sp>
      <p:sp>
        <p:nvSpPr>
          <p:cNvPr id="27" name="Text 1"/>
          <p:cNvSpPr txBox="1"/>
          <p:nvPr/>
        </p:nvSpPr>
        <p:spPr>
          <a:xfrm>
            <a:off x="548640" y="2057400"/>
            <a:ext cx="5449824" cy="274320"/>
          </a:xfrm>
          <a:prstGeom prst="rect">
            <a:avLst/>
          </a:prstGeom>
          <a:noFill/>
          <a:ln/>
        </p:spPr>
        <p:txBody>
          <a:bodyPr wrap="square" lIns="0" tIns="0" rIns="0" bIns="0" rtlCol="0" anchor="ctr"/>
          <a:lstStyle/>
          <a:p>
            <a:pPr marL="0" indent="0" algn="ctr">
              <a:buNone/>
            </a:pPr>
            <a:r>
              <a:rPr lang="en-US" sz="1400" i="1" dirty="0">
                <a:solidFill>
                  <a:srgbClr val="51605E"/>
                </a:solidFill>
                <a:latin typeface="Cambria" pitchFamily="34" charset="0"/>
                <a:ea typeface="Cambria" pitchFamily="34" charset="-122"/>
                <a:cs typeface="Cambria" pitchFamily="34" charset="-120"/>
              </a:rPr>
              <a:t>Price of good A increases</a:t>
            </a:r>
            <a:endParaRPr lang="en-US" sz="1400" dirty="0"/>
          </a:p>
        </p:txBody>
      </p:sp>
      <p:sp>
        <p:nvSpPr>
          <p:cNvPr id="28" name="Shape 2"/>
          <p:cNvSpPr/>
          <p:nvPr/>
        </p:nvSpPr>
        <p:spPr>
          <a:xfrm>
            <a:off x="1463040" y="2606040"/>
            <a:ext cx="914" cy="2697480"/>
          </a:xfrm>
          <a:prstGeom prst="line">
            <a:avLst/>
          </a:prstGeom>
          <a:noFill/>
          <a:ln w="19050">
            <a:solidFill>
              <a:srgbClr val="1C2321"/>
            </a:solidFill>
            <a:prstDash val="solid"/>
          </a:ln>
        </p:spPr>
        <p:txBody>
          <a:bodyPr/>
          <a:lstStyle/>
          <a:p>
            <a:endParaRPr lang="en-US"/>
          </a:p>
        </p:txBody>
      </p:sp>
      <p:sp>
        <p:nvSpPr>
          <p:cNvPr id="29" name="Shape 3"/>
          <p:cNvSpPr/>
          <p:nvPr/>
        </p:nvSpPr>
        <p:spPr>
          <a:xfrm>
            <a:off x="1463040" y="5303520"/>
            <a:ext cx="4114800" cy="914"/>
          </a:xfrm>
          <a:prstGeom prst="line">
            <a:avLst/>
          </a:prstGeom>
          <a:noFill/>
          <a:ln w="19050">
            <a:solidFill>
              <a:srgbClr val="1C2321"/>
            </a:solidFill>
            <a:prstDash val="solid"/>
          </a:ln>
        </p:spPr>
        <p:txBody>
          <a:bodyPr/>
          <a:lstStyle/>
          <a:p>
            <a:endParaRPr lang="en-US"/>
          </a:p>
        </p:txBody>
      </p:sp>
      <p:sp>
        <p:nvSpPr>
          <p:cNvPr id="30" name="Text 4"/>
          <p:cNvSpPr txBox="1"/>
          <p:nvPr/>
        </p:nvSpPr>
        <p:spPr>
          <a:xfrm>
            <a:off x="1051560" y="228600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7" name="Text 5"/>
          <p:cNvSpPr txBox="1"/>
          <p:nvPr/>
        </p:nvSpPr>
        <p:spPr>
          <a:xfrm>
            <a:off x="2377440" y="5394960"/>
            <a:ext cx="21945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 of good B</a:t>
            </a:r>
            <a:endParaRPr lang="en-US" sz="1500" dirty="0"/>
          </a:p>
        </p:txBody>
      </p:sp>
      <p:sp>
        <p:nvSpPr>
          <p:cNvPr id="8" name="Shape 6"/>
          <p:cNvSpPr/>
          <p:nvPr/>
        </p:nvSpPr>
        <p:spPr>
          <a:xfrm>
            <a:off x="1784909" y="2958084"/>
            <a:ext cx="2333549" cy="2084832"/>
          </a:xfrm>
          <a:prstGeom prst="line">
            <a:avLst/>
          </a:prstGeom>
          <a:noFill/>
          <a:ln w="25400">
            <a:solidFill>
              <a:srgbClr val="657278"/>
            </a:solidFill>
            <a:prstDash val="dash"/>
          </a:ln>
        </p:spPr>
        <p:txBody>
          <a:bodyPr/>
          <a:lstStyle/>
          <a:p>
            <a:endParaRPr lang="en-US"/>
          </a:p>
        </p:txBody>
      </p:sp>
      <p:sp>
        <p:nvSpPr>
          <p:cNvPr id="9" name="Shape 7"/>
          <p:cNvSpPr/>
          <p:nvPr/>
        </p:nvSpPr>
        <p:spPr>
          <a:xfrm>
            <a:off x="2670048" y="2958084"/>
            <a:ext cx="2333549" cy="2084832"/>
          </a:xfrm>
          <a:prstGeom prst="line">
            <a:avLst/>
          </a:prstGeom>
          <a:noFill/>
          <a:ln w="34925">
            <a:solidFill>
              <a:srgbClr val="3E7C79"/>
            </a:solidFill>
            <a:prstDash val="solid"/>
          </a:ln>
        </p:spPr>
        <p:txBody>
          <a:bodyPr/>
          <a:lstStyle/>
          <a:p>
            <a:endParaRPr lang="en-US"/>
          </a:p>
        </p:txBody>
      </p:sp>
      <p:sp>
        <p:nvSpPr>
          <p:cNvPr id="10" name="Text 8"/>
          <p:cNvSpPr txBox="1"/>
          <p:nvPr/>
        </p:nvSpPr>
        <p:spPr>
          <a:xfrm>
            <a:off x="4072738" y="5024628"/>
            <a:ext cx="411480" cy="274320"/>
          </a:xfrm>
          <a:prstGeom prst="rect">
            <a:avLst/>
          </a:prstGeom>
          <a:noFill/>
          <a:ln/>
        </p:spPr>
        <p:txBody>
          <a:bodyPr wrap="square" lIns="0" tIns="0" rIns="0" bIns="0" rtlCol="0" anchor="ctr"/>
          <a:lstStyle/>
          <a:p>
            <a:pPr marL="0" indent="0" algn="l">
              <a:buNone/>
            </a:pPr>
            <a:r>
              <a:rPr lang="en-US" sz="1500" b="1" dirty="0">
                <a:solidFill>
                  <a:srgbClr val="657278"/>
                </a:solidFill>
                <a:latin typeface="Cambria" pitchFamily="34" charset="0"/>
                <a:ea typeface="Cambria" pitchFamily="34" charset="-122"/>
                <a:cs typeface="Cambria" pitchFamily="34" charset="-120"/>
              </a:rPr>
              <a:t>D₁</a:t>
            </a:r>
            <a:endParaRPr lang="en-US" sz="1500" dirty="0"/>
          </a:p>
        </p:txBody>
      </p:sp>
      <p:sp>
        <p:nvSpPr>
          <p:cNvPr id="11" name="Text 9"/>
          <p:cNvSpPr txBox="1"/>
          <p:nvPr/>
        </p:nvSpPr>
        <p:spPr>
          <a:xfrm>
            <a:off x="4957877" y="5024628"/>
            <a:ext cx="411480" cy="274320"/>
          </a:xfrm>
          <a:prstGeom prst="rect">
            <a:avLst/>
          </a:prstGeom>
          <a:noFill/>
          <a:ln/>
        </p:spPr>
        <p:txBody>
          <a:bodyPr wrap="square" lIns="0" tIns="0" rIns="0" bIns="0" rtlCol="0" anchor="ctr"/>
          <a:lstStyle/>
          <a:p>
            <a:pPr marL="0" indent="0" algn="l">
              <a:buNone/>
            </a:pPr>
            <a:r>
              <a:rPr lang="en-US" sz="1500" b="1" dirty="0">
                <a:solidFill>
                  <a:srgbClr val="3E7C79"/>
                </a:solidFill>
                <a:latin typeface="Cambria" pitchFamily="34" charset="0"/>
                <a:ea typeface="Cambria" pitchFamily="34" charset="-122"/>
                <a:cs typeface="Cambria" pitchFamily="34" charset="-120"/>
              </a:rPr>
              <a:t>D₂</a:t>
            </a:r>
            <a:endParaRPr lang="en-US" sz="1500" dirty="0"/>
          </a:p>
        </p:txBody>
      </p:sp>
      <p:sp>
        <p:nvSpPr>
          <p:cNvPr id="12" name="Shape 10"/>
          <p:cNvSpPr/>
          <p:nvPr/>
        </p:nvSpPr>
        <p:spPr>
          <a:xfrm>
            <a:off x="3072384" y="3881628"/>
            <a:ext cx="610819" cy="237744"/>
          </a:xfrm>
          <a:prstGeom prst="rightArrow">
            <a:avLst/>
          </a:prstGeom>
          <a:solidFill>
            <a:srgbClr val="BE7F5E"/>
          </a:solidFill>
          <a:ln/>
        </p:spPr>
        <p:txBody>
          <a:bodyPr/>
          <a:lstStyle/>
          <a:p>
            <a:endParaRPr lang="en-US"/>
          </a:p>
        </p:txBody>
      </p:sp>
      <p:sp>
        <p:nvSpPr>
          <p:cNvPr id="13" name="Text 11"/>
          <p:cNvSpPr txBox="1"/>
          <p:nvPr/>
        </p:nvSpPr>
        <p:spPr>
          <a:xfrm>
            <a:off x="548640" y="5943600"/>
            <a:ext cx="5449824" cy="365760"/>
          </a:xfrm>
          <a:prstGeom prst="rect">
            <a:avLst/>
          </a:prstGeom>
          <a:noFill/>
          <a:ln/>
        </p:spPr>
        <p:txBody>
          <a:bodyPr wrap="square" lIns="0" tIns="0" rIns="0" bIns="0" rtlCol="0" anchor="ctr"/>
          <a:lstStyle/>
          <a:p>
            <a:pPr marL="0" indent="0" algn="ctr">
              <a:buNone/>
            </a:pPr>
            <a:r>
              <a:rPr lang="en-US" sz="1700" b="1" dirty="0">
                <a:solidFill>
                  <a:srgbClr val="BE7F5E"/>
                </a:solidFill>
                <a:latin typeface="Cambria" pitchFamily="34" charset="0"/>
                <a:ea typeface="Cambria" pitchFamily="34" charset="-122"/>
                <a:cs typeface="Cambria" pitchFamily="34" charset="-120"/>
              </a:rPr>
              <a:t>Demand increases</a:t>
            </a:r>
            <a:endParaRPr lang="en-US" sz="1700" dirty="0"/>
          </a:p>
        </p:txBody>
      </p:sp>
      <p:sp>
        <p:nvSpPr>
          <p:cNvPr id="14" name="Text 12"/>
          <p:cNvSpPr txBox="1"/>
          <p:nvPr/>
        </p:nvSpPr>
        <p:spPr>
          <a:xfrm>
            <a:off x="6190488" y="1691640"/>
            <a:ext cx="5449824" cy="365760"/>
          </a:xfrm>
          <a:prstGeom prst="rect">
            <a:avLst/>
          </a:prstGeom>
          <a:noFill/>
          <a:ln/>
        </p:spPr>
        <p:txBody>
          <a:bodyPr wrap="square" lIns="0" tIns="0" rIns="0" bIns="0" rtlCol="0" anchor="ctr"/>
          <a:lstStyle/>
          <a:p>
            <a:pPr marL="0" indent="0" algn="ctr">
              <a:buNone/>
            </a:pPr>
            <a:r>
              <a:rPr lang="en-US" sz="2000" b="1" dirty="0">
                <a:solidFill>
                  <a:srgbClr val="3E7C79"/>
                </a:solidFill>
                <a:latin typeface="Cambria" pitchFamily="34" charset="0"/>
                <a:ea typeface="Cambria" pitchFamily="34" charset="-122"/>
                <a:cs typeface="Cambria" pitchFamily="34" charset="-120"/>
              </a:rPr>
              <a:t>Complement goods</a:t>
            </a:r>
            <a:endParaRPr lang="en-US" sz="2000" dirty="0"/>
          </a:p>
        </p:txBody>
      </p:sp>
      <p:sp>
        <p:nvSpPr>
          <p:cNvPr id="15" name="Text 13"/>
          <p:cNvSpPr txBox="1"/>
          <p:nvPr/>
        </p:nvSpPr>
        <p:spPr>
          <a:xfrm>
            <a:off x="6190488" y="2057400"/>
            <a:ext cx="5449824" cy="274320"/>
          </a:xfrm>
          <a:prstGeom prst="rect">
            <a:avLst/>
          </a:prstGeom>
          <a:noFill/>
          <a:ln/>
        </p:spPr>
        <p:txBody>
          <a:bodyPr wrap="square" lIns="0" tIns="0" rIns="0" bIns="0" rtlCol="0" anchor="ctr"/>
          <a:lstStyle/>
          <a:p>
            <a:pPr marL="0" indent="0" algn="ctr">
              <a:buNone/>
            </a:pPr>
            <a:r>
              <a:rPr lang="en-US" sz="1400" i="1" dirty="0">
                <a:solidFill>
                  <a:srgbClr val="51605E"/>
                </a:solidFill>
                <a:latin typeface="Cambria" pitchFamily="34" charset="0"/>
                <a:ea typeface="Cambria" pitchFamily="34" charset="-122"/>
                <a:cs typeface="Cambria" pitchFamily="34" charset="-120"/>
              </a:rPr>
              <a:t>Price of good A increases</a:t>
            </a:r>
            <a:endParaRPr lang="en-US" sz="1400" dirty="0"/>
          </a:p>
        </p:txBody>
      </p:sp>
      <p:sp>
        <p:nvSpPr>
          <p:cNvPr id="16" name="Shape 14"/>
          <p:cNvSpPr/>
          <p:nvPr/>
        </p:nvSpPr>
        <p:spPr>
          <a:xfrm>
            <a:off x="7104888" y="2606040"/>
            <a:ext cx="914" cy="2697480"/>
          </a:xfrm>
          <a:prstGeom prst="line">
            <a:avLst/>
          </a:prstGeom>
          <a:noFill/>
          <a:ln w="19050">
            <a:solidFill>
              <a:srgbClr val="1C2321"/>
            </a:solidFill>
            <a:prstDash val="solid"/>
          </a:ln>
        </p:spPr>
        <p:txBody>
          <a:bodyPr/>
          <a:lstStyle/>
          <a:p>
            <a:endParaRPr lang="en-US"/>
          </a:p>
        </p:txBody>
      </p:sp>
      <p:sp>
        <p:nvSpPr>
          <p:cNvPr id="17" name="Shape 15"/>
          <p:cNvSpPr/>
          <p:nvPr/>
        </p:nvSpPr>
        <p:spPr>
          <a:xfrm>
            <a:off x="7104888" y="5303520"/>
            <a:ext cx="4114800" cy="914"/>
          </a:xfrm>
          <a:prstGeom prst="line">
            <a:avLst/>
          </a:prstGeom>
          <a:noFill/>
          <a:ln w="19050">
            <a:solidFill>
              <a:srgbClr val="1C2321"/>
            </a:solidFill>
            <a:prstDash val="solid"/>
          </a:ln>
        </p:spPr>
        <p:txBody>
          <a:bodyPr/>
          <a:lstStyle/>
          <a:p>
            <a:endParaRPr lang="en-US"/>
          </a:p>
        </p:txBody>
      </p:sp>
      <p:sp>
        <p:nvSpPr>
          <p:cNvPr id="18" name="Text 16"/>
          <p:cNvSpPr txBox="1"/>
          <p:nvPr/>
        </p:nvSpPr>
        <p:spPr>
          <a:xfrm>
            <a:off x="6693408" y="228600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19" name="Text 17"/>
          <p:cNvSpPr txBox="1"/>
          <p:nvPr/>
        </p:nvSpPr>
        <p:spPr>
          <a:xfrm>
            <a:off x="8019288" y="5394960"/>
            <a:ext cx="21945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 of good B</a:t>
            </a:r>
            <a:endParaRPr lang="en-US" sz="1500" dirty="0"/>
          </a:p>
        </p:txBody>
      </p:sp>
      <p:sp>
        <p:nvSpPr>
          <p:cNvPr id="20" name="Shape 18"/>
          <p:cNvSpPr/>
          <p:nvPr/>
        </p:nvSpPr>
        <p:spPr>
          <a:xfrm>
            <a:off x="8311896" y="2958084"/>
            <a:ext cx="2333549" cy="2084832"/>
          </a:xfrm>
          <a:prstGeom prst="line">
            <a:avLst/>
          </a:prstGeom>
          <a:noFill/>
          <a:ln w="25400">
            <a:solidFill>
              <a:srgbClr val="657278"/>
            </a:solidFill>
            <a:prstDash val="dash"/>
          </a:ln>
        </p:spPr>
        <p:txBody>
          <a:bodyPr/>
          <a:lstStyle/>
          <a:p>
            <a:endParaRPr lang="en-US"/>
          </a:p>
        </p:txBody>
      </p:sp>
      <p:sp>
        <p:nvSpPr>
          <p:cNvPr id="21" name="Shape 19"/>
          <p:cNvSpPr/>
          <p:nvPr/>
        </p:nvSpPr>
        <p:spPr>
          <a:xfrm>
            <a:off x="7426757" y="2958084"/>
            <a:ext cx="2333549" cy="2084832"/>
          </a:xfrm>
          <a:prstGeom prst="line">
            <a:avLst/>
          </a:prstGeom>
          <a:noFill/>
          <a:ln w="34925">
            <a:solidFill>
              <a:srgbClr val="3E7C79"/>
            </a:solidFill>
            <a:prstDash val="solid"/>
          </a:ln>
        </p:spPr>
        <p:txBody>
          <a:bodyPr/>
          <a:lstStyle/>
          <a:p>
            <a:endParaRPr lang="en-US"/>
          </a:p>
        </p:txBody>
      </p:sp>
      <p:sp>
        <p:nvSpPr>
          <p:cNvPr id="22" name="Text 20"/>
          <p:cNvSpPr txBox="1"/>
          <p:nvPr/>
        </p:nvSpPr>
        <p:spPr>
          <a:xfrm>
            <a:off x="10599725" y="5024628"/>
            <a:ext cx="411480" cy="274320"/>
          </a:xfrm>
          <a:prstGeom prst="rect">
            <a:avLst/>
          </a:prstGeom>
          <a:noFill/>
          <a:ln/>
        </p:spPr>
        <p:txBody>
          <a:bodyPr wrap="square" lIns="0" tIns="0" rIns="0" bIns="0" rtlCol="0" anchor="ctr"/>
          <a:lstStyle/>
          <a:p>
            <a:pPr marL="0" indent="0" algn="l">
              <a:buNone/>
            </a:pPr>
            <a:r>
              <a:rPr lang="en-US" sz="1500" b="1" dirty="0">
                <a:solidFill>
                  <a:srgbClr val="657278"/>
                </a:solidFill>
                <a:latin typeface="Cambria" pitchFamily="34" charset="0"/>
                <a:ea typeface="Cambria" pitchFamily="34" charset="-122"/>
                <a:cs typeface="Cambria" pitchFamily="34" charset="-120"/>
              </a:rPr>
              <a:t>D₁</a:t>
            </a:r>
            <a:endParaRPr lang="en-US" sz="1500" dirty="0"/>
          </a:p>
        </p:txBody>
      </p:sp>
      <p:sp>
        <p:nvSpPr>
          <p:cNvPr id="23" name="Text 21"/>
          <p:cNvSpPr txBox="1"/>
          <p:nvPr/>
        </p:nvSpPr>
        <p:spPr>
          <a:xfrm>
            <a:off x="9714586" y="5024628"/>
            <a:ext cx="411480" cy="274320"/>
          </a:xfrm>
          <a:prstGeom prst="rect">
            <a:avLst/>
          </a:prstGeom>
          <a:noFill/>
          <a:ln/>
        </p:spPr>
        <p:txBody>
          <a:bodyPr wrap="square" lIns="0" tIns="0" rIns="0" bIns="0" rtlCol="0" anchor="ctr"/>
          <a:lstStyle/>
          <a:p>
            <a:pPr marL="0" indent="0" algn="l">
              <a:buNone/>
            </a:pPr>
            <a:r>
              <a:rPr lang="en-US" sz="1500" b="1" dirty="0">
                <a:solidFill>
                  <a:srgbClr val="3E7C79"/>
                </a:solidFill>
                <a:latin typeface="Cambria" pitchFamily="34" charset="0"/>
                <a:ea typeface="Cambria" pitchFamily="34" charset="-122"/>
                <a:cs typeface="Cambria" pitchFamily="34" charset="-120"/>
              </a:rPr>
              <a:t>D₂</a:t>
            </a:r>
            <a:endParaRPr lang="en-US" sz="1500" dirty="0"/>
          </a:p>
        </p:txBody>
      </p:sp>
      <p:sp>
        <p:nvSpPr>
          <p:cNvPr id="24" name="Shape 22"/>
          <p:cNvSpPr/>
          <p:nvPr/>
        </p:nvSpPr>
        <p:spPr>
          <a:xfrm>
            <a:off x="8714232" y="3881628"/>
            <a:ext cx="610819" cy="237744"/>
          </a:xfrm>
          <a:prstGeom prst="leftArrow">
            <a:avLst/>
          </a:prstGeom>
          <a:solidFill>
            <a:srgbClr val="BE7F5E"/>
          </a:solidFill>
          <a:ln/>
        </p:spPr>
        <p:txBody>
          <a:bodyPr/>
          <a:lstStyle/>
          <a:p>
            <a:endParaRPr lang="en-US"/>
          </a:p>
        </p:txBody>
      </p:sp>
      <p:sp>
        <p:nvSpPr>
          <p:cNvPr id="25" name="Text 23"/>
          <p:cNvSpPr txBox="1"/>
          <p:nvPr/>
        </p:nvSpPr>
        <p:spPr>
          <a:xfrm>
            <a:off x="6190488" y="5943600"/>
            <a:ext cx="5449824" cy="365760"/>
          </a:xfrm>
          <a:prstGeom prst="rect">
            <a:avLst/>
          </a:prstGeom>
          <a:noFill/>
          <a:ln/>
        </p:spPr>
        <p:txBody>
          <a:bodyPr wrap="square" lIns="0" tIns="0" rIns="0" bIns="0" rtlCol="0" anchor="ctr"/>
          <a:lstStyle/>
          <a:p>
            <a:pPr marL="0" indent="0" algn="ctr">
              <a:buNone/>
            </a:pPr>
            <a:r>
              <a:rPr lang="en-US" sz="1700" b="1" dirty="0">
                <a:solidFill>
                  <a:srgbClr val="BE7F5E"/>
                </a:solidFill>
                <a:latin typeface="Cambria" pitchFamily="34" charset="0"/>
                <a:ea typeface="Cambria" pitchFamily="34" charset="-122"/>
                <a:cs typeface="Cambria" pitchFamily="34" charset="-120"/>
              </a:rPr>
              <a:t>Demand decreases</a:t>
            </a:r>
            <a:endParaRPr lang="en-US" sz="1700" dirty="0"/>
          </a:p>
        </p:txBody>
      </p:sp>
    </p:spTree>
    <p:extLst>
      <p:ext uri="{BB962C8B-B14F-4D97-AF65-F5344CB8AC3E}">
        <p14:creationId xmlns:p14="http://schemas.microsoft.com/office/powerpoint/2010/main" val="892271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95A4888-0E7C-4C13-B4C1-A640522FCBE3}"/>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285F736D-A0DA-461B-A57B-41B51FC88F28}"/>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FF9E4EFD-37E0-46B1-A0E5-4964ECEEC51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875E7E5-CF61-453C-86A5-4D2634EF02B8}"/>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7</a:t>
            </a:r>
            <a:endParaRPr sz="1000"/>
          </a:p>
        </p:txBody>
      </p:sp>
      <p:sp>
        <p:nvSpPr>
          <p:cNvPr id="6" name="Text 4">
            <a:extLst>
              <a:ext uri="{FF2B5EF4-FFF2-40B4-BE49-F238E27FC236}">
                <a16:creationId xmlns:a16="http://schemas.microsoft.com/office/drawing/2014/main" id="{4849D566-E8E3-4E10-833B-E7C7F1FB8D62}"/>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Text 5">
            <a:extLst>
              <a:ext uri="{FF2B5EF4-FFF2-40B4-BE49-F238E27FC236}">
                <a16:creationId xmlns:a16="http://schemas.microsoft.com/office/drawing/2014/main" id="{5AF0724C-8269-4497-BF86-C4CF71034BD1}"/>
              </a:ext>
            </a:extLst>
          </p:cNvPr>
          <p:cNvSpPr>
            <a:spLocks noGrp="1"/>
          </p:cNvSpPr>
          <p:nvPr/>
        </p:nvSpPr>
        <p:spPr>
          <a:xfrm>
            <a:off x="1981505" y="2011680"/>
            <a:ext cx="4023360" cy="640080"/>
          </a:xfrm>
          <a:prstGeom prst="roundRect">
            <a:avLst>
              <a:gd name="adj" fmla="val 5714"/>
            </a:avLst>
          </a:prstGeom>
          <a:solidFill>
            <a:srgbClr val="F1E3DA"/>
          </a:solidFill>
        </p:spPr>
        <p:txBody>
          <a:bodyPr wrap="square" lIns="76200" tIns="76200" rIns="76200" bIns="76200" anchor="ctr"/>
          <a:lstStyle/>
          <a:p>
            <a:pPr marL="0" indent="0" algn="ctr">
              <a:buNone/>
            </a:pPr>
            <a:r>
              <a:rPr sz="1600" b="1">
                <a:solidFill>
                  <a:srgbClr val="1C2321"/>
                </a:solidFill>
                <a:latin typeface="Cambria"/>
                <a:ea typeface="Cambria"/>
                <a:cs typeface="Cambria"/>
              </a:rPr>
              <a:t>Consumer</a:t>
            </a:r>
            <a:endParaRPr sz="1600"/>
          </a:p>
        </p:txBody>
      </p:sp>
      <p:sp>
        <p:nvSpPr>
          <p:cNvPr id="8" name="Text 6">
            <a:extLst>
              <a:ext uri="{FF2B5EF4-FFF2-40B4-BE49-F238E27FC236}">
                <a16:creationId xmlns:a16="http://schemas.microsoft.com/office/drawing/2014/main" id="{0623A046-B314-4DAC-96F7-23EFD84AD2C3}"/>
              </a:ext>
            </a:extLst>
          </p:cNvPr>
          <p:cNvSpPr>
            <a:spLocks noGrp="1"/>
          </p:cNvSpPr>
          <p:nvPr/>
        </p:nvSpPr>
        <p:spPr>
          <a:xfrm>
            <a:off x="6032297" y="2011680"/>
            <a:ext cx="4178808" cy="640080"/>
          </a:xfrm>
          <a:prstGeom prst="roundRect">
            <a:avLst>
              <a:gd name="adj" fmla="val 5714"/>
            </a:avLst>
          </a:prstGeom>
          <a:solidFill>
            <a:srgbClr val="F1E3DA"/>
          </a:solidFill>
        </p:spPr>
        <p:txBody>
          <a:bodyPr wrap="square" lIns="76200" tIns="76200" rIns="76200" bIns="76200" anchor="ctr"/>
          <a:lstStyle/>
          <a:p>
            <a:pPr marL="0" indent="0" algn="ctr">
              <a:buNone/>
            </a:pPr>
            <a:r>
              <a:rPr sz="1600" b="1">
                <a:solidFill>
                  <a:srgbClr val="1C2321"/>
                </a:solidFill>
                <a:latin typeface="Cambria"/>
                <a:ea typeface="Cambria"/>
                <a:cs typeface="Cambria"/>
              </a:rPr>
              <a:t>Willingness to Pay for a Case of Alani</a:t>
            </a:r>
            <a:endParaRPr sz="1600"/>
          </a:p>
        </p:txBody>
      </p:sp>
      <p:sp>
        <p:nvSpPr>
          <p:cNvPr id="9" name="Text 7">
            <a:extLst>
              <a:ext uri="{FF2B5EF4-FFF2-40B4-BE49-F238E27FC236}">
                <a16:creationId xmlns:a16="http://schemas.microsoft.com/office/drawing/2014/main" id="{60EF118D-18E9-4A3A-AF1B-0B43B6E4C971}"/>
              </a:ext>
            </a:extLst>
          </p:cNvPr>
          <p:cNvSpPr>
            <a:spLocks noGrp="1"/>
          </p:cNvSpPr>
          <p:nvPr/>
        </p:nvSpPr>
        <p:spPr>
          <a:xfrm>
            <a:off x="1981505" y="2679192"/>
            <a:ext cx="4023360" cy="566928"/>
          </a:xfrm>
          <a:prstGeom prst="roundRect">
            <a:avLst>
              <a:gd name="adj" fmla="val 6452"/>
            </a:avLst>
          </a:prstGeom>
          <a:solidFill>
            <a:srgbClr val="FAF6F3"/>
          </a:solidFill>
        </p:spPr>
        <p:txBody>
          <a:bodyPr wrap="square" lIns="76200" tIns="76200" rIns="76200" bIns="76200" anchor="ctr"/>
          <a:lstStyle/>
          <a:p>
            <a:pPr marL="0" indent="0" algn="l">
              <a:buNone/>
            </a:pPr>
            <a:r>
              <a:rPr sz="1600">
                <a:solidFill>
                  <a:srgbClr val="1C2321"/>
                </a:solidFill>
                <a:latin typeface="Cambria"/>
                <a:ea typeface="Cambria"/>
                <a:cs typeface="Cambria"/>
              </a:rPr>
              <a:t>Ben</a:t>
            </a:r>
            <a:endParaRPr sz="1600"/>
          </a:p>
        </p:txBody>
      </p:sp>
      <p:sp>
        <p:nvSpPr>
          <p:cNvPr id="10" name="Text 8">
            <a:extLst>
              <a:ext uri="{FF2B5EF4-FFF2-40B4-BE49-F238E27FC236}">
                <a16:creationId xmlns:a16="http://schemas.microsoft.com/office/drawing/2014/main" id="{9D227051-B4C1-480B-8738-D353D5EC5281}"/>
              </a:ext>
            </a:extLst>
          </p:cNvPr>
          <p:cNvSpPr>
            <a:spLocks noGrp="1"/>
          </p:cNvSpPr>
          <p:nvPr/>
        </p:nvSpPr>
        <p:spPr>
          <a:xfrm>
            <a:off x="6032297" y="2679192"/>
            <a:ext cx="4178808" cy="566928"/>
          </a:xfrm>
          <a:prstGeom prst="roundRect">
            <a:avLst>
              <a:gd name="adj" fmla="val 6452"/>
            </a:avLst>
          </a:prstGeom>
          <a:solidFill>
            <a:srgbClr val="FAF6F3"/>
          </a:solidFill>
        </p:spPr>
        <p:txBody>
          <a:bodyPr wrap="square" lIns="76200" tIns="76200" rIns="76200" bIns="76200" anchor="ctr"/>
          <a:lstStyle/>
          <a:p>
            <a:pPr marL="0" indent="0" algn="ctr">
              <a:buNone/>
            </a:pPr>
            <a:r>
              <a:rPr sz="1600">
                <a:solidFill>
                  <a:srgbClr val="1C2321"/>
                </a:solidFill>
                <a:latin typeface="Cambria"/>
                <a:ea typeface="Cambria"/>
                <a:cs typeface="Cambria"/>
              </a:rPr>
              <a:t>$17</a:t>
            </a:r>
            <a:endParaRPr sz="1600"/>
          </a:p>
        </p:txBody>
      </p:sp>
      <p:sp>
        <p:nvSpPr>
          <p:cNvPr id="11" name="Text 9">
            <a:extLst>
              <a:ext uri="{FF2B5EF4-FFF2-40B4-BE49-F238E27FC236}">
                <a16:creationId xmlns:a16="http://schemas.microsoft.com/office/drawing/2014/main" id="{9EACAD4A-7873-4E39-A572-B8339489A828}"/>
              </a:ext>
            </a:extLst>
          </p:cNvPr>
          <p:cNvSpPr>
            <a:spLocks noGrp="1"/>
          </p:cNvSpPr>
          <p:nvPr/>
        </p:nvSpPr>
        <p:spPr>
          <a:xfrm>
            <a:off x="1981505" y="3273552"/>
            <a:ext cx="4023360" cy="566928"/>
          </a:xfrm>
          <a:prstGeom prst="roundRect">
            <a:avLst>
              <a:gd name="adj" fmla="val 6452"/>
            </a:avLst>
          </a:prstGeom>
          <a:solidFill>
            <a:srgbClr val="FAF6F3"/>
          </a:solidFill>
        </p:spPr>
        <p:txBody>
          <a:bodyPr wrap="square" lIns="76200" tIns="76200" rIns="76200" bIns="76200" anchor="ctr"/>
          <a:lstStyle/>
          <a:p>
            <a:pPr marL="0" indent="0" algn="l">
              <a:buNone/>
            </a:pPr>
            <a:r>
              <a:rPr sz="1600">
                <a:solidFill>
                  <a:srgbClr val="1C2321"/>
                </a:solidFill>
                <a:latin typeface="Cambria"/>
                <a:ea typeface="Cambria"/>
                <a:cs typeface="Cambria"/>
              </a:rPr>
              <a:t>Alyssa</a:t>
            </a:r>
            <a:endParaRPr sz="1600"/>
          </a:p>
        </p:txBody>
      </p:sp>
      <p:sp>
        <p:nvSpPr>
          <p:cNvPr id="12" name="Text 10">
            <a:extLst>
              <a:ext uri="{FF2B5EF4-FFF2-40B4-BE49-F238E27FC236}">
                <a16:creationId xmlns:a16="http://schemas.microsoft.com/office/drawing/2014/main" id="{F1372AFE-C688-4413-A948-8378047126FC}"/>
              </a:ext>
            </a:extLst>
          </p:cNvPr>
          <p:cNvSpPr>
            <a:spLocks noGrp="1"/>
          </p:cNvSpPr>
          <p:nvPr/>
        </p:nvSpPr>
        <p:spPr>
          <a:xfrm>
            <a:off x="6032297" y="3273552"/>
            <a:ext cx="4178808" cy="566928"/>
          </a:xfrm>
          <a:prstGeom prst="roundRect">
            <a:avLst>
              <a:gd name="adj" fmla="val 6452"/>
            </a:avLst>
          </a:prstGeom>
          <a:solidFill>
            <a:srgbClr val="FAF6F3"/>
          </a:solidFill>
        </p:spPr>
        <p:txBody>
          <a:bodyPr wrap="square" lIns="76200" tIns="76200" rIns="76200" bIns="76200" anchor="ctr"/>
          <a:lstStyle/>
          <a:p>
            <a:pPr marL="0" indent="0" algn="ctr">
              <a:buNone/>
            </a:pPr>
            <a:r>
              <a:rPr sz="1600">
                <a:solidFill>
                  <a:srgbClr val="1C2321"/>
                </a:solidFill>
                <a:latin typeface="Cambria"/>
                <a:ea typeface="Cambria"/>
                <a:cs typeface="Cambria"/>
              </a:rPr>
              <a:t>$15</a:t>
            </a:r>
            <a:endParaRPr sz="1600"/>
          </a:p>
        </p:txBody>
      </p:sp>
      <p:sp>
        <p:nvSpPr>
          <p:cNvPr id="13" name="Text 11">
            <a:extLst>
              <a:ext uri="{FF2B5EF4-FFF2-40B4-BE49-F238E27FC236}">
                <a16:creationId xmlns:a16="http://schemas.microsoft.com/office/drawing/2014/main" id="{F92CFD3A-2341-4DC2-A823-9FFA91414F9D}"/>
              </a:ext>
            </a:extLst>
          </p:cNvPr>
          <p:cNvSpPr>
            <a:spLocks noGrp="1"/>
          </p:cNvSpPr>
          <p:nvPr/>
        </p:nvSpPr>
        <p:spPr>
          <a:xfrm>
            <a:off x="1981505" y="3867912"/>
            <a:ext cx="4023360" cy="566928"/>
          </a:xfrm>
          <a:prstGeom prst="roundRect">
            <a:avLst>
              <a:gd name="adj" fmla="val 6452"/>
            </a:avLst>
          </a:prstGeom>
          <a:solidFill>
            <a:srgbClr val="FAF6F3"/>
          </a:solidFill>
        </p:spPr>
        <p:txBody>
          <a:bodyPr wrap="square" lIns="76200" tIns="76200" rIns="76200" bIns="76200" anchor="ctr"/>
          <a:lstStyle/>
          <a:p>
            <a:pPr marL="0" indent="0" algn="l">
              <a:buNone/>
            </a:pPr>
            <a:r>
              <a:rPr sz="1600">
                <a:solidFill>
                  <a:srgbClr val="1C2321"/>
                </a:solidFill>
                <a:latin typeface="Cambria"/>
                <a:ea typeface="Cambria"/>
                <a:cs typeface="Cambria"/>
              </a:rPr>
              <a:t>Hannah</a:t>
            </a:r>
            <a:endParaRPr sz="1600"/>
          </a:p>
        </p:txBody>
      </p:sp>
      <p:sp>
        <p:nvSpPr>
          <p:cNvPr id="14" name="Text 12">
            <a:extLst>
              <a:ext uri="{FF2B5EF4-FFF2-40B4-BE49-F238E27FC236}">
                <a16:creationId xmlns:a16="http://schemas.microsoft.com/office/drawing/2014/main" id="{5201650A-F2D8-4474-B4E3-84A4291E2272}"/>
              </a:ext>
            </a:extLst>
          </p:cNvPr>
          <p:cNvSpPr>
            <a:spLocks noGrp="1"/>
          </p:cNvSpPr>
          <p:nvPr/>
        </p:nvSpPr>
        <p:spPr>
          <a:xfrm>
            <a:off x="6032297" y="3867912"/>
            <a:ext cx="4178808" cy="566928"/>
          </a:xfrm>
          <a:prstGeom prst="roundRect">
            <a:avLst>
              <a:gd name="adj" fmla="val 6452"/>
            </a:avLst>
          </a:prstGeom>
          <a:solidFill>
            <a:srgbClr val="FAF6F3"/>
          </a:solidFill>
        </p:spPr>
        <p:txBody>
          <a:bodyPr wrap="square" lIns="76200" tIns="76200" rIns="76200" bIns="76200" anchor="ctr"/>
          <a:lstStyle/>
          <a:p>
            <a:pPr marL="0" indent="0" algn="ctr">
              <a:buNone/>
            </a:pPr>
            <a:r>
              <a:rPr sz="1600">
                <a:solidFill>
                  <a:srgbClr val="1C2321"/>
                </a:solidFill>
                <a:latin typeface="Cambria"/>
                <a:ea typeface="Cambria"/>
                <a:cs typeface="Cambria"/>
              </a:rPr>
              <a:t>$18</a:t>
            </a:r>
            <a:endParaRPr sz="1600"/>
          </a:p>
        </p:txBody>
      </p:sp>
      <p:sp>
        <p:nvSpPr>
          <p:cNvPr id="15" name="Text 13">
            <a:extLst>
              <a:ext uri="{FF2B5EF4-FFF2-40B4-BE49-F238E27FC236}">
                <a16:creationId xmlns:a16="http://schemas.microsoft.com/office/drawing/2014/main" id="{0045A8BC-E9B0-4B20-A6A6-A796C8373DA8}"/>
              </a:ext>
            </a:extLst>
          </p:cNvPr>
          <p:cNvSpPr>
            <a:spLocks noGrp="1"/>
          </p:cNvSpPr>
          <p:nvPr/>
        </p:nvSpPr>
        <p:spPr>
          <a:xfrm>
            <a:off x="1981505" y="4462272"/>
            <a:ext cx="4023360" cy="566928"/>
          </a:xfrm>
          <a:prstGeom prst="roundRect">
            <a:avLst>
              <a:gd name="adj" fmla="val 6452"/>
            </a:avLst>
          </a:prstGeom>
          <a:solidFill>
            <a:srgbClr val="FAF6F3"/>
          </a:solidFill>
        </p:spPr>
        <p:txBody>
          <a:bodyPr wrap="square" lIns="76200" tIns="76200" rIns="76200" bIns="76200" anchor="ctr"/>
          <a:lstStyle/>
          <a:p>
            <a:pPr marL="0" indent="0" algn="l">
              <a:buNone/>
            </a:pPr>
            <a:r>
              <a:rPr sz="1600">
                <a:solidFill>
                  <a:srgbClr val="1C2321"/>
                </a:solidFill>
                <a:latin typeface="Cambria"/>
                <a:ea typeface="Cambria"/>
                <a:cs typeface="Cambria"/>
              </a:rPr>
              <a:t>Brady</a:t>
            </a:r>
            <a:endParaRPr sz="1600"/>
          </a:p>
        </p:txBody>
      </p:sp>
      <p:sp>
        <p:nvSpPr>
          <p:cNvPr id="16" name="Text 14">
            <a:extLst>
              <a:ext uri="{FF2B5EF4-FFF2-40B4-BE49-F238E27FC236}">
                <a16:creationId xmlns:a16="http://schemas.microsoft.com/office/drawing/2014/main" id="{66885BD8-170D-4788-A565-30D2E15BABC4}"/>
              </a:ext>
            </a:extLst>
          </p:cNvPr>
          <p:cNvSpPr>
            <a:spLocks noGrp="1"/>
          </p:cNvSpPr>
          <p:nvPr/>
        </p:nvSpPr>
        <p:spPr>
          <a:xfrm>
            <a:off x="6032297" y="4462272"/>
            <a:ext cx="4178808" cy="566928"/>
          </a:xfrm>
          <a:prstGeom prst="roundRect">
            <a:avLst>
              <a:gd name="adj" fmla="val 6452"/>
            </a:avLst>
          </a:prstGeom>
          <a:solidFill>
            <a:srgbClr val="FAF6F3"/>
          </a:solidFill>
        </p:spPr>
        <p:txBody>
          <a:bodyPr wrap="square" lIns="76200" tIns="76200" rIns="76200" bIns="76200" anchor="ctr"/>
          <a:lstStyle/>
          <a:p>
            <a:pPr marL="0" indent="0" algn="ctr">
              <a:buNone/>
            </a:pPr>
            <a:r>
              <a:rPr sz="1600">
                <a:solidFill>
                  <a:srgbClr val="1C2321"/>
                </a:solidFill>
                <a:latin typeface="Cambria"/>
                <a:ea typeface="Cambria"/>
                <a:cs typeface="Cambria"/>
              </a:rPr>
              <a:t>$12</a:t>
            </a:r>
            <a:endParaRPr sz="1600"/>
          </a:p>
        </p:txBody>
      </p:sp>
      <p:sp>
        <p:nvSpPr>
          <p:cNvPr id="17" name="Text 15">
            <a:extLst>
              <a:ext uri="{FF2B5EF4-FFF2-40B4-BE49-F238E27FC236}">
                <a16:creationId xmlns:a16="http://schemas.microsoft.com/office/drawing/2014/main" id="{A03555E9-C850-400A-B4AD-58BA8F228C9E}"/>
              </a:ext>
            </a:extLst>
          </p:cNvPr>
          <p:cNvSpPr>
            <a:spLocks noGrp="1"/>
          </p:cNvSpPr>
          <p:nvPr/>
        </p:nvSpPr>
        <p:spPr>
          <a:xfrm>
            <a:off x="1981505" y="5056632"/>
            <a:ext cx="4023360" cy="566928"/>
          </a:xfrm>
          <a:prstGeom prst="roundRect">
            <a:avLst>
              <a:gd name="adj" fmla="val 6452"/>
            </a:avLst>
          </a:prstGeom>
          <a:solidFill>
            <a:srgbClr val="FAF6F3"/>
          </a:solidFill>
        </p:spPr>
        <p:txBody>
          <a:bodyPr wrap="square" lIns="76200" tIns="76200" rIns="76200" bIns="76200" anchor="ctr"/>
          <a:lstStyle/>
          <a:p>
            <a:pPr marL="0" indent="0" algn="l">
              <a:buNone/>
            </a:pPr>
            <a:r>
              <a:rPr sz="1600">
                <a:solidFill>
                  <a:srgbClr val="1C2321"/>
                </a:solidFill>
                <a:latin typeface="Cambria"/>
                <a:ea typeface="Cambria"/>
                <a:cs typeface="Cambria"/>
              </a:rPr>
              <a:t>Amanda</a:t>
            </a:r>
            <a:endParaRPr sz="1600"/>
          </a:p>
        </p:txBody>
      </p:sp>
      <p:sp>
        <p:nvSpPr>
          <p:cNvPr id="18" name="Text 16">
            <a:extLst>
              <a:ext uri="{FF2B5EF4-FFF2-40B4-BE49-F238E27FC236}">
                <a16:creationId xmlns:a16="http://schemas.microsoft.com/office/drawing/2014/main" id="{28C1EEFB-DEB4-4131-9421-7032754165EF}"/>
              </a:ext>
            </a:extLst>
          </p:cNvPr>
          <p:cNvSpPr>
            <a:spLocks noGrp="1"/>
          </p:cNvSpPr>
          <p:nvPr/>
        </p:nvSpPr>
        <p:spPr>
          <a:xfrm>
            <a:off x="6032297" y="5056632"/>
            <a:ext cx="4178808" cy="566928"/>
          </a:xfrm>
          <a:prstGeom prst="roundRect">
            <a:avLst>
              <a:gd name="adj" fmla="val 6452"/>
            </a:avLst>
          </a:prstGeom>
          <a:solidFill>
            <a:srgbClr val="FAF6F3"/>
          </a:solidFill>
        </p:spPr>
        <p:txBody>
          <a:bodyPr wrap="square" lIns="76200" tIns="76200" rIns="76200" bIns="76200" anchor="ctr"/>
          <a:lstStyle/>
          <a:p>
            <a:pPr marL="0" indent="0" algn="ctr">
              <a:buNone/>
            </a:pPr>
            <a:r>
              <a:rPr sz="1600">
                <a:solidFill>
                  <a:srgbClr val="1C2321"/>
                </a:solidFill>
                <a:latin typeface="Cambria"/>
                <a:ea typeface="Cambria"/>
                <a:cs typeface="Cambria"/>
              </a:rPr>
              <a:t>$21</a:t>
            </a:r>
            <a:endParaRPr sz="1600"/>
          </a:p>
        </p:txBody>
      </p:sp>
      <p:sp>
        <p:nvSpPr>
          <p:cNvPr id="19" name="Market price = $15 per case">
            <a:extLst>
              <a:ext uri="{FF2B5EF4-FFF2-40B4-BE49-F238E27FC236}">
                <a16:creationId xmlns:a16="http://schemas.microsoft.com/office/drawing/2014/main" id="{2C42D855-C1C3-4219-958C-F71DF2B432CF}"/>
              </a:ext>
            </a:extLst>
          </p:cNvPr>
          <p:cNvSpPr>
            <a:spLocks noGrp="1"/>
          </p:cNvSpPr>
          <p:nvPr/>
        </p:nvSpPr>
        <p:spPr>
          <a:xfrm>
            <a:off x="552450" y="5753100"/>
            <a:ext cx="11087100" cy="361950"/>
          </a:xfrm>
          <a:prstGeom prst="rect">
            <a:avLst/>
          </a:prstGeom>
          <a:noFill/>
          <a:ln w="0">
            <a:noFill/>
          </a:ln>
        </p:spPr>
        <p:txBody>
          <a:bodyPr wrap="none" lIns="0" tIns="0" rIns="0" bIns="0">
            <a:noAutofit/>
          </a:bodyPr>
          <a:lstStyle/>
          <a:p>
            <a:pPr algn="ctr">
              <a:buNone/>
              <a:defRPr sz="2100" b="1">
                <a:solidFill>
                  <a:srgbClr val="3E7C79"/>
                </a:solidFill>
                <a:latin typeface="Cambria"/>
                <a:ea typeface="Cambria"/>
                <a:cs typeface="Cambria"/>
              </a:defRPr>
            </a:pPr>
            <a:r>
              <a:rPr sz="2100" b="1">
                <a:solidFill>
                  <a:srgbClr val="3E7C79"/>
                </a:solidFill>
                <a:latin typeface="Cambria"/>
                <a:ea typeface="Cambria"/>
                <a:cs typeface="Cambria"/>
              </a:rPr>
              <a:t>Market price = $15 per case</a:t>
            </a:r>
          </a:p>
        </p:txBody>
      </p:sp>
    </p:spTree>
    <p:extLst>
      <p:ext uri="{BB962C8B-B14F-4D97-AF65-F5344CB8AC3E}">
        <p14:creationId xmlns:p14="http://schemas.microsoft.com/office/powerpoint/2010/main" val="631560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8</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E0D3721F-0013-479E-A101-1F969A0F1172}"/>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7AC99667-3303-42EF-A72F-0EC14FC485C5}"/>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A961E295-E9FB-42DE-A701-8109F2C6376F}"/>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8ED7717C-B1AF-4355-898B-86CB2E2995D7}"/>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918A5C7A-3F94-445E-9534-0D4886BFE7EE}"/>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108E480E-E5A1-4301-88FF-F6D997F0524C}"/>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6D734BB7-839F-4B5E-ADEE-D656134148FA}"/>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CE1666D3-7A1B-44CB-BCA4-942AFDBAA093}"/>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9BB6BA51-EDD9-4CC3-8BE4-D603771F8058}"/>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D6F0D900-03BC-4E12-B6B9-BBD9AC281D86}"/>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1507DDF5-69D7-4034-99CF-8E9DC40C537D}"/>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24360575-9910-4267-BE08-99B4781F91C4}"/>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239B7DF6-B360-41F6-AEDB-089BE88769B1}"/>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F1A643A9-AADE-439A-B86F-81FA27DC873E}"/>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93837887-012C-4561-AC4E-83CD159BA703}"/>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0EF82E82-78AC-4A22-BF92-6F57DBB02300}"/>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F43FB4BC-C5A3-4C2E-B379-8279D89BFECE}"/>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A94AA188-9A1A-43A5-9D02-D9DCBA230A95}"/>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102893AE-2CBB-4ECC-AAC6-28CDCEF7F566}"/>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9E0ED6DF-90B4-42E3-B86D-207CF82016F4}"/>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05D18632-3952-4BFC-A716-433ED788233C}"/>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B598FC34-D28D-457A-8111-2A4158B7C139}"/>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3C505F35-C755-4BF6-B7B7-854D5E30080A}"/>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C84336DC-DF3E-4C60-853A-7120ACA84622}"/>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8146AD17-013B-4D01-9A39-1273127C3F7B}"/>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F32F6FD8-8CFF-4BDA-9F25-DE367432E4DF}"/>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77E83558-E15B-4CED-9569-2C702FC983D8}"/>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6229371B-D512-4A78-A862-9DEE973F35AA}"/>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8765A197-001D-4184-9D09-10898A24052E}"/>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DCBAF3D4-630F-4713-8DD9-8DA5C6B5F89C}"/>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0E1A7F14-32CB-4FF7-9081-38B58CCA64B0}"/>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5EA354AB-015A-44CA-8B6D-7E4F757275D7}"/>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Each consumer considers one case. Who bu">
            <a:extLst>
              <a:ext uri="{FF2B5EF4-FFF2-40B4-BE49-F238E27FC236}">
                <a16:creationId xmlns:a16="http://schemas.microsoft.com/office/drawing/2014/main" id="{524B63FB-A314-45CE-9D68-C098D96C2AC7}"/>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Each consumer considers one case. Who buys at $15?</a:t>
            </a:r>
          </a:p>
        </p:txBody>
      </p:sp>
    </p:spTree>
    <p:extLst>
      <p:ext uri="{BB962C8B-B14F-4D97-AF65-F5344CB8AC3E}">
        <p14:creationId xmlns:p14="http://schemas.microsoft.com/office/powerpoint/2010/main" val="32232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9</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D5F4E8F0-DE7A-43FA-ADA5-E74FF8B03998}"/>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39874FFF-6DF4-435C-A7B4-305C0FC8A2CE}"/>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329A3918-F897-4080-8A4D-CAD9383AA99F}"/>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8F4850EF-3F7F-46D5-B09F-11B22538C258}"/>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B8AE2773-35CF-4A97-B9CB-1F4A8F2444FC}"/>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82544421-A8A8-4C48-A686-AD80C0C00382}"/>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2B03D74A-4F5B-4EF4-A600-B403E39C691D}"/>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CD597635-A632-4F0C-BE3D-B0BBD4381499}"/>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FBEBDD93-5CAE-4194-AEF5-E46BEDCC3BBC}"/>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A5DDE02B-D332-472B-BF52-AB477E0C1D32}"/>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E972AC9F-18B9-4A31-B498-1E4987DEA921}"/>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C3A92331-4CA4-4791-B0F1-2A1E963D85F5}"/>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CDB81897-4DAE-4994-A1C4-F0CA7BC10515}"/>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24422609-376B-42F2-B635-DD3478CA63A2}"/>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F7AE81BE-F97F-446B-AFE6-B17FF2CE1424}"/>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F516C868-4503-424D-A7B9-0F7308626862}"/>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F1C28136-1C4E-4954-AC59-154F01FB909C}"/>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642F5311-073A-4912-AB86-75BDAB2149E8}"/>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2EDFB0E6-FFBD-4F91-B2EB-0CF6B6A988CB}"/>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3522FAE6-05D7-48ED-A6BA-DB9F80DC95B1}"/>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E09520DD-9764-4657-9C85-422D4DA46BC3}"/>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90174CDC-8CD9-47E7-9892-75CBC839FB90}"/>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D57D7765-BCE2-437A-BE16-1F5A4A19417B}"/>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8E626D66-3A5E-4CD9-8F81-BECFF3B05280}"/>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EF28F50D-7340-4D39-B9B7-F4CA353958C7}"/>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123448F1-A44D-4472-BE0C-929959758A02}"/>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0785F652-66C4-4C0E-813F-690CE46DDD8E}"/>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1ADAEA62-F53D-4D2A-B9B6-D7EAF42DB210}"/>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F0254B2F-36D4-40D4-B187-53FF8590D724}"/>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2D928AE0-696D-4DB4-9AD1-499AD04A98A3}"/>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E2E5BA5F-073D-4DCC-BFF8-2EC35903F4B2}"/>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44DCF0E8-9729-4DB6-9A4A-B60BC41EE8CA}"/>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69F947F8-5B1F-4E7B-B067-FB7D1FA4C17B}"/>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8C0B59F4-DA4E-4DD4-8ADF-F342A8EF9309}"/>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6D67323D-6180-4BD8-B1A7-57353569BFF7}"/>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Amanda is willing to pay up to $21 for o">
            <a:extLst>
              <a:ext uri="{FF2B5EF4-FFF2-40B4-BE49-F238E27FC236}">
                <a16:creationId xmlns:a16="http://schemas.microsoft.com/office/drawing/2014/main" id="{F62F99B6-781E-49CD-8D96-ABAA57C1C5C7}"/>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Amanda is willing to pay up to $21 for one case.</a:t>
            </a:r>
          </a:p>
        </p:txBody>
      </p:sp>
    </p:spTree>
    <p:extLst>
      <p:ext uri="{BB962C8B-B14F-4D97-AF65-F5344CB8AC3E}">
        <p14:creationId xmlns:p14="http://schemas.microsoft.com/office/powerpoint/2010/main" val="32232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10</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DF190F50-DCB3-4EAA-BF9F-6EF1C647DFAE}"/>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76639064-035E-4FC8-AD02-ACC020E40D29}"/>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576E8A08-D46B-43F5-B556-AAD6E85B601F}"/>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81E70443-5551-41F8-ACBF-149CC5F82E86}"/>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49E5B6F8-6D4C-4025-A19B-DB41F15E5B9A}"/>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7EC139C6-8038-4D63-9C58-36AFAEF09F0D}"/>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53CA8178-D18D-432B-B7FE-DEDFA3D4AEE9}"/>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86A26747-305C-4791-B7B7-7476333FADEE}"/>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7A8369AD-0961-4B7B-94F5-6B613C096A5A}"/>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C81F146A-F423-4E13-9ADE-BCAF77B5F2D8}"/>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62083679-346A-4AB6-BF57-EA35B003AAC2}"/>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2E79055A-977C-458A-AB45-56BB4DD8BA5C}"/>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861B13FD-CD1A-4221-AB3D-57053D91B06B}"/>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F0EDC0CD-27CE-496A-A460-BE980FA1B9C8}"/>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7E6AB731-8DA4-4C1E-B038-D544573DF4CF}"/>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6E62173B-9649-42DE-8FC2-A7A0F8E204F1}"/>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B27FDEDF-393A-48E1-AE53-82D0C866096F}"/>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9CDC7CE8-C9F1-4B8F-A8BB-1E36B596B4C0}"/>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C8791BC3-9004-47A0-AB02-67AD47654251}"/>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E0E2681A-9A36-4A25-93F9-E6FB6184E5D3}"/>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8B2DCDF8-1ABA-4C9C-BF0B-F29BF6C0AB4E}"/>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48A6BC01-FFE7-4E55-8F58-F07565559063}"/>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924C95E4-6532-4086-940C-13C02ECDAB97}"/>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E3C21929-D721-4F96-84E5-61DB2B002A17}"/>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5A0BDD19-61B6-43AC-B448-E42421586318}"/>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724718CE-7B8A-46DF-9496-E23B086B30FC}"/>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89F6A843-8774-4F19-B159-C06E9056AF89}"/>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34CF5068-7070-454D-8B22-FC7B44AAD4AC}"/>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96B616D8-E2E6-4566-835F-5BDFDF7E1F70}"/>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A836B03D-F71F-4F38-8B28-6399439AF2AA}"/>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ED16E84A-7F04-4963-B4D6-82AE17DE3B45}"/>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BF3C45CA-D6F7-4D65-829B-62E2FCE3BD7F}"/>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D1737ADB-E080-48F0-95AD-E795D7F48CB6}"/>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0A21A9D3-9BAF-4807-A072-27AD35B536DF}"/>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CC926C1D-2669-4E32-843F-84462E555EBD}"/>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D3C394E7-AC35-47E8-8DC4-FEE65146E6A1}"/>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DCC4E6CB-2323-46BA-A8F6-C93F665D344B}"/>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A5047198-1DA8-4B3A-98F5-FE2015138AE4}"/>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0E2F8A83-8540-4200-99C5-D26B805FABA3}"/>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D28615CC-D06C-46F9-9309-115A77EB4943}"/>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D901D723-6404-4451-80F6-C5486BCD47A9}"/>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AF6141A3-3EB7-4539-9091-F1F21A7645A1}"/>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Amanda gains $6 from buying at $15.">
            <a:extLst>
              <a:ext uri="{FF2B5EF4-FFF2-40B4-BE49-F238E27FC236}">
                <a16:creationId xmlns:a16="http://schemas.microsoft.com/office/drawing/2014/main" id="{DDC585A6-C604-42D7-A1D4-CB655025DA12}"/>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Amanda gains $6 from buying at $15.</a:t>
            </a:r>
          </a:p>
        </p:txBody>
      </p:sp>
    </p:spTree>
    <p:extLst>
      <p:ext uri="{BB962C8B-B14F-4D97-AF65-F5344CB8AC3E}">
        <p14:creationId xmlns:p14="http://schemas.microsoft.com/office/powerpoint/2010/main" val="32232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11</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8DC8AC34-7A4C-487D-AFBD-E4FB36C00A79}"/>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E9063DF1-8E0A-449E-AAAD-45CFFCB0E12B}"/>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8C7B311B-2A00-4214-9EE0-DBFC4A56A0C8}"/>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D3D5DC25-ED70-4408-A5E4-C3B1C2062193}"/>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15D01EE2-F452-4483-8F1A-86CF9D85C92A}"/>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CC5EE381-0F6F-498B-BD7E-FDADE96C1DB2}"/>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23250035-04C7-4F25-81EA-877D86C856D1}"/>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8D297FF0-321E-42E3-866F-C616F6078D0C}"/>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2382D809-3A5B-4211-8919-2BDD84350512}"/>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BBB379E5-6B26-4043-952E-23BF70DCDF46}"/>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31CE520B-8E2F-4750-963F-9666AFDD0F21}"/>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60188EE9-1A8E-426F-B7D4-AD70FC425C8C}"/>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096D1CF8-D832-4035-8B9E-8794CE073EA0}"/>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07C8ED3E-908F-4D6E-81A6-A165B40A44D0}"/>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8F83214A-BEEC-4F90-A43A-4306A1F39781}"/>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C3EF697A-7309-4B0F-A90E-5A9E66D7530A}"/>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41CAD1F3-38DE-4023-8B3A-C2875A90EF16}"/>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693D9BC9-1378-4CBA-B6C1-6C7C98EFC805}"/>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78A05922-5314-4A56-BEF8-6120BD3CBD36}"/>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3C5B6BD6-9C28-4963-978D-1566AFC20513}"/>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1254F71A-6A9C-4D25-9E1D-1D18615B7008}"/>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57E6B16D-BA8B-443B-87AC-B9B5AEE41083}"/>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A59B68CE-611A-4CC5-B3A3-7379C4D791EB}"/>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D804BE60-2A3F-49B3-8CE9-7C08AA8D5301}"/>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3BB6A605-D6C2-451F-B245-3E9B42C3D5A1}"/>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9D5180BB-045C-43EA-B24E-34139DEB02DC}"/>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A211B10B-728A-4E48-B62A-6504B52864E3}"/>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E73F1160-0B50-425A-A2B7-E9FC007D76E1}"/>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47881910-14C4-48CD-A374-7706B7A7D3EF}"/>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1A726305-6252-4A50-89F3-EB366E6A3FF0}"/>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A7364326-F723-4303-B985-35FD6E7C7EB2}"/>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84CB238D-8AFD-4801-955E-1AC45CE55AD0}"/>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31FA06D6-E46F-49A3-9A7C-11F42B910FD3}"/>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4D41D529-61B2-4E5A-B3E9-8181D2D80ACF}"/>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1BE7EEC7-E99C-4B30-B59F-477885D2945D}"/>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717F1488-FD09-4C9C-80C7-4481273B71C2}"/>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29E4AE9D-25BD-416F-B4AA-899785DEF4F8}"/>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832FC06C-0900-4358-97F8-95A32433A1CC}"/>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A46D0ED4-157D-4AD8-AEEB-D0165768FA89}"/>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524438AA-1C16-4A00-8D1B-94C984E42007}"/>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9628C2D4-FAEE-45C5-BBBD-BB4969738440}"/>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1D99B5F6-45C2-4C0F-ACB3-49B00EAC8487}"/>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73EFF58A-8059-4607-BE66-4AAAFEDAAD78}"/>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421A301E-0DD4-47F5-8770-BBEFE273621B}"/>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76E64E16-7142-43C1-AA85-337435699F51}"/>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8F7ABCF6-9567-4722-A9F8-46EA27B5813B}"/>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Hannah is willing to pay up to $18 for o">
            <a:extLst>
              <a:ext uri="{FF2B5EF4-FFF2-40B4-BE49-F238E27FC236}">
                <a16:creationId xmlns:a16="http://schemas.microsoft.com/office/drawing/2014/main" id="{46016DE6-D95C-4CC2-A7C0-64E63C5B2373}"/>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Hannah is willing to pay up to $18 for one case.</a:t>
            </a:r>
          </a:p>
        </p:txBody>
      </p:sp>
    </p:spTree>
    <p:extLst>
      <p:ext uri="{BB962C8B-B14F-4D97-AF65-F5344CB8AC3E}">
        <p14:creationId xmlns:p14="http://schemas.microsoft.com/office/powerpoint/2010/main" val="322328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12</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3243B720-7024-4354-A18A-1C3E98548486}"/>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D57C0079-02CA-40CE-A30B-30DA3E75D8C1}"/>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42A59330-3808-42C5-869D-E45410C405D9}"/>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158A7FD1-79BB-4268-93DC-54E07E8970A9}"/>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3734FF1C-F04B-41F9-BD90-943CA67A0155}"/>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3C4079C0-9B56-4A31-B1BC-622D0A390A4B}"/>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98A301CF-B072-41AB-A295-2500724B930A}"/>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BDABDDBC-8858-406D-9B83-C259961ECA50}"/>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FE2D112D-10C1-4B5E-BD28-520D84B0CF9F}"/>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A954923A-41CC-4554-B9B2-74D640693610}"/>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8226593C-F327-4F4A-A9BF-AB94C56AD537}"/>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0DE357BB-26F7-4365-96AF-5AA17615DD9E}"/>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62BE36D3-C771-4655-B51F-2C4B72B0DB1E}"/>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D6B8ED24-7D52-4238-B493-681D64ADBADF}"/>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0A3CE96A-5615-4413-8F3C-4B2E9C562A03}"/>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5877E4A8-A441-4846-87F8-32B71F44E57F}"/>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2DA58F2A-000E-4A02-B86C-B1E96174ADAA}"/>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2B966DEF-02E1-4B89-8164-532CCFCC00B7}"/>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0311039B-E0D7-4AA6-9B3E-446AD7FAF4C4}"/>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6F7CB94F-270E-4530-9ED3-CDA89B36B63C}"/>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AA0B10E1-8484-4943-B8B2-613BC2C90023}"/>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CD700012-83E9-4D2A-A0ED-926B9AB84375}"/>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24413F29-477A-4ACF-B072-9695ACB419F6}"/>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5725AEED-57CF-4412-B724-2CD463AE1C11}"/>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CDEAA9B6-C95F-4C99-8099-EBE4B8809105}"/>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D7FCA153-2DE6-432E-AEA3-469CB9F0DF5B}"/>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B2982D35-8ECB-482E-B7CB-BAC26A094AD5}"/>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19857FF2-6632-4453-AF68-929F819F8623}"/>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72E8CC7E-6428-4DC9-ADD5-8BE8C478CD93}"/>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B97BA055-D711-4C1A-90C1-7DCDBA276404}"/>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351307F6-0170-48AA-82C1-68FA96DDD4D6}"/>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C0B494B1-686A-46C4-9BE5-F538C72237B7}"/>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013C7FDB-B13E-49EE-9C18-4A3C79A88F4F}"/>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186C5215-0888-4032-93EE-E36069A8A206}"/>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B06C150C-F73B-44BB-A198-0DDD5FA9D44C}"/>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853416FF-9A68-4B52-B7DD-242D418FC1AD}"/>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62D5A9C3-0D11-4777-88F6-79619A392EE4}"/>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AC5A6E33-F387-4E51-A01F-0FB0109672A0}"/>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8051F401-2852-4717-AF1B-71328A0DA8B6}"/>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56FB700E-A700-46B5-AF18-40B84F2A3F30}"/>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9F673B7D-D606-48AF-8729-17ADD248F3A7}"/>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D9E90EBA-A502-4FEB-9618-C3431210D4FF}"/>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ED1F2D0C-F423-44F6-B898-E33E28297E84}"/>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500B1D8D-B45C-45FE-AAAE-93D19DD99F53}"/>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0D0A77E6-9CCE-4F11-9CFD-8FD602BF73E6}"/>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54BE42E5-8696-46D4-930E-C5E0E7BAA6A8}"/>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AE444861-84CF-4680-8E48-98E71D9BD94F}"/>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5763777F-75C2-489A-90F9-7D37661E14C1}"/>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8FAC454C-79A1-4995-A561-2FBD1C761982}"/>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949E6788-7630-4D8A-9FFC-1092785B1A87}"/>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6E28D37A-3BE5-4A7D-AEEE-945A717C6B18}"/>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1FFEC118-3489-4B78-98B2-636603B3D5E8}"/>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BDFE5597-1556-4CBC-B8AB-5A856E41A080}"/>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Hannah gains $3 from buying at $15.">
            <a:extLst>
              <a:ext uri="{FF2B5EF4-FFF2-40B4-BE49-F238E27FC236}">
                <a16:creationId xmlns:a16="http://schemas.microsoft.com/office/drawing/2014/main" id="{C904F47A-B03D-4E9E-BCD7-236E29891807}"/>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Hannah gains $3 from buying at $15.</a:t>
            </a:r>
          </a:p>
        </p:txBody>
      </p:sp>
    </p:spTree>
    <p:extLst>
      <p:ext uri="{BB962C8B-B14F-4D97-AF65-F5344CB8AC3E}">
        <p14:creationId xmlns:p14="http://schemas.microsoft.com/office/powerpoint/2010/main" val="322328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13</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977A3A7D-6B6E-4F17-B68D-69C2895339EA}"/>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94975DFE-6969-4933-8B6E-ABB479370386}"/>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63F97F77-8149-4BDF-865B-22B51CE47BB5}"/>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B77CE6A2-4D77-45B2-B096-B0C6A8D5D7DE}"/>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A7F14CC3-2BB7-4215-A4BB-EE8B79B99A54}"/>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FAE02889-23E7-4AD7-8FE1-0F81A85D2E5E}"/>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B139204D-8167-4AB7-BE2F-0A75E99D0302}"/>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308B0C11-67FF-4DB5-922D-7780F8AAC5FB}"/>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D12AC1FA-CD92-427A-A98B-E04F9D3E418E}"/>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C67534F4-081E-49C9-ABB1-64EC4DB2B18A}"/>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C384E780-A60C-474C-BE8D-BA8A8F0857E0}"/>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D782F774-CD5E-4C67-8481-B9B8584FF8B5}"/>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BF67603B-B8AB-41FF-BF6D-28A4CE6E4398}"/>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E7E6FD7D-4462-4420-8533-66DE8AB52C40}"/>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BF636BB5-67B8-4E59-96B0-CAB9E1A9F336}"/>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B34BB13F-B4E0-46D1-99DD-112039C29F8F}"/>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24E0D3D4-CA90-480C-9E90-6B499F5A8834}"/>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16DCA40C-2302-43C6-BFBD-B1454F683F07}"/>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2CF30FFF-4F39-4EA4-8DDD-08B31F170339}"/>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1138B01E-DCBF-46E4-A1D2-A7603B75CD08}"/>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C200094E-7078-4F36-8655-2957C161BF62}"/>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E95A0C94-7213-4E3F-BCBA-B1AEB5FC5489}"/>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7AA94B16-98E4-4748-9A65-6A038DC7517F}"/>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E17F7258-6954-4CB0-8D78-33D6E976E755}"/>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36CEF4F0-C9B2-457D-81C7-4431D9DCDB11}"/>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2A829CE9-9EA4-4A24-9453-DE77949F40F9}"/>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A6B6B30A-51B7-4705-80D9-64DE0E710C57}"/>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5648CA9A-FFEC-4B3F-89A4-D029155A20D6}"/>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01E847C9-C9C1-4B11-AF3B-48B80CA69DCB}"/>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568C0AFA-0E98-467D-927D-384BEE1BB22E}"/>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467BF056-9873-421D-9138-7A9EA11B9010}"/>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99A75DB6-6AD6-449F-8B9A-BF8F7C35BD02}"/>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11177C42-7EC7-44D5-AFCC-AA2A8F8D95E6}"/>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A90A913A-B3B4-4042-80D6-C4C390ED83B2}"/>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AB68A797-5C99-4D60-AF2A-F6F046B4839D}"/>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51530E57-2EEA-45F8-A02F-962E24B24859}"/>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15840A26-3DF6-4EE6-AFB8-2411C63D3303}"/>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215A7263-B491-4EC3-AB0D-C1775DF17D03}"/>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E5C3AF60-9FF1-4689-8D95-A04B5FDB6C03}"/>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5B999367-915B-40FC-B485-BFC07503B393}"/>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C4632472-E63F-46CE-B2AC-311DB547F122}"/>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DBC88B1C-E58D-4E12-A406-65962142FF7F}"/>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CBC5CA83-18BC-4CDC-B524-76768254200A}"/>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E271E9E2-5055-4697-8205-48502815BCDA}"/>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A47CA314-87B7-47C7-A394-1631B9F3B079}"/>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058B7A99-CF71-4B39-B7F9-E6913030F2A0}"/>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0C5274BA-4327-4FEB-95E8-94C523616A17}"/>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D33C278A-2A3B-47E1-B28F-9FD98723D2EC}"/>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8917F5F5-74A3-4CB7-9772-09EA46658DA7}"/>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EC8EC7B5-11AD-4275-A71C-0054055AB593}"/>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592DB35B-29A4-4428-B9F9-E1683F085AC1}"/>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83699B08-AEAC-4FA7-86A5-A645FFD1AA4E}"/>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C2C7A114-06F8-4944-9891-DE88A720A8FE}"/>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B1C61785-44E6-4B47-85A4-1598CA10E51A}"/>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A727D050-A6E0-417B-82FA-52527EECA21D}"/>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D4280C47-EB2A-469E-B2B6-9202E2D68CDC}"/>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4A73BF11-9C9C-4C1B-8103-3B057D3EC3FF}"/>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Ben is willing to pay up to $17 for one ">
            <a:extLst>
              <a:ext uri="{FF2B5EF4-FFF2-40B4-BE49-F238E27FC236}">
                <a16:creationId xmlns:a16="http://schemas.microsoft.com/office/drawing/2014/main" id="{CEFF2BD0-BE42-439B-B900-845E6E54AE5D}"/>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Ben is willing to pay up to $17 for one case.</a:t>
            </a:r>
          </a:p>
        </p:txBody>
      </p:sp>
    </p:spTree>
    <p:extLst>
      <p:ext uri="{BB962C8B-B14F-4D97-AF65-F5344CB8AC3E}">
        <p14:creationId xmlns:p14="http://schemas.microsoft.com/office/powerpoint/2010/main" val="32232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14</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E712F4BE-39EC-45E4-81F7-7FAA9C258C6F}"/>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DFB88032-746F-477B-AB10-30C21B409958}"/>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7F9DE8BE-5A7A-4E15-864A-397F1EBBA29F}"/>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8B07366B-CEAD-4337-8D6A-DA1222F0E061}"/>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42193733-5143-40CA-941B-13ACD0D299E1}"/>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1A856CD8-6C3F-4110-A483-FCE9FBE4D89B}"/>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08232A96-2008-44DE-A8FB-211E647A1CE9}"/>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1AE88371-6072-42FA-B393-77D5698B2EF5}"/>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EF8218EC-054D-45FD-BE88-7B2F3432D1B2}"/>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E2B33D5B-8032-4C96-A26A-AB18291683FC}"/>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51CF50B8-79AA-4B9C-B5B7-F842016F2C59}"/>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5AAE5C2C-CCEF-49FD-B568-ACDC5281F44F}"/>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10F0086E-0449-4E4D-A9B8-736A1EA9DF3D}"/>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7A95C8E4-1591-4A9E-A1EB-8FAF31C7BB0E}"/>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F7FD29D6-221B-44A2-A6AA-0535E15F0915}"/>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B2097340-2A21-4BA0-B31B-7B10D1EE9378}"/>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961E24FA-8A18-4BC3-A9C6-4099CFFE2727}"/>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09E17CF6-8951-4B69-8A4C-C3808E94DED1}"/>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2A0EB7BF-8EDA-44A9-BF67-1263537BB8BC}"/>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997AB4D9-59BD-42AE-8062-1C09C4A82826}"/>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7E906EE2-4048-4624-9FF9-8CDE88F0045A}"/>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120F8BAC-9340-4601-A59D-35B828F364BB}"/>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9AF0E8DF-88FC-46B7-A0B7-238A336C1E3A}"/>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42D913F1-DF25-4998-8119-84C871341906}"/>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312D30B5-005C-4133-92E5-6C2A3D422634}"/>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DD191327-965E-48CF-93DB-4D7F9EAF06D6}"/>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18773B6E-880B-435B-BC3B-8E453D671CC8}"/>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E5E5F2C2-9060-4AE7-8CF4-B1DE32B53423}"/>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ABB1F995-D3EF-4B58-8FBD-CAF1FE21EC04}"/>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8DD7C08E-FE5C-4391-A121-A752395AC481}"/>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2653C472-C791-4507-A242-72778D74D0CD}"/>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4183296E-C09C-44AC-B7C7-B7E0C3B014AF}"/>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9815DBFB-833A-460A-AECF-F4883B9F8CE6}"/>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63B75E52-5955-4FA6-8BBF-7FFEF6FB1868}"/>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68471533-45F6-497E-A21D-30B847C7F8F3}"/>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F75A358F-5405-4A56-842F-1FC50B194647}"/>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486E277C-84B9-42D4-9F91-2024CE28EE47}"/>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0E7B74E9-E1CC-4F96-A15E-88FAAE31D6B2}"/>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23BD6761-50DA-4CA1-83F7-E420D0E43BFF}"/>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8B5032D9-AFEB-4286-AA46-0C72BF85E354}"/>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5E8889F6-4B0B-47FB-839D-5CB28A592123}"/>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F134C06C-4E56-4478-85DB-F50E11882293}"/>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5C618AD1-361F-4037-8142-3D19B2095E33}"/>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0113048A-B01D-4552-86C2-9BCF5D3C6F27}"/>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1055D029-8DC6-4DD8-8B3A-6D6E7FEF6178}"/>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CEA74049-FCA3-47BC-9F97-13299C483A70}"/>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C3FD8F1C-FCC2-4C41-9930-25131DAE68AC}"/>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99BFFD54-1B00-4514-8AE4-31708ED35DAF}"/>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C66934B0-AE61-45C5-B4DD-E073557D1DB2}"/>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C8EF8D62-6D31-4EAF-B2E3-84C9F0F1327F}"/>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ADD75D3A-D4D7-44DD-8EE8-F1C1D6D35D9C}"/>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E1D6D4DE-E35F-4F1D-B464-956EC3E8F8FA}"/>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660B736C-9E94-46E1-AAD3-BB8EFF564DC2}"/>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99BE6B87-6A6F-41E2-9C49-354DE5C52A86}"/>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15AB0E4D-F52E-48C1-AF00-D307EF66837E}"/>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EB429255-EB33-4E83-9195-93BCAF6E4633}"/>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81803013-D958-48A3-8654-30225F3ABBF4}"/>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17 − $15 = $2">
            <a:extLst>
              <a:ext uri="{FF2B5EF4-FFF2-40B4-BE49-F238E27FC236}">
                <a16:creationId xmlns:a16="http://schemas.microsoft.com/office/drawing/2014/main" id="{AB02B9D6-4F0B-4E24-9279-B9ED5E38C278}"/>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65" name="line">
            <a:extLst>
              <a:ext uri="{FF2B5EF4-FFF2-40B4-BE49-F238E27FC236}">
                <a16:creationId xmlns:a16="http://schemas.microsoft.com/office/drawing/2014/main" id="{282BF2CB-06FF-46CA-85A8-E52911546E45}"/>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ED5340FD-4B82-4BA5-AC91-1EDD63621B81}"/>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7" name="line">
            <a:extLst>
              <a:ext uri="{FF2B5EF4-FFF2-40B4-BE49-F238E27FC236}">
                <a16:creationId xmlns:a16="http://schemas.microsoft.com/office/drawing/2014/main" id="{F5106A7D-26B0-48FC-BC30-5EAF8E32B5D5}"/>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8" name="line">
            <a:extLst>
              <a:ext uri="{FF2B5EF4-FFF2-40B4-BE49-F238E27FC236}">
                <a16:creationId xmlns:a16="http://schemas.microsoft.com/office/drawing/2014/main" id="{75E2D7BD-5D51-4D22-A720-C76AF63F4DA6}"/>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69" name="line">
            <a:extLst>
              <a:ext uri="{FF2B5EF4-FFF2-40B4-BE49-F238E27FC236}">
                <a16:creationId xmlns:a16="http://schemas.microsoft.com/office/drawing/2014/main" id="{ACBBF259-ABE4-431C-ACB6-95D6EC0479FF}"/>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0" name="line">
            <a:extLst>
              <a:ext uri="{FF2B5EF4-FFF2-40B4-BE49-F238E27FC236}">
                <a16:creationId xmlns:a16="http://schemas.microsoft.com/office/drawing/2014/main" id="{B630B688-7AE2-4E38-93EE-7683C1DBCB30}"/>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1" name="Ben gains $2 from buying at $15.">
            <a:extLst>
              <a:ext uri="{FF2B5EF4-FFF2-40B4-BE49-F238E27FC236}">
                <a16:creationId xmlns:a16="http://schemas.microsoft.com/office/drawing/2014/main" id="{6BE6D121-8C27-47AF-AE35-3D2A056FF76E}"/>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Ben gains $2 from buying at $15.</a:t>
            </a:r>
          </a:p>
        </p:txBody>
      </p:sp>
    </p:spTree>
    <p:extLst>
      <p:ext uri="{BB962C8B-B14F-4D97-AF65-F5344CB8AC3E}">
        <p14:creationId xmlns:p14="http://schemas.microsoft.com/office/powerpoint/2010/main" val="322328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15</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D90EDA97-C98E-4BE9-BE51-A2B7BB4801B5}"/>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65982745-FF32-410E-980C-0937C0928477}"/>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D4FFF5BF-DB0C-433E-9763-F719373131CD}"/>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AFCC448E-F8BB-4C1D-A2BD-A9B483FEF3CA}"/>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C764005B-6F52-40E6-97F3-E80D3022D33D}"/>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78A5A6D8-AE20-4CA5-8372-D1C0EB9F1DFD}"/>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6AB3C0A9-BF07-4191-BDB7-14B0AE559D2B}"/>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A4FADF10-C8EC-4A43-9C45-3BB41EF6D4CE}"/>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AA5C8E98-41E3-4986-B8B3-24E198D79ED2}"/>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CE37C1FA-DDE1-4E0F-B995-A68E19C66FE5}"/>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8BDD5A44-B100-4A66-8FA0-E894830ED742}"/>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DE0B0544-5BFA-4D19-B1A1-92709C41B8D1}"/>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430DC2FD-DCA7-4436-924E-E68A515922A1}"/>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2504597B-8E01-40A9-9FC5-770C007CB18C}"/>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6E42444F-663B-40FB-8905-302AD274773D}"/>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FCDAFB90-7345-470A-9FDF-12B9BB37239D}"/>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560DB488-A6F9-4339-A5B8-A0950757E438}"/>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1DF1975C-5464-4BEC-A405-C259923F917B}"/>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2544BE2B-D7BF-43ED-AFD8-67F740ACCA3F}"/>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27B78271-CA1E-442D-8626-0C935ECD951D}"/>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D68153B2-4668-4528-AC9B-5B85850113AF}"/>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DAAA5FD7-D3D5-4772-9CD3-8DF600007999}"/>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9A12B11C-FB32-46C6-8B50-64406843E135}"/>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8D6AEBFE-0961-4C2D-A806-7684EB25EFF4}"/>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DE0EBD9D-11D1-4935-8DD6-50681CC04A98}"/>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335D7D79-79C9-415F-82B8-7899923EDDEE}"/>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4BA1BA9E-D853-49B9-86E3-22D7FF676ADB}"/>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C6FFE046-88E9-422B-9BE9-0D2638074D0D}"/>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057CC641-9DD5-4DA8-80F1-9FE0BFF1542F}"/>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1DBB77D3-610B-434F-BB64-13507D27B2FA}"/>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1922BD72-84A1-4DAD-89BE-794083D0AF32}"/>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417B8A26-C796-44A5-9C8B-8BA3AEF10E08}"/>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A51969E5-F121-4858-B121-BF1AC57D97B7}"/>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FDD8154C-2D79-44AD-BA2E-488F0994ADEC}"/>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C78DA611-AAF0-4672-A487-570725A3BFB1}"/>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847A62A5-4D60-4420-8D4F-8E90E824DAFF}"/>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C6D94E56-0B31-4DC3-A9E0-0B359FE53833}"/>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39F4B979-15B8-4B78-B7C5-D76E21AA6308}"/>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D72E3313-728E-41CE-AD7D-16B4B8B84622}"/>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8FE266EE-10AD-4FEC-BC28-63DB23BFDB38}"/>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5CDE2C51-E370-4E2B-BACF-33ED12AF1A2B}"/>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7AB14405-2737-43E9-84F0-9BC6B5EFA77A}"/>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2AABC001-4F0C-4EB2-97D2-F7C9994E70D6}"/>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CF9806A3-E571-48C1-9AB0-03D21C208015}"/>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93D24277-7F22-4EE3-810B-0A0830EA73C2}"/>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7E06A10C-DD0B-456B-AE90-2F54E59BA6FB}"/>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EF769538-3E9A-4F45-A726-0C8206A3C99E}"/>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3DB6BBB1-98AC-4987-9696-8C286485E041}"/>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9A232302-BC6A-4403-AA65-AA28C7050E55}"/>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BE4A241A-FBF4-4D16-91FC-07966E4D7AF5}"/>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3D807CF2-947A-40A4-BEC1-6425E801F9D4}"/>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15598E4B-DE91-47D4-AD1F-046C529DE8E5}"/>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664DB8A1-D6F7-40A7-AC1F-F524B30EA935}"/>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5890C42E-5945-4E6A-800D-72128AD51C94}"/>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7B0BD243-9D31-47DA-8A3B-03606D05C24F}"/>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71E529D6-259E-47F6-8F8F-0C18EC6529C9}"/>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2C3AEDCC-F4B2-422C-A3E9-67D2E58E8BD1}"/>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17 − $15 = $2">
            <a:extLst>
              <a:ext uri="{FF2B5EF4-FFF2-40B4-BE49-F238E27FC236}">
                <a16:creationId xmlns:a16="http://schemas.microsoft.com/office/drawing/2014/main" id="{3F782471-D262-4692-A029-99B50D1B1B0D}"/>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65" name="line">
            <a:extLst>
              <a:ext uri="{FF2B5EF4-FFF2-40B4-BE49-F238E27FC236}">
                <a16:creationId xmlns:a16="http://schemas.microsoft.com/office/drawing/2014/main" id="{3907961E-1A14-4F2F-B08D-81B76B50D280}"/>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B567F0AF-A853-49C8-BB31-BB708F2F48C6}"/>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7" name="line">
            <a:extLst>
              <a:ext uri="{FF2B5EF4-FFF2-40B4-BE49-F238E27FC236}">
                <a16:creationId xmlns:a16="http://schemas.microsoft.com/office/drawing/2014/main" id="{45ABD1A5-5917-4C90-902E-25D2D5F4CA95}"/>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8" name="line">
            <a:extLst>
              <a:ext uri="{FF2B5EF4-FFF2-40B4-BE49-F238E27FC236}">
                <a16:creationId xmlns:a16="http://schemas.microsoft.com/office/drawing/2014/main" id="{9123E53B-00F7-4EE5-84C5-959CC5B70831}"/>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69" name="line">
            <a:extLst>
              <a:ext uri="{FF2B5EF4-FFF2-40B4-BE49-F238E27FC236}">
                <a16:creationId xmlns:a16="http://schemas.microsoft.com/office/drawing/2014/main" id="{98D67992-8B88-48EE-8597-D464CA3DB665}"/>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0" name="line">
            <a:extLst>
              <a:ext uri="{FF2B5EF4-FFF2-40B4-BE49-F238E27FC236}">
                <a16:creationId xmlns:a16="http://schemas.microsoft.com/office/drawing/2014/main" id="{81F19D16-F2D5-43E9-9949-76686919871C}"/>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1" name="line">
            <a:extLst>
              <a:ext uri="{FF2B5EF4-FFF2-40B4-BE49-F238E27FC236}">
                <a16:creationId xmlns:a16="http://schemas.microsoft.com/office/drawing/2014/main" id="{A7AD1317-1ACC-4AA3-BC8A-626A4CA4935B}"/>
              </a:ext>
            </a:extLst>
          </p:cNvPr>
          <p:cNvSpPr>
            <a:spLocks noGrp="1"/>
          </p:cNvSpPr>
          <p:nvPr/>
        </p:nvSpPr>
        <p:spPr>
          <a:xfrm>
            <a:off x="6296025" y="2750344"/>
            <a:ext cx="9525" cy="309563"/>
          </a:xfrm>
          <a:custGeom>
            <a:avLst/>
            <a:gdLst/>
            <a:ahLst/>
            <a:cxnLst/>
            <a:rect l="0" t="0" r="0" b="0"/>
            <a:pathLst>
              <a:path w="9525" h="309563">
                <a:moveTo>
                  <a:pt x="0" y="0"/>
                </a:moveTo>
                <a:lnTo>
                  <a:pt x="0" y="309563"/>
                </a:lnTo>
              </a:path>
            </a:pathLst>
          </a:custGeom>
          <a:noFill/>
          <a:ln w="28575">
            <a:solidFill>
              <a:srgbClr val="3E7C79"/>
            </a:solidFill>
          </a:ln>
        </p:spPr>
        <p:txBody>
          <a:bodyPr/>
          <a:lstStyle/>
          <a:p>
            <a:endParaRPr/>
          </a:p>
        </p:txBody>
      </p:sp>
      <p:sp>
        <p:nvSpPr>
          <p:cNvPr id="72" name="line">
            <a:extLst>
              <a:ext uri="{FF2B5EF4-FFF2-40B4-BE49-F238E27FC236}">
                <a16:creationId xmlns:a16="http://schemas.microsoft.com/office/drawing/2014/main" id="{5A370A9F-A0DB-4267-82B3-CBB6AF8F3D1C}"/>
              </a:ext>
            </a:extLst>
          </p:cNvPr>
          <p:cNvSpPr>
            <a:spLocks noGrp="1"/>
          </p:cNvSpPr>
          <p:nvPr/>
        </p:nvSpPr>
        <p:spPr>
          <a:xfrm>
            <a:off x="6296025" y="3059906"/>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73" name="Alyssa: $15">
            <a:extLst>
              <a:ext uri="{FF2B5EF4-FFF2-40B4-BE49-F238E27FC236}">
                <a16:creationId xmlns:a16="http://schemas.microsoft.com/office/drawing/2014/main" id="{899E6B1F-DDD3-4617-BF7C-26B24237F107}"/>
              </a:ext>
            </a:extLst>
          </p:cNvPr>
          <p:cNvSpPr>
            <a:spLocks noGrp="1"/>
          </p:cNvSpPr>
          <p:nvPr/>
        </p:nvSpPr>
        <p:spPr>
          <a:xfrm>
            <a:off x="7934325" y="3012281"/>
            <a:ext cx="95250" cy="95250"/>
          </a:xfrm>
          <a:prstGeom prst="ellipse">
            <a:avLst/>
          </a:prstGeom>
          <a:solidFill>
            <a:srgbClr val="3E7C79"/>
          </a:solidFill>
          <a:ln w="0">
            <a:noFill/>
          </a:ln>
        </p:spPr>
        <p:txBody>
          <a:bodyPr/>
          <a:lstStyle/>
          <a:p>
            <a:endParaRPr/>
          </a:p>
        </p:txBody>
      </p:sp>
      <p:sp>
        <p:nvSpPr>
          <p:cNvPr id="74" name="Alyssa">
            <a:extLst>
              <a:ext uri="{FF2B5EF4-FFF2-40B4-BE49-F238E27FC236}">
                <a16:creationId xmlns:a16="http://schemas.microsoft.com/office/drawing/2014/main" id="{5BEEB73F-BCBC-4E2E-A728-DD41FE64C16A}"/>
              </a:ext>
            </a:extLst>
          </p:cNvPr>
          <p:cNvSpPr>
            <a:spLocks noGrp="1"/>
          </p:cNvSpPr>
          <p:nvPr/>
        </p:nvSpPr>
        <p:spPr>
          <a:xfrm>
            <a:off x="7634288" y="2692908"/>
            <a:ext cx="69532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Alyssa</a:t>
            </a:r>
          </a:p>
        </p:txBody>
      </p:sp>
      <p:sp>
        <p:nvSpPr>
          <p:cNvPr id="75" name="Alyssa is willing to pay up to $15 for o">
            <a:extLst>
              <a:ext uri="{FF2B5EF4-FFF2-40B4-BE49-F238E27FC236}">
                <a16:creationId xmlns:a16="http://schemas.microsoft.com/office/drawing/2014/main" id="{0FB17F51-CF3C-4819-B0E7-713CDEC84A67}"/>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Alyssa is willing to pay up to $15 for one case.</a:t>
            </a:r>
          </a:p>
        </p:txBody>
      </p:sp>
    </p:spTree>
    <p:extLst>
      <p:ext uri="{BB962C8B-B14F-4D97-AF65-F5344CB8AC3E}">
        <p14:creationId xmlns:p14="http://schemas.microsoft.com/office/powerpoint/2010/main" val="322328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16</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A9845434-AAE9-404A-B104-C3D2FD13DF2E}"/>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ECE67563-64C8-4B30-B4EE-5223B42442CA}"/>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190C9C72-914B-41E4-AD0A-F3D8000273E9}"/>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621CD924-AC1F-4F12-8C68-274C7F92F6C9}"/>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CD0A762D-B4E0-4A2E-9040-716B47DB3D74}"/>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95321B58-BEAE-451F-974A-8D54B33E2BD7}"/>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50950BD8-55F2-4C9B-B582-4EA3186E84E6}"/>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541DC492-90FE-4D34-86AA-894AE8D161E2}"/>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B888FF7D-574C-475D-B901-BA5CC3D580E6}"/>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A9D43432-245B-47E4-90F6-345F5DCA1DE4}"/>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0363F931-2995-413A-B672-201EE91B3963}"/>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38C8DB2D-C2E2-4C38-82AA-0E8A124B1670}"/>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E8CFBA18-4A36-426A-A4E7-7DCB74C55FA0}"/>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A739813D-2AB2-4391-8E17-31693E29DF42}"/>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45FB3971-2646-4692-9669-303217B78FA5}"/>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A098E4B4-C2DE-447B-B482-AED56BF03C3A}"/>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1E0D101A-C581-458E-B1C6-71BFBCA35CD8}"/>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A9B58283-DC41-42DB-82A7-3999A49D8269}"/>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E57FF3D4-9BA5-4E03-83CB-A77780070227}"/>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6C4F44C7-AEA1-4758-8E31-D4F02E66E39D}"/>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EE9175B0-EBB5-48F7-88FE-EA6AF5DBED1D}"/>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3D2F95EC-8DAD-4DF0-83E5-A2D3528DD4B5}"/>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3F4A6931-1CF8-47E0-BFC5-9AC931B62C5B}"/>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662EE2E7-C3C4-4650-B3D7-76BD43EAF933}"/>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EBA8E06F-F5B7-4B3B-A71E-6FDE8CBF9B3A}"/>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4A44BDBE-8F55-4EDA-9894-4AF47F6E1B2F}"/>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9881478D-73F9-4C40-9882-52A967CE4E31}"/>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547FC664-826F-424E-9D5A-BF5DF681BD4A}"/>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1BF9A8A3-FC8B-4D36-8E70-5C9C0B091CE4}"/>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14F5D899-1A64-4F70-83FF-01179232DD9C}"/>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0FD89E94-2B9E-480D-A13A-23CE9291E911}"/>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0F04CB18-4736-4FCD-A0D5-6FE708D7338A}"/>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43F54FAF-6AC6-46A7-B056-DABCD19A97CA}"/>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EA5A17CC-07B1-4BAF-871F-A5AA6DB5F6DA}"/>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52A40298-4615-4841-B779-7DA3322EE713}"/>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3CE7E4FE-59AF-447C-A737-9E8E04971E28}"/>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EE736BBE-DF0B-404E-AD8F-5CFCC9CEF6EE}"/>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3836E420-45F7-439A-8849-EEC3E2DDE893}"/>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5BC7F41B-E4FE-4430-832A-D0E5A36E6B20}"/>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6CA86C62-3B53-4B53-A656-07E74E0D2729}"/>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25FA979B-A61B-468F-9E2E-494FB4B69133}"/>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E78FAD20-28B3-4829-B4D3-267ED3F13D87}"/>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EBA69325-3018-48AB-983C-C2A37D6DFB6E}"/>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9270C531-C403-486A-B4AD-EF0E50496E10}"/>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B7555A64-6FD8-4151-A20E-93F88A71F88F}"/>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0C94DA88-1620-411E-AA26-41ADAF8E258D}"/>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ECAE7C4F-28A9-4DF2-90DF-AD00C35D6D3B}"/>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51688072-B6F9-4CA8-A3EA-D66515F824B1}"/>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6EDD031F-642D-49D7-8CFB-E4C563D920D6}"/>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8A525B54-73E0-4E8C-8673-07810F0F408E}"/>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CCA06299-D52C-4EAD-8E12-743741972279}"/>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A051725F-0255-4E69-BF79-C38702DD1EA6}"/>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A9D704D6-A7A8-44C6-96CC-DE8B1B824712}"/>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542DF08E-2596-4259-ABC2-169576E528C7}"/>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11E97F6A-0DE1-40B7-A58F-E7CBE16DE080}"/>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476B72D0-8181-49D1-A25B-2BA16EED4493}"/>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5CCC2923-FF18-4502-899B-7BA7574F6819}"/>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17 − $15 = $2">
            <a:extLst>
              <a:ext uri="{FF2B5EF4-FFF2-40B4-BE49-F238E27FC236}">
                <a16:creationId xmlns:a16="http://schemas.microsoft.com/office/drawing/2014/main" id="{8F527C00-914C-48DF-BC00-38BF1E65D589}"/>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65" name="line">
            <a:extLst>
              <a:ext uri="{FF2B5EF4-FFF2-40B4-BE49-F238E27FC236}">
                <a16:creationId xmlns:a16="http://schemas.microsoft.com/office/drawing/2014/main" id="{5D12873B-268F-411B-B021-A4478868F49E}"/>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1F6C5D31-C30D-4B45-A377-ABE743551D24}"/>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7" name="line">
            <a:extLst>
              <a:ext uri="{FF2B5EF4-FFF2-40B4-BE49-F238E27FC236}">
                <a16:creationId xmlns:a16="http://schemas.microsoft.com/office/drawing/2014/main" id="{7C6B8A09-0A4B-4E06-9BED-D67BEDABBE0D}"/>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8" name="line">
            <a:extLst>
              <a:ext uri="{FF2B5EF4-FFF2-40B4-BE49-F238E27FC236}">
                <a16:creationId xmlns:a16="http://schemas.microsoft.com/office/drawing/2014/main" id="{7373EF76-5540-486C-9F83-00DDA1977BC1}"/>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69" name="line">
            <a:extLst>
              <a:ext uri="{FF2B5EF4-FFF2-40B4-BE49-F238E27FC236}">
                <a16:creationId xmlns:a16="http://schemas.microsoft.com/office/drawing/2014/main" id="{2AB70BD2-9F34-40A1-9B71-0D13D2BC86DE}"/>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0" name="line">
            <a:extLst>
              <a:ext uri="{FF2B5EF4-FFF2-40B4-BE49-F238E27FC236}">
                <a16:creationId xmlns:a16="http://schemas.microsoft.com/office/drawing/2014/main" id="{2B68AB75-1BDD-462A-83ED-0B1B5E45B508}"/>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1" name="line">
            <a:extLst>
              <a:ext uri="{FF2B5EF4-FFF2-40B4-BE49-F238E27FC236}">
                <a16:creationId xmlns:a16="http://schemas.microsoft.com/office/drawing/2014/main" id="{DF1879F2-AF8B-4A99-805E-15181AA6039F}"/>
              </a:ext>
            </a:extLst>
          </p:cNvPr>
          <p:cNvSpPr>
            <a:spLocks noGrp="1"/>
          </p:cNvSpPr>
          <p:nvPr/>
        </p:nvSpPr>
        <p:spPr>
          <a:xfrm>
            <a:off x="6296025" y="2750344"/>
            <a:ext cx="9525" cy="309563"/>
          </a:xfrm>
          <a:custGeom>
            <a:avLst/>
            <a:gdLst/>
            <a:ahLst/>
            <a:cxnLst/>
            <a:rect l="0" t="0" r="0" b="0"/>
            <a:pathLst>
              <a:path w="9525" h="309563">
                <a:moveTo>
                  <a:pt x="0" y="0"/>
                </a:moveTo>
                <a:lnTo>
                  <a:pt x="0" y="309563"/>
                </a:lnTo>
              </a:path>
            </a:pathLst>
          </a:custGeom>
          <a:noFill/>
          <a:ln w="28575">
            <a:solidFill>
              <a:srgbClr val="3E7C79"/>
            </a:solidFill>
          </a:ln>
        </p:spPr>
        <p:txBody>
          <a:bodyPr/>
          <a:lstStyle/>
          <a:p>
            <a:endParaRPr/>
          </a:p>
        </p:txBody>
      </p:sp>
      <p:sp>
        <p:nvSpPr>
          <p:cNvPr id="72" name="line">
            <a:extLst>
              <a:ext uri="{FF2B5EF4-FFF2-40B4-BE49-F238E27FC236}">
                <a16:creationId xmlns:a16="http://schemas.microsoft.com/office/drawing/2014/main" id="{4538235D-E221-494E-A76A-746072EAACFD}"/>
              </a:ext>
            </a:extLst>
          </p:cNvPr>
          <p:cNvSpPr>
            <a:spLocks noGrp="1"/>
          </p:cNvSpPr>
          <p:nvPr/>
        </p:nvSpPr>
        <p:spPr>
          <a:xfrm>
            <a:off x="6296025" y="3059906"/>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73" name="Alyssa: $15">
            <a:extLst>
              <a:ext uri="{FF2B5EF4-FFF2-40B4-BE49-F238E27FC236}">
                <a16:creationId xmlns:a16="http://schemas.microsoft.com/office/drawing/2014/main" id="{75925C31-3A29-466C-BB89-E164BDE16E65}"/>
              </a:ext>
            </a:extLst>
          </p:cNvPr>
          <p:cNvSpPr>
            <a:spLocks noGrp="1"/>
          </p:cNvSpPr>
          <p:nvPr/>
        </p:nvSpPr>
        <p:spPr>
          <a:xfrm>
            <a:off x="7934325" y="3012281"/>
            <a:ext cx="95250" cy="95250"/>
          </a:xfrm>
          <a:prstGeom prst="ellipse">
            <a:avLst/>
          </a:prstGeom>
          <a:solidFill>
            <a:srgbClr val="3E7C79"/>
          </a:solidFill>
          <a:ln w="0">
            <a:noFill/>
          </a:ln>
        </p:spPr>
        <p:txBody>
          <a:bodyPr/>
          <a:lstStyle/>
          <a:p>
            <a:endParaRPr/>
          </a:p>
        </p:txBody>
      </p:sp>
      <p:sp>
        <p:nvSpPr>
          <p:cNvPr id="74" name="Alyssa">
            <a:extLst>
              <a:ext uri="{FF2B5EF4-FFF2-40B4-BE49-F238E27FC236}">
                <a16:creationId xmlns:a16="http://schemas.microsoft.com/office/drawing/2014/main" id="{64D6D842-BD85-40D3-928E-993ECC55FD93}"/>
              </a:ext>
            </a:extLst>
          </p:cNvPr>
          <p:cNvSpPr>
            <a:spLocks noGrp="1"/>
          </p:cNvSpPr>
          <p:nvPr/>
        </p:nvSpPr>
        <p:spPr>
          <a:xfrm>
            <a:off x="7634288" y="2692908"/>
            <a:ext cx="69532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Alyssa</a:t>
            </a:r>
          </a:p>
        </p:txBody>
      </p:sp>
      <p:sp>
        <p:nvSpPr>
          <p:cNvPr id="75" name="$15 − $15 = $0">
            <a:extLst>
              <a:ext uri="{FF2B5EF4-FFF2-40B4-BE49-F238E27FC236}">
                <a16:creationId xmlns:a16="http://schemas.microsoft.com/office/drawing/2014/main" id="{E4E1971C-A01D-4680-8783-5CA314B149EC}"/>
              </a:ext>
            </a:extLst>
          </p:cNvPr>
          <p:cNvSpPr>
            <a:spLocks noGrp="1"/>
          </p:cNvSpPr>
          <p:nvPr/>
        </p:nvSpPr>
        <p:spPr>
          <a:xfrm>
            <a:off x="8729663" y="2692908"/>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$15 − $15 = $0</a:t>
            </a:r>
          </a:p>
        </p:txBody>
      </p:sp>
      <p:sp>
        <p:nvSpPr>
          <p:cNvPr id="76" name="line">
            <a:extLst>
              <a:ext uri="{FF2B5EF4-FFF2-40B4-BE49-F238E27FC236}">
                <a16:creationId xmlns:a16="http://schemas.microsoft.com/office/drawing/2014/main" id="{A871D114-5903-45E5-A1EC-439BE52280ED}"/>
              </a:ext>
            </a:extLst>
          </p:cNvPr>
          <p:cNvSpPr>
            <a:spLocks noGrp="1"/>
          </p:cNvSpPr>
          <p:nvPr/>
        </p:nvSpPr>
        <p:spPr>
          <a:xfrm>
            <a:off x="8415338" y="2825972"/>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77" name="line">
            <a:extLst>
              <a:ext uri="{FF2B5EF4-FFF2-40B4-BE49-F238E27FC236}">
                <a16:creationId xmlns:a16="http://schemas.microsoft.com/office/drawing/2014/main" id="{4DA211A8-A4C1-4F15-94EA-B6FEDE326E1E}"/>
              </a:ext>
            </a:extLst>
          </p:cNvPr>
          <p:cNvSpPr>
            <a:spLocks noGrp="1"/>
          </p:cNvSpPr>
          <p:nvPr/>
        </p:nvSpPr>
        <p:spPr>
          <a:xfrm>
            <a:off x="8565798" y="2825972"/>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78" name="line">
            <a:extLst>
              <a:ext uri="{FF2B5EF4-FFF2-40B4-BE49-F238E27FC236}">
                <a16:creationId xmlns:a16="http://schemas.microsoft.com/office/drawing/2014/main" id="{BCB25036-BE28-4ADA-89EC-C2214506C3B2}"/>
              </a:ext>
            </a:extLst>
          </p:cNvPr>
          <p:cNvSpPr>
            <a:spLocks noGrp="1"/>
          </p:cNvSpPr>
          <p:nvPr/>
        </p:nvSpPr>
        <p:spPr>
          <a:xfrm>
            <a:off x="8565798" y="2792828"/>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79" name="Alyssa is indifferent at $15 and gains $">
            <a:extLst>
              <a:ext uri="{FF2B5EF4-FFF2-40B4-BE49-F238E27FC236}">
                <a16:creationId xmlns:a16="http://schemas.microsoft.com/office/drawing/2014/main" id="{62492B51-D26D-4293-BD67-8840996E7661}"/>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Alyssa is indifferent at $15 and gains $0 surplus.</a:t>
            </a:r>
          </a:p>
        </p:txBody>
      </p:sp>
    </p:spTree>
    <p:extLst>
      <p:ext uri="{BB962C8B-B14F-4D97-AF65-F5344CB8AC3E}">
        <p14:creationId xmlns:p14="http://schemas.microsoft.com/office/powerpoint/2010/main" val="322328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17</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06486635-5CE6-4942-8B7A-B5668F457FF6}"/>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52BDE043-B8E6-4199-9123-B9F856922766}"/>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9661CE4B-C811-48E7-B2A1-4515BA612B62}"/>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6F151A4B-4052-47FA-8671-5DBABBB909FC}"/>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E7F02343-B94B-4F89-9360-A8364E36351B}"/>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15B4C41B-9188-4108-9C33-2CFA217E0F01}"/>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FFD01882-FD86-4E83-8F24-5144C9E461EA}"/>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D7B40BD2-73AE-43E7-9DAF-B45BA1B12F84}"/>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5DD28023-B8C9-4BAA-B587-A301876541B8}"/>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56DEACFE-6871-419C-B927-8D4FBFCADE4A}"/>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3D98D656-F87F-444C-B36F-06F4ACAEE5ED}"/>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2C058E60-8B1C-4FC4-B20F-C76142E783B5}"/>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EB4226B4-5710-4502-BF06-C6C4AE307F44}"/>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09209000-BEE5-4CF1-ADD9-8DCD970FA6B5}"/>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B5909A42-E936-45B3-9F44-D97285BD4C5F}"/>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44D14D67-7942-4253-97F6-26848A4DC8AB}"/>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DEF0D628-7246-4064-8CE0-27972C725A09}"/>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13C84CFA-8266-4DF0-AC98-D766BDAAF254}"/>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8B636A5B-FCE8-43E4-9B6B-AE3D0221110A}"/>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FFD7577F-A82B-46C0-8602-3D5AECBE2CAF}"/>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BF9D4DAB-F0CD-424A-87D7-ACD5309CBB02}"/>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A69F69D7-4B41-4C8D-B576-390FEAFA7596}"/>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474F6655-AE0A-4D82-BB29-F3B7B5B2D4B0}"/>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56A50A26-FBE1-407B-8A8D-881A4FEE60CD}"/>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C891BF03-BF88-4A0E-9410-0C23E8103976}"/>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2D99950E-6F88-4019-9222-F55312B119F1}"/>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60F3D6AE-66AE-4E9C-9109-E64B46826E3C}"/>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D2BEEEA9-0985-4648-9B7D-3185E386DF1C}"/>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0A9BE0B9-C24F-4EE7-BDCA-F3E2C9982755}"/>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62150AEC-55CD-4F32-BD2D-E53B46058E9A}"/>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F65E4391-CABA-4D28-BCE3-BD460EEB9E28}"/>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0933EF2C-1670-499B-866F-D8099760FDD4}"/>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97F3B558-9E32-42B2-9178-F6D1222F3E19}"/>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38186505-5A76-40F5-88B6-55EC702AB78F}"/>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48ABCDAA-1582-4445-AB4E-F4DE4C86CB2F}"/>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1684D76A-C96F-4232-8D31-93F022FEBC3A}"/>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B2CE5527-B9C8-45F8-92F8-E26218CBF56C}"/>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0B08266D-8A7A-4193-A596-3D50FF150AA8}"/>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B33B11FA-36C0-4264-8F97-D9EE31EFC41D}"/>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5AE6FAEC-F7E2-4E5E-88FB-CD957F975400}"/>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20D59379-9558-42F6-8DC2-93F6AE031895}"/>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E2F51DAA-1B17-4AD2-9ECA-BA9DEA886BD9}"/>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E877BF40-83A9-4CAA-8E62-E3BD8919E0BB}"/>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190F9F15-512F-4A94-9F19-84D6CB23FB4A}"/>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8D6007C1-4A2F-4D63-BDCD-3790DF4EC9CA}"/>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1CFF945C-2E41-4C31-A870-842503098FC5}"/>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DC82847A-12BB-4533-82F2-2BBC5A32CF0F}"/>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A6E109E1-DD5D-4F12-94CB-20B04047A8FB}"/>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4051DCFE-9EB2-4BC7-A7AC-0615613B3044}"/>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09027066-C41C-4BC5-AA52-D12267B3405A}"/>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21732EA4-9385-470B-939B-18C2584EF0AE}"/>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EFF66392-8C03-4A5F-9293-EE531D3799BD}"/>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DF819018-8214-4134-90CE-1D6BC632EC59}"/>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CE565D45-0855-4280-AFAF-E62B44EA30E4}"/>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2244A823-1B9B-48EA-ABBB-4A202E62BFF9}"/>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99B6FBFB-6A46-44D0-B30D-3A44666D6905}"/>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98F6D4E9-15F5-413E-BD12-A369A34D358D}"/>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17 − $15 = $2">
            <a:extLst>
              <a:ext uri="{FF2B5EF4-FFF2-40B4-BE49-F238E27FC236}">
                <a16:creationId xmlns:a16="http://schemas.microsoft.com/office/drawing/2014/main" id="{FB6BB88E-ACB7-4596-A001-E484233BC2FA}"/>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65" name="line">
            <a:extLst>
              <a:ext uri="{FF2B5EF4-FFF2-40B4-BE49-F238E27FC236}">
                <a16:creationId xmlns:a16="http://schemas.microsoft.com/office/drawing/2014/main" id="{C0349F68-E15B-4422-8752-1F91FEEC7EEB}"/>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29A29794-34BD-4D47-A4E7-FDE64E20DB56}"/>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7" name="line">
            <a:extLst>
              <a:ext uri="{FF2B5EF4-FFF2-40B4-BE49-F238E27FC236}">
                <a16:creationId xmlns:a16="http://schemas.microsoft.com/office/drawing/2014/main" id="{0CFF55A5-0AC2-414D-9CEE-664FA8E47994}"/>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8" name="line">
            <a:extLst>
              <a:ext uri="{FF2B5EF4-FFF2-40B4-BE49-F238E27FC236}">
                <a16:creationId xmlns:a16="http://schemas.microsoft.com/office/drawing/2014/main" id="{2C27BB92-1856-4001-AA1D-A3162DA1DBB4}"/>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69" name="line">
            <a:extLst>
              <a:ext uri="{FF2B5EF4-FFF2-40B4-BE49-F238E27FC236}">
                <a16:creationId xmlns:a16="http://schemas.microsoft.com/office/drawing/2014/main" id="{F1CD8E41-A6CB-4224-BCEE-1881A237DEE9}"/>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0" name="line">
            <a:extLst>
              <a:ext uri="{FF2B5EF4-FFF2-40B4-BE49-F238E27FC236}">
                <a16:creationId xmlns:a16="http://schemas.microsoft.com/office/drawing/2014/main" id="{A6A1DB6B-2082-40DE-AC27-F48339596BE5}"/>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1" name="line">
            <a:extLst>
              <a:ext uri="{FF2B5EF4-FFF2-40B4-BE49-F238E27FC236}">
                <a16:creationId xmlns:a16="http://schemas.microsoft.com/office/drawing/2014/main" id="{8BF98C23-7522-4D43-9422-102F80FEE8D1}"/>
              </a:ext>
            </a:extLst>
          </p:cNvPr>
          <p:cNvSpPr>
            <a:spLocks noGrp="1"/>
          </p:cNvSpPr>
          <p:nvPr/>
        </p:nvSpPr>
        <p:spPr>
          <a:xfrm>
            <a:off x="6296025" y="2750344"/>
            <a:ext cx="9525" cy="309563"/>
          </a:xfrm>
          <a:custGeom>
            <a:avLst/>
            <a:gdLst/>
            <a:ahLst/>
            <a:cxnLst/>
            <a:rect l="0" t="0" r="0" b="0"/>
            <a:pathLst>
              <a:path w="9525" h="309563">
                <a:moveTo>
                  <a:pt x="0" y="0"/>
                </a:moveTo>
                <a:lnTo>
                  <a:pt x="0" y="309563"/>
                </a:lnTo>
              </a:path>
            </a:pathLst>
          </a:custGeom>
          <a:noFill/>
          <a:ln w="28575">
            <a:solidFill>
              <a:srgbClr val="3E7C79"/>
            </a:solidFill>
          </a:ln>
        </p:spPr>
        <p:txBody>
          <a:bodyPr/>
          <a:lstStyle/>
          <a:p>
            <a:endParaRPr/>
          </a:p>
        </p:txBody>
      </p:sp>
      <p:sp>
        <p:nvSpPr>
          <p:cNvPr id="72" name="line">
            <a:extLst>
              <a:ext uri="{FF2B5EF4-FFF2-40B4-BE49-F238E27FC236}">
                <a16:creationId xmlns:a16="http://schemas.microsoft.com/office/drawing/2014/main" id="{5E0FA0C9-448E-4826-ADB4-6737AC3E14D5}"/>
              </a:ext>
            </a:extLst>
          </p:cNvPr>
          <p:cNvSpPr>
            <a:spLocks noGrp="1"/>
          </p:cNvSpPr>
          <p:nvPr/>
        </p:nvSpPr>
        <p:spPr>
          <a:xfrm>
            <a:off x="6296025" y="3059906"/>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73" name="Alyssa: $15">
            <a:extLst>
              <a:ext uri="{FF2B5EF4-FFF2-40B4-BE49-F238E27FC236}">
                <a16:creationId xmlns:a16="http://schemas.microsoft.com/office/drawing/2014/main" id="{8A03463F-1BA8-443F-9862-62F0FD8670E5}"/>
              </a:ext>
            </a:extLst>
          </p:cNvPr>
          <p:cNvSpPr>
            <a:spLocks noGrp="1"/>
          </p:cNvSpPr>
          <p:nvPr/>
        </p:nvSpPr>
        <p:spPr>
          <a:xfrm>
            <a:off x="7934325" y="3012281"/>
            <a:ext cx="95250" cy="95250"/>
          </a:xfrm>
          <a:prstGeom prst="ellipse">
            <a:avLst/>
          </a:prstGeom>
          <a:solidFill>
            <a:srgbClr val="3E7C79"/>
          </a:solidFill>
          <a:ln w="0">
            <a:noFill/>
          </a:ln>
        </p:spPr>
        <p:txBody>
          <a:bodyPr/>
          <a:lstStyle/>
          <a:p>
            <a:endParaRPr/>
          </a:p>
        </p:txBody>
      </p:sp>
      <p:sp>
        <p:nvSpPr>
          <p:cNvPr id="74" name="Alyssa">
            <a:extLst>
              <a:ext uri="{FF2B5EF4-FFF2-40B4-BE49-F238E27FC236}">
                <a16:creationId xmlns:a16="http://schemas.microsoft.com/office/drawing/2014/main" id="{5D2BAB07-6199-4E58-8BFE-31135531E79A}"/>
              </a:ext>
            </a:extLst>
          </p:cNvPr>
          <p:cNvSpPr>
            <a:spLocks noGrp="1"/>
          </p:cNvSpPr>
          <p:nvPr/>
        </p:nvSpPr>
        <p:spPr>
          <a:xfrm>
            <a:off x="7634288" y="2692908"/>
            <a:ext cx="69532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Alyssa</a:t>
            </a:r>
          </a:p>
        </p:txBody>
      </p:sp>
      <p:sp>
        <p:nvSpPr>
          <p:cNvPr id="75" name="$15 − $15 = $0">
            <a:extLst>
              <a:ext uri="{FF2B5EF4-FFF2-40B4-BE49-F238E27FC236}">
                <a16:creationId xmlns:a16="http://schemas.microsoft.com/office/drawing/2014/main" id="{22CA18FF-F0E0-4C21-BAE6-E42A091BAAAB}"/>
              </a:ext>
            </a:extLst>
          </p:cNvPr>
          <p:cNvSpPr>
            <a:spLocks noGrp="1"/>
          </p:cNvSpPr>
          <p:nvPr/>
        </p:nvSpPr>
        <p:spPr>
          <a:xfrm>
            <a:off x="8729663" y="2692908"/>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$15 − $15 = $0</a:t>
            </a:r>
          </a:p>
        </p:txBody>
      </p:sp>
      <p:sp>
        <p:nvSpPr>
          <p:cNvPr id="76" name="line">
            <a:extLst>
              <a:ext uri="{FF2B5EF4-FFF2-40B4-BE49-F238E27FC236}">
                <a16:creationId xmlns:a16="http://schemas.microsoft.com/office/drawing/2014/main" id="{5EA92CFD-5E71-4F39-8BB9-C18A37649A27}"/>
              </a:ext>
            </a:extLst>
          </p:cNvPr>
          <p:cNvSpPr>
            <a:spLocks noGrp="1"/>
          </p:cNvSpPr>
          <p:nvPr/>
        </p:nvSpPr>
        <p:spPr>
          <a:xfrm>
            <a:off x="8415338" y="2825972"/>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77" name="line">
            <a:extLst>
              <a:ext uri="{FF2B5EF4-FFF2-40B4-BE49-F238E27FC236}">
                <a16:creationId xmlns:a16="http://schemas.microsoft.com/office/drawing/2014/main" id="{9B734E12-1870-4E5A-81D2-288E457FD4C4}"/>
              </a:ext>
            </a:extLst>
          </p:cNvPr>
          <p:cNvSpPr>
            <a:spLocks noGrp="1"/>
          </p:cNvSpPr>
          <p:nvPr/>
        </p:nvSpPr>
        <p:spPr>
          <a:xfrm>
            <a:off x="8565798" y="2825972"/>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78" name="line">
            <a:extLst>
              <a:ext uri="{FF2B5EF4-FFF2-40B4-BE49-F238E27FC236}">
                <a16:creationId xmlns:a16="http://schemas.microsoft.com/office/drawing/2014/main" id="{AB577458-9527-43F1-B932-BC5C8DC24256}"/>
              </a:ext>
            </a:extLst>
          </p:cNvPr>
          <p:cNvSpPr>
            <a:spLocks noGrp="1"/>
          </p:cNvSpPr>
          <p:nvPr/>
        </p:nvSpPr>
        <p:spPr>
          <a:xfrm>
            <a:off x="8565798" y="2792828"/>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79" name="line">
            <a:extLst>
              <a:ext uri="{FF2B5EF4-FFF2-40B4-BE49-F238E27FC236}">
                <a16:creationId xmlns:a16="http://schemas.microsoft.com/office/drawing/2014/main" id="{70D692AF-8DC6-41B4-8607-73BB8D1230C5}"/>
              </a:ext>
            </a:extLst>
          </p:cNvPr>
          <p:cNvSpPr>
            <a:spLocks noGrp="1"/>
          </p:cNvSpPr>
          <p:nvPr/>
        </p:nvSpPr>
        <p:spPr>
          <a:xfrm>
            <a:off x="7981950" y="3059906"/>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80" name="line">
            <a:extLst>
              <a:ext uri="{FF2B5EF4-FFF2-40B4-BE49-F238E27FC236}">
                <a16:creationId xmlns:a16="http://schemas.microsoft.com/office/drawing/2014/main" id="{631D2DC1-4B18-4FFD-AFF1-7A77A4F079C0}"/>
              </a:ext>
            </a:extLst>
          </p:cNvPr>
          <p:cNvSpPr>
            <a:spLocks noGrp="1"/>
          </p:cNvSpPr>
          <p:nvPr/>
        </p:nvSpPr>
        <p:spPr>
          <a:xfrm>
            <a:off x="7981950" y="3524250"/>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81" name="Brady: $12">
            <a:extLst>
              <a:ext uri="{FF2B5EF4-FFF2-40B4-BE49-F238E27FC236}">
                <a16:creationId xmlns:a16="http://schemas.microsoft.com/office/drawing/2014/main" id="{AE83E31E-70D5-4FEB-B43F-B4F0A6DB4A8F}"/>
              </a:ext>
            </a:extLst>
          </p:cNvPr>
          <p:cNvSpPr>
            <a:spLocks noGrp="1"/>
          </p:cNvSpPr>
          <p:nvPr/>
        </p:nvSpPr>
        <p:spPr>
          <a:xfrm>
            <a:off x="9620250" y="3476625"/>
            <a:ext cx="95250" cy="95250"/>
          </a:xfrm>
          <a:prstGeom prst="ellipse">
            <a:avLst/>
          </a:prstGeom>
          <a:solidFill>
            <a:srgbClr val="3E7C79"/>
          </a:solidFill>
          <a:ln w="0">
            <a:noFill/>
          </a:ln>
        </p:spPr>
        <p:txBody>
          <a:bodyPr/>
          <a:lstStyle/>
          <a:p>
            <a:endParaRPr/>
          </a:p>
        </p:txBody>
      </p:sp>
      <p:sp>
        <p:nvSpPr>
          <p:cNvPr id="82" name="Brady">
            <a:extLst>
              <a:ext uri="{FF2B5EF4-FFF2-40B4-BE49-F238E27FC236}">
                <a16:creationId xmlns:a16="http://schemas.microsoft.com/office/drawing/2014/main" id="{981AC834-78B4-4A9A-ACE7-4BE7C6F89B6E}"/>
              </a:ext>
            </a:extLst>
          </p:cNvPr>
          <p:cNvSpPr>
            <a:spLocks noGrp="1"/>
          </p:cNvSpPr>
          <p:nvPr/>
        </p:nvSpPr>
        <p:spPr>
          <a:xfrm>
            <a:off x="9344025" y="3257550"/>
            <a:ext cx="64770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Brady</a:t>
            </a:r>
          </a:p>
        </p:txBody>
      </p:sp>
      <p:sp>
        <p:nvSpPr>
          <p:cNvPr id="83" name="Demand">
            <a:extLst>
              <a:ext uri="{FF2B5EF4-FFF2-40B4-BE49-F238E27FC236}">
                <a16:creationId xmlns:a16="http://schemas.microsoft.com/office/drawing/2014/main" id="{001D72B9-AF55-48AC-B5E8-9B58BD89887E}"/>
              </a:ext>
            </a:extLst>
          </p:cNvPr>
          <p:cNvSpPr>
            <a:spLocks noGrp="1"/>
          </p:cNvSpPr>
          <p:nvPr/>
        </p:nvSpPr>
        <p:spPr>
          <a:xfrm>
            <a:off x="9810750" y="4324350"/>
            <a:ext cx="1428750" cy="285750"/>
          </a:xfrm>
          <a:prstGeom prst="rect">
            <a:avLst/>
          </a:prstGeom>
          <a:noFill/>
          <a:ln w="0">
            <a:noFill/>
          </a:ln>
        </p:spPr>
        <p:txBody>
          <a:bodyPr wrap="none" lIns="0" tIns="0" rIns="0" bIns="0">
            <a:noAutofit/>
          </a:bodyPr>
          <a:lstStyle/>
          <a:p>
            <a:pPr algn="l">
              <a:buNone/>
              <a:defRPr sz="1875" b="1">
                <a:solidFill>
                  <a:srgbClr val="3E7C79"/>
                </a:solidFill>
                <a:latin typeface="Cambria"/>
                <a:ea typeface="Cambria"/>
                <a:cs typeface="Cambria"/>
              </a:defRPr>
            </a:pPr>
            <a:r>
              <a:rPr sz="1875" b="1">
                <a:solidFill>
                  <a:srgbClr val="3E7C79"/>
                </a:solidFill>
                <a:latin typeface="Cambria"/>
                <a:ea typeface="Cambria"/>
                <a:cs typeface="Cambria"/>
              </a:rPr>
              <a:t>Demand</a:t>
            </a:r>
          </a:p>
        </p:txBody>
      </p:sp>
      <p:sp>
        <p:nvSpPr>
          <p:cNvPr id="84" name="Brady is willing to pay up to $12 for on">
            <a:extLst>
              <a:ext uri="{FF2B5EF4-FFF2-40B4-BE49-F238E27FC236}">
                <a16:creationId xmlns:a16="http://schemas.microsoft.com/office/drawing/2014/main" id="{E9929807-C033-45DC-9E77-8F7F482C1D91}"/>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0">
                <a:solidFill>
                  <a:srgbClr val="1C2321"/>
                </a:solidFill>
                <a:latin typeface="Cambria"/>
                <a:ea typeface="Cambria"/>
                <a:cs typeface="Cambria"/>
              </a:defRPr>
            </a:pPr>
            <a:r>
              <a:rPr sz="1950" b="0">
                <a:solidFill>
                  <a:srgbClr val="1C2321"/>
                </a:solidFill>
                <a:latin typeface="Cambria"/>
                <a:ea typeface="Cambria"/>
                <a:cs typeface="Cambria"/>
              </a:rPr>
              <a:t>Brady is willing to pay up to $12 for one case.</a:t>
            </a:r>
          </a:p>
        </p:txBody>
      </p:sp>
    </p:spTree>
    <p:extLst>
      <p:ext uri="{BB962C8B-B14F-4D97-AF65-F5344CB8AC3E}">
        <p14:creationId xmlns:p14="http://schemas.microsoft.com/office/powerpoint/2010/main" val="322328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18</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line">
            <a:extLst>
              <a:ext uri="{FF2B5EF4-FFF2-40B4-BE49-F238E27FC236}">
                <a16:creationId xmlns:a16="http://schemas.microsoft.com/office/drawing/2014/main" id="{248D01A1-4D5F-42D9-B3A7-D9D495A47128}"/>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8" name="line">
            <a:extLst>
              <a:ext uri="{FF2B5EF4-FFF2-40B4-BE49-F238E27FC236}">
                <a16:creationId xmlns:a16="http://schemas.microsoft.com/office/drawing/2014/main" id="{A7224BC3-358C-497D-9E1A-0E43ED435B55}"/>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9" name="Price">
            <a:extLst>
              <a:ext uri="{FF2B5EF4-FFF2-40B4-BE49-F238E27FC236}">
                <a16:creationId xmlns:a16="http://schemas.microsoft.com/office/drawing/2014/main" id="{F0F4385C-AD6D-449A-B56F-B38018F74359}"/>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0" name="line">
            <a:extLst>
              <a:ext uri="{FF2B5EF4-FFF2-40B4-BE49-F238E27FC236}">
                <a16:creationId xmlns:a16="http://schemas.microsoft.com/office/drawing/2014/main" id="{E53D3248-7AC6-43F6-AFD9-02E654C4AFF2}"/>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1" name="$0">
            <a:extLst>
              <a:ext uri="{FF2B5EF4-FFF2-40B4-BE49-F238E27FC236}">
                <a16:creationId xmlns:a16="http://schemas.microsoft.com/office/drawing/2014/main" id="{35C40664-CD3B-48F8-BC76-737358A79B42}"/>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2" name="line">
            <a:extLst>
              <a:ext uri="{FF2B5EF4-FFF2-40B4-BE49-F238E27FC236}">
                <a16:creationId xmlns:a16="http://schemas.microsoft.com/office/drawing/2014/main" id="{5F267463-9943-4BCA-AECD-70D0223E452B}"/>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3" name="$6">
            <a:extLst>
              <a:ext uri="{FF2B5EF4-FFF2-40B4-BE49-F238E27FC236}">
                <a16:creationId xmlns:a16="http://schemas.microsoft.com/office/drawing/2014/main" id="{29C8B76D-F654-4A66-A33D-416C697D7A20}"/>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14" name="line">
            <a:extLst>
              <a:ext uri="{FF2B5EF4-FFF2-40B4-BE49-F238E27FC236}">
                <a16:creationId xmlns:a16="http://schemas.microsoft.com/office/drawing/2014/main" id="{63CAA5B5-F5C9-4F65-89BB-B1B32C7A6E62}"/>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5" name="$12">
            <a:extLst>
              <a:ext uri="{FF2B5EF4-FFF2-40B4-BE49-F238E27FC236}">
                <a16:creationId xmlns:a16="http://schemas.microsoft.com/office/drawing/2014/main" id="{E4E94172-4C49-4923-9DBF-567B04A49D4D}"/>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16" name="line">
            <a:extLst>
              <a:ext uri="{FF2B5EF4-FFF2-40B4-BE49-F238E27FC236}">
                <a16:creationId xmlns:a16="http://schemas.microsoft.com/office/drawing/2014/main" id="{E582CF60-6830-46D8-A843-8C5771966FE7}"/>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15">
            <a:extLst>
              <a:ext uri="{FF2B5EF4-FFF2-40B4-BE49-F238E27FC236}">
                <a16:creationId xmlns:a16="http://schemas.microsoft.com/office/drawing/2014/main" id="{41444695-B753-4386-BB58-F7383CBD777A}"/>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18" name="line">
            <a:extLst>
              <a:ext uri="{FF2B5EF4-FFF2-40B4-BE49-F238E27FC236}">
                <a16:creationId xmlns:a16="http://schemas.microsoft.com/office/drawing/2014/main" id="{FB51FDF6-7F37-4EA1-9412-90681DBD9FC9}"/>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18">
            <a:extLst>
              <a:ext uri="{FF2B5EF4-FFF2-40B4-BE49-F238E27FC236}">
                <a16:creationId xmlns:a16="http://schemas.microsoft.com/office/drawing/2014/main" id="{B44A55B0-790C-4769-A97D-373D5F314BEB}"/>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0" name="line">
            <a:extLst>
              <a:ext uri="{FF2B5EF4-FFF2-40B4-BE49-F238E27FC236}">
                <a16:creationId xmlns:a16="http://schemas.microsoft.com/office/drawing/2014/main" id="{7D37E464-32E8-4FBC-9470-411610085184}"/>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21">
            <a:extLst>
              <a:ext uri="{FF2B5EF4-FFF2-40B4-BE49-F238E27FC236}">
                <a16:creationId xmlns:a16="http://schemas.microsoft.com/office/drawing/2014/main" id="{3C51E526-EE45-4307-B4BF-67E936D82835}"/>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2" name="line">
            <a:extLst>
              <a:ext uri="{FF2B5EF4-FFF2-40B4-BE49-F238E27FC236}">
                <a16:creationId xmlns:a16="http://schemas.microsoft.com/office/drawing/2014/main" id="{4EF592B3-935D-4AC8-85D1-1B26E4D3B993}"/>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24">
            <a:extLst>
              <a:ext uri="{FF2B5EF4-FFF2-40B4-BE49-F238E27FC236}">
                <a16:creationId xmlns:a16="http://schemas.microsoft.com/office/drawing/2014/main" id="{42217978-750D-485B-92F8-3147946D24EA}"/>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24" name="line">
            <a:extLst>
              <a:ext uri="{FF2B5EF4-FFF2-40B4-BE49-F238E27FC236}">
                <a16:creationId xmlns:a16="http://schemas.microsoft.com/office/drawing/2014/main" id="{A0BF7D81-762B-4612-BADB-712436A8F6A5}"/>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5" name="0">
            <a:extLst>
              <a:ext uri="{FF2B5EF4-FFF2-40B4-BE49-F238E27FC236}">
                <a16:creationId xmlns:a16="http://schemas.microsoft.com/office/drawing/2014/main" id="{896E2BDE-4C8B-4F14-9006-E59E753AB6D4}"/>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26" name="line">
            <a:extLst>
              <a:ext uri="{FF2B5EF4-FFF2-40B4-BE49-F238E27FC236}">
                <a16:creationId xmlns:a16="http://schemas.microsoft.com/office/drawing/2014/main" id="{0078D44B-A1E1-434A-987C-C21E79EF2BDE}"/>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7" name="1">
            <a:extLst>
              <a:ext uri="{FF2B5EF4-FFF2-40B4-BE49-F238E27FC236}">
                <a16:creationId xmlns:a16="http://schemas.microsoft.com/office/drawing/2014/main" id="{E3F804AF-F6D4-4562-ABFD-201FA0959084}"/>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28" name="line">
            <a:extLst>
              <a:ext uri="{FF2B5EF4-FFF2-40B4-BE49-F238E27FC236}">
                <a16:creationId xmlns:a16="http://schemas.microsoft.com/office/drawing/2014/main" id="{D0077A8E-2515-40C0-9C7E-243584FB0E17}"/>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29" name="2">
            <a:extLst>
              <a:ext uri="{FF2B5EF4-FFF2-40B4-BE49-F238E27FC236}">
                <a16:creationId xmlns:a16="http://schemas.microsoft.com/office/drawing/2014/main" id="{11470F3C-9192-42BE-8524-5067AD282CD7}"/>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0" name="line">
            <a:extLst>
              <a:ext uri="{FF2B5EF4-FFF2-40B4-BE49-F238E27FC236}">
                <a16:creationId xmlns:a16="http://schemas.microsoft.com/office/drawing/2014/main" id="{329131A1-DCC5-401E-8606-A8C8A24699CD}"/>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3">
            <a:extLst>
              <a:ext uri="{FF2B5EF4-FFF2-40B4-BE49-F238E27FC236}">
                <a16:creationId xmlns:a16="http://schemas.microsoft.com/office/drawing/2014/main" id="{AF54B842-7A17-4965-BEAA-DE4B7AE9440B}"/>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2" name="line">
            <a:extLst>
              <a:ext uri="{FF2B5EF4-FFF2-40B4-BE49-F238E27FC236}">
                <a16:creationId xmlns:a16="http://schemas.microsoft.com/office/drawing/2014/main" id="{3359D96F-9C50-4DA9-90AB-6C4399BE4A23}"/>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4">
            <a:extLst>
              <a:ext uri="{FF2B5EF4-FFF2-40B4-BE49-F238E27FC236}">
                <a16:creationId xmlns:a16="http://schemas.microsoft.com/office/drawing/2014/main" id="{27EF4D9B-C4F7-46FB-847B-CBCE413ACED6}"/>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34" name="line">
            <a:extLst>
              <a:ext uri="{FF2B5EF4-FFF2-40B4-BE49-F238E27FC236}">
                <a16:creationId xmlns:a16="http://schemas.microsoft.com/office/drawing/2014/main" id="{EF543F4E-624C-4931-AB5A-D900140612D8}"/>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5">
            <a:extLst>
              <a:ext uri="{FF2B5EF4-FFF2-40B4-BE49-F238E27FC236}">
                <a16:creationId xmlns:a16="http://schemas.microsoft.com/office/drawing/2014/main" id="{C140A09E-C513-4608-A3BA-E447F8B8E188}"/>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36" name="Quantity (Cases of Alani)">
            <a:extLst>
              <a:ext uri="{FF2B5EF4-FFF2-40B4-BE49-F238E27FC236}">
                <a16:creationId xmlns:a16="http://schemas.microsoft.com/office/drawing/2014/main" id="{5A5DEB67-134E-4813-9364-2FF989C3E4D3}"/>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37" name="line">
            <a:extLst>
              <a:ext uri="{FF2B5EF4-FFF2-40B4-BE49-F238E27FC236}">
                <a16:creationId xmlns:a16="http://schemas.microsoft.com/office/drawing/2014/main" id="{6EA0212B-7AAE-4961-A142-EDF4C89155AD}"/>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38" name="Market price = $15">
            <a:extLst>
              <a:ext uri="{FF2B5EF4-FFF2-40B4-BE49-F238E27FC236}">
                <a16:creationId xmlns:a16="http://schemas.microsoft.com/office/drawing/2014/main" id="{FC97F8F7-29CC-43C1-8816-4813915AA1E1}"/>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39" name="line">
            <a:extLst>
              <a:ext uri="{FF2B5EF4-FFF2-40B4-BE49-F238E27FC236}">
                <a16:creationId xmlns:a16="http://schemas.microsoft.com/office/drawing/2014/main" id="{DAA8202D-ACCF-4511-ABCC-6B6F8E028196}"/>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0" name="Amanda: $21">
            <a:extLst>
              <a:ext uri="{FF2B5EF4-FFF2-40B4-BE49-F238E27FC236}">
                <a16:creationId xmlns:a16="http://schemas.microsoft.com/office/drawing/2014/main" id="{B4BBBF7F-BDB8-4E4C-AA72-5C2A7B82F21F}"/>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1" name="Amanda">
            <a:extLst>
              <a:ext uri="{FF2B5EF4-FFF2-40B4-BE49-F238E27FC236}">
                <a16:creationId xmlns:a16="http://schemas.microsoft.com/office/drawing/2014/main" id="{1638958D-CD19-4F5B-A209-788ED7200C29}"/>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2" name="$21 − $15 = $6">
            <a:extLst>
              <a:ext uri="{FF2B5EF4-FFF2-40B4-BE49-F238E27FC236}">
                <a16:creationId xmlns:a16="http://schemas.microsoft.com/office/drawing/2014/main" id="{24E855AC-C94E-4E33-B987-BED55416CB2A}"/>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3" name="line">
            <a:extLst>
              <a:ext uri="{FF2B5EF4-FFF2-40B4-BE49-F238E27FC236}">
                <a16:creationId xmlns:a16="http://schemas.microsoft.com/office/drawing/2014/main" id="{62E751B6-C0F2-4FFD-8748-FDD0FF2BF657}"/>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44" name="line">
            <a:extLst>
              <a:ext uri="{FF2B5EF4-FFF2-40B4-BE49-F238E27FC236}">
                <a16:creationId xmlns:a16="http://schemas.microsoft.com/office/drawing/2014/main" id="{9171A2A2-8560-4BE7-A783-8841FAB702EE}"/>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45" name="line">
            <a:extLst>
              <a:ext uri="{FF2B5EF4-FFF2-40B4-BE49-F238E27FC236}">
                <a16:creationId xmlns:a16="http://schemas.microsoft.com/office/drawing/2014/main" id="{F416CA25-CDB3-4D49-B6A2-539E4F7739B1}"/>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46" name="line">
            <a:extLst>
              <a:ext uri="{FF2B5EF4-FFF2-40B4-BE49-F238E27FC236}">
                <a16:creationId xmlns:a16="http://schemas.microsoft.com/office/drawing/2014/main" id="{5D6E6B12-6568-4CFF-A926-DDDDE851DF02}"/>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47" name="line">
            <a:extLst>
              <a:ext uri="{FF2B5EF4-FFF2-40B4-BE49-F238E27FC236}">
                <a16:creationId xmlns:a16="http://schemas.microsoft.com/office/drawing/2014/main" id="{5752FA96-61A6-4CB2-AA89-03F3A893603B}"/>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8" name="line">
            <a:extLst>
              <a:ext uri="{FF2B5EF4-FFF2-40B4-BE49-F238E27FC236}">
                <a16:creationId xmlns:a16="http://schemas.microsoft.com/office/drawing/2014/main" id="{D4322ED3-3BD9-4DCC-8683-2BA77991086E}"/>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49" name="line">
            <a:extLst>
              <a:ext uri="{FF2B5EF4-FFF2-40B4-BE49-F238E27FC236}">
                <a16:creationId xmlns:a16="http://schemas.microsoft.com/office/drawing/2014/main" id="{B4361FE3-8E0A-436E-9086-511AA9BFAA30}"/>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0" name="line">
            <a:extLst>
              <a:ext uri="{FF2B5EF4-FFF2-40B4-BE49-F238E27FC236}">
                <a16:creationId xmlns:a16="http://schemas.microsoft.com/office/drawing/2014/main" id="{4CEA0037-FBE3-4547-AC6F-63BED29CCA20}"/>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1" name="Hannah: $18">
            <a:extLst>
              <a:ext uri="{FF2B5EF4-FFF2-40B4-BE49-F238E27FC236}">
                <a16:creationId xmlns:a16="http://schemas.microsoft.com/office/drawing/2014/main" id="{DECFAC8B-FEE2-4993-AF2A-B21C3B195ACD}"/>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2" name="Hannah">
            <a:extLst>
              <a:ext uri="{FF2B5EF4-FFF2-40B4-BE49-F238E27FC236}">
                <a16:creationId xmlns:a16="http://schemas.microsoft.com/office/drawing/2014/main" id="{F0A60F7E-ED0B-44B7-B57C-A38C25828A9A}"/>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3" name="$18 − $15 = $3">
            <a:extLst>
              <a:ext uri="{FF2B5EF4-FFF2-40B4-BE49-F238E27FC236}">
                <a16:creationId xmlns:a16="http://schemas.microsoft.com/office/drawing/2014/main" id="{7BFD9353-B85A-4836-A50F-CD07BBC486CD}"/>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54" name="line">
            <a:extLst>
              <a:ext uri="{FF2B5EF4-FFF2-40B4-BE49-F238E27FC236}">
                <a16:creationId xmlns:a16="http://schemas.microsoft.com/office/drawing/2014/main" id="{C12908CA-EA8A-40BA-A571-03FE422F0FEE}"/>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87730E33-394D-4326-96D8-53BE35B28099}"/>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6" name="line">
            <a:extLst>
              <a:ext uri="{FF2B5EF4-FFF2-40B4-BE49-F238E27FC236}">
                <a16:creationId xmlns:a16="http://schemas.microsoft.com/office/drawing/2014/main" id="{1D4DEAD0-7092-4C3C-AE03-558B5B83B4DD}"/>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7" name="line">
            <a:extLst>
              <a:ext uri="{FF2B5EF4-FFF2-40B4-BE49-F238E27FC236}">
                <a16:creationId xmlns:a16="http://schemas.microsoft.com/office/drawing/2014/main" id="{53B0630E-59D3-4BB8-A847-F5DC62245506}"/>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58" name="line">
            <a:extLst>
              <a:ext uri="{FF2B5EF4-FFF2-40B4-BE49-F238E27FC236}">
                <a16:creationId xmlns:a16="http://schemas.microsoft.com/office/drawing/2014/main" id="{471F5C25-4773-4803-B91E-1CCB653D9EB9}"/>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9" name="line">
            <a:extLst>
              <a:ext uri="{FF2B5EF4-FFF2-40B4-BE49-F238E27FC236}">
                <a16:creationId xmlns:a16="http://schemas.microsoft.com/office/drawing/2014/main" id="{4222AE2C-E072-4006-A6AB-DA5E1B584AE6}"/>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0" name="line">
            <a:extLst>
              <a:ext uri="{FF2B5EF4-FFF2-40B4-BE49-F238E27FC236}">
                <a16:creationId xmlns:a16="http://schemas.microsoft.com/office/drawing/2014/main" id="{9D9064DF-DFC4-4D51-905B-848E0B110178}"/>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1" name="line">
            <a:extLst>
              <a:ext uri="{FF2B5EF4-FFF2-40B4-BE49-F238E27FC236}">
                <a16:creationId xmlns:a16="http://schemas.microsoft.com/office/drawing/2014/main" id="{4CFDC7A0-FBD9-4733-980B-08D925201F30}"/>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2" name="Ben: $17">
            <a:extLst>
              <a:ext uri="{FF2B5EF4-FFF2-40B4-BE49-F238E27FC236}">
                <a16:creationId xmlns:a16="http://schemas.microsoft.com/office/drawing/2014/main" id="{38D7E93F-28E4-4921-9C8C-EA5366D5EEF3}"/>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3" name="Ben">
            <a:extLst>
              <a:ext uri="{FF2B5EF4-FFF2-40B4-BE49-F238E27FC236}">
                <a16:creationId xmlns:a16="http://schemas.microsoft.com/office/drawing/2014/main" id="{CC3B47D7-2AFF-4373-BEF8-5C717F97F227}"/>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64" name="$17 − $15 = $2">
            <a:extLst>
              <a:ext uri="{FF2B5EF4-FFF2-40B4-BE49-F238E27FC236}">
                <a16:creationId xmlns:a16="http://schemas.microsoft.com/office/drawing/2014/main" id="{A53585BA-7421-4DBB-A30A-AB9B23B2DB83}"/>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65" name="line">
            <a:extLst>
              <a:ext uri="{FF2B5EF4-FFF2-40B4-BE49-F238E27FC236}">
                <a16:creationId xmlns:a16="http://schemas.microsoft.com/office/drawing/2014/main" id="{AA8BAB7C-D285-4018-B196-C6E9B522E166}"/>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FE141B40-68D3-4B79-894E-3F358A0642CF}"/>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7" name="line">
            <a:extLst>
              <a:ext uri="{FF2B5EF4-FFF2-40B4-BE49-F238E27FC236}">
                <a16:creationId xmlns:a16="http://schemas.microsoft.com/office/drawing/2014/main" id="{4C125360-9369-4D63-8179-4197048F79E6}"/>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8" name="line">
            <a:extLst>
              <a:ext uri="{FF2B5EF4-FFF2-40B4-BE49-F238E27FC236}">
                <a16:creationId xmlns:a16="http://schemas.microsoft.com/office/drawing/2014/main" id="{D2F6A5A6-CFE5-4F76-AFC2-EDA365D82B85}"/>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69" name="line">
            <a:extLst>
              <a:ext uri="{FF2B5EF4-FFF2-40B4-BE49-F238E27FC236}">
                <a16:creationId xmlns:a16="http://schemas.microsoft.com/office/drawing/2014/main" id="{5DB37918-2D4C-4E7A-843C-176EABDAFF76}"/>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0" name="line">
            <a:extLst>
              <a:ext uri="{FF2B5EF4-FFF2-40B4-BE49-F238E27FC236}">
                <a16:creationId xmlns:a16="http://schemas.microsoft.com/office/drawing/2014/main" id="{1D17385A-2B9E-44B5-A2AE-D001B1B3D1CE}"/>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1" name="line">
            <a:extLst>
              <a:ext uri="{FF2B5EF4-FFF2-40B4-BE49-F238E27FC236}">
                <a16:creationId xmlns:a16="http://schemas.microsoft.com/office/drawing/2014/main" id="{88976BEE-5BF0-45EF-923E-0F30DE468F2D}"/>
              </a:ext>
            </a:extLst>
          </p:cNvPr>
          <p:cNvSpPr>
            <a:spLocks noGrp="1"/>
          </p:cNvSpPr>
          <p:nvPr/>
        </p:nvSpPr>
        <p:spPr>
          <a:xfrm>
            <a:off x="6296025" y="2750344"/>
            <a:ext cx="9525" cy="309563"/>
          </a:xfrm>
          <a:custGeom>
            <a:avLst/>
            <a:gdLst/>
            <a:ahLst/>
            <a:cxnLst/>
            <a:rect l="0" t="0" r="0" b="0"/>
            <a:pathLst>
              <a:path w="9525" h="309563">
                <a:moveTo>
                  <a:pt x="0" y="0"/>
                </a:moveTo>
                <a:lnTo>
                  <a:pt x="0" y="309563"/>
                </a:lnTo>
              </a:path>
            </a:pathLst>
          </a:custGeom>
          <a:noFill/>
          <a:ln w="28575">
            <a:solidFill>
              <a:srgbClr val="3E7C79"/>
            </a:solidFill>
          </a:ln>
        </p:spPr>
        <p:txBody>
          <a:bodyPr/>
          <a:lstStyle/>
          <a:p>
            <a:endParaRPr/>
          </a:p>
        </p:txBody>
      </p:sp>
      <p:sp>
        <p:nvSpPr>
          <p:cNvPr id="72" name="line">
            <a:extLst>
              <a:ext uri="{FF2B5EF4-FFF2-40B4-BE49-F238E27FC236}">
                <a16:creationId xmlns:a16="http://schemas.microsoft.com/office/drawing/2014/main" id="{176AA900-4F06-4A7E-92AA-4DA432B32064}"/>
              </a:ext>
            </a:extLst>
          </p:cNvPr>
          <p:cNvSpPr>
            <a:spLocks noGrp="1"/>
          </p:cNvSpPr>
          <p:nvPr/>
        </p:nvSpPr>
        <p:spPr>
          <a:xfrm>
            <a:off x="6296025" y="3059906"/>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73" name="Alyssa: $15">
            <a:extLst>
              <a:ext uri="{FF2B5EF4-FFF2-40B4-BE49-F238E27FC236}">
                <a16:creationId xmlns:a16="http://schemas.microsoft.com/office/drawing/2014/main" id="{E4D1C0FD-1CB9-4395-AC92-FCB13FA984E7}"/>
              </a:ext>
            </a:extLst>
          </p:cNvPr>
          <p:cNvSpPr>
            <a:spLocks noGrp="1"/>
          </p:cNvSpPr>
          <p:nvPr/>
        </p:nvSpPr>
        <p:spPr>
          <a:xfrm>
            <a:off x="7934325" y="3012281"/>
            <a:ext cx="95250" cy="95250"/>
          </a:xfrm>
          <a:prstGeom prst="ellipse">
            <a:avLst/>
          </a:prstGeom>
          <a:solidFill>
            <a:srgbClr val="3E7C79"/>
          </a:solidFill>
          <a:ln w="0">
            <a:noFill/>
          </a:ln>
        </p:spPr>
        <p:txBody>
          <a:bodyPr/>
          <a:lstStyle/>
          <a:p>
            <a:endParaRPr/>
          </a:p>
        </p:txBody>
      </p:sp>
      <p:sp>
        <p:nvSpPr>
          <p:cNvPr id="74" name="Alyssa">
            <a:extLst>
              <a:ext uri="{FF2B5EF4-FFF2-40B4-BE49-F238E27FC236}">
                <a16:creationId xmlns:a16="http://schemas.microsoft.com/office/drawing/2014/main" id="{5A88D6C1-E8F6-4750-BB33-E13F5079E941}"/>
              </a:ext>
            </a:extLst>
          </p:cNvPr>
          <p:cNvSpPr>
            <a:spLocks noGrp="1"/>
          </p:cNvSpPr>
          <p:nvPr/>
        </p:nvSpPr>
        <p:spPr>
          <a:xfrm>
            <a:off x="7634288" y="2692908"/>
            <a:ext cx="69532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Alyssa</a:t>
            </a:r>
          </a:p>
        </p:txBody>
      </p:sp>
      <p:sp>
        <p:nvSpPr>
          <p:cNvPr id="75" name="$15 − $15 = $0">
            <a:extLst>
              <a:ext uri="{FF2B5EF4-FFF2-40B4-BE49-F238E27FC236}">
                <a16:creationId xmlns:a16="http://schemas.microsoft.com/office/drawing/2014/main" id="{FCD11B45-9076-42DC-911D-273CD07DA266}"/>
              </a:ext>
            </a:extLst>
          </p:cNvPr>
          <p:cNvSpPr>
            <a:spLocks noGrp="1"/>
          </p:cNvSpPr>
          <p:nvPr/>
        </p:nvSpPr>
        <p:spPr>
          <a:xfrm>
            <a:off x="8729663" y="2692908"/>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$15 − $15 = $0</a:t>
            </a:r>
          </a:p>
        </p:txBody>
      </p:sp>
      <p:sp>
        <p:nvSpPr>
          <p:cNvPr id="76" name="line">
            <a:extLst>
              <a:ext uri="{FF2B5EF4-FFF2-40B4-BE49-F238E27FC236}">
                <a16:creationId xmlns:a16="http://schemas.microsoft.com/office/drawing/2014/main" id="{C4499045-6332-4949-9C2E-F8AB4EC1AEB6}"/>
              </a:ext>
            </a:extLst>
          </p:cNvPr>
          <p:cNvSpPr>
            <a:spLocks noGrp="1"/>
          </p:cNvSpPr>
          <p:nvPr/>
        </p:nvSpPr>
        <p:spPr>
          <a:xfrm>
            <a:off x="8415338" y="2825972"/>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77" name="line">
            <a:extLst>
              <a:ext uri="{FF2B5EF4-FFF2-40B4-BE49-F238E27FC236}">
                <a16:creationId xmlns:a16="http://schemas.microsoft.com/office/drawing/2014/main" id="{23389A1C-6F97-44C4-AD9B-B0E0D80B8F30}"/>
              </a:ext>
            </a:extLst>
          </p:cNvPr>
          <p:cNvSpPr>
            <a:spLocks noGrp="1"/>
          </p:cNvSpPr>
          <p:nvPr/>
        </p:nvSpPr>
        <p:spPr>
          <a:xfrm>
            <a:off x="8565798" y="2825972"/>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78" name="line">
            <a:extLst>
              <a:ext uri="{FF2B5EF4-FFF2-40B4-BE49-F238E27FC236}">
                <a16:creationId xmlns:a16="http://schemas.microsoft.com/office/drawing/2014/main" id="{AC72B39E-D27B-4D5B-8604-08616743914D}"/>
              </a:ext>
            </a:extLst>
          </p:cNvPr>
          <p:cNvSpPr>
            <a:spLocks noGrp="1"/>
          </p:cNvSpPr>
          <p:nvPr/>
        </p:nvSpPr>
        <p:spPr>
          <a:xfrm>
            <a:off x="8565798" y="2792828"/>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79" name="line">
            <a:extLst>
              <a:ext uri="{FF2B5EF4-FFF2-40B4-BE49-F238E27FC236}">
                <a16:creationId xmlns:a16="http://schemas.microsoft.com/office/drawing/2014/main" id="{F9455309-4B69-46F0-B128-5F85FFF6985B}"/>
              </a:ext>
            </a:extLst>
          </p:cNvPr>
          <p:cNvSpPr>
            <a:spLocks noGrp="1"/>
          </p:cNvSpPr>
          <p:nvPr/>
        </p:nvSpPr>
        <p:spPr>
          <a:xfrm>
            <a:off x="7981950" y="3059906"/>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80" name="line">
            <a:extLst>
              <a:ext uri="{FF2B5EF4-FFF2-40B4-BE49-F238E27FC236}">
                <a16:creationId xmlns:a16="http://schemas.microsoft.com/office/drawing/2014/main" id="{1E135796-42DB-4E9E-AA6E-6E818D17415C}"/>
              </a:ext>
            </a:extLst>
          </p:cNvPr>
          <p:cNvSpPr>
            <a:spLocks noGrp="1"/>
          </p:cNvSpPr>
          <p:nvPr/>
        </p:nvSpPr>
        <p:spPr>
          <a:xfrm>
            <a:off x="7981950" y="3524250"/>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81" name="Brady: $12">
            <a:extLst>
              <a:ext uri="{FF2B5EF4-FFF2-40B4-BE49-F238E27FC236}">
                <a16:creationId xmlns:a16="http://schemas.microsoft.com/office/drawing/2014/main" id="{37F33A86-BBEF-48ED-AC76-5D3C1AF0271E}"/>
              </a:ext>
            </a:extLst>
          </p:cNvPr>
          <p:cNvSpPr>
            <a:spLocks noGrp="1"/>
          </p:cNvSpPr>
          <p:nvPr/>
        </p:nvSpPr>
        <p:spPr>
          <a:xfrm>
            <a:off x="9620250" y="3476625"/>
            <a:ext cx="95250" cy="95250"/>
          </a:xfrm>
          <a:prstGeom prst="ellipse">
            <a:avLst/>
          </a:prstGeom>
          <a:solidFill>
            <a:srgbClr val="3E7C79"/>
          </a:solidFill>
          <a:ln w="0">
            <a:noFill/>
          </a:ln>
        </p:spPr>
        <p:txBody>
          <a:bodyPr/>
          <a:lstStyle/>
          <a:p>
            <a:endParaRPr/>
          </a:p>
        </p:txBody>
      </p:sp>
      <p:sp>
        <p:nvSpPr>
          <p:cNvPr id="82" name="Brady">
            <a:extLst>
              <a:ext uri="{FF2B5EF4-FFF2-40B4-BE49-F238E27FC236}">
                <a16:creationId xmlns:a16="http://schemas.microsoft.com/office/drawing/2014/main" id="{0BF8A29B-2FA6-4708-9CF9-A8DABC844CC2}"/>
              </a:ext>
            </a:extLst>
          </p:cNvPr>
          <p:cNvSpPr>
            <a:spLocks noGrp="1"/>
          </p:cNvSpPr>
          <p:nvPr/>
        </p:nvSpPr>
        <p:spPr>
          <a:xfrm>
            <a:off x="9344025" y="3257550"/>
            <a:ext cx="64770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Brady</a:t>
            </a:r>
          </a:p>
        </p:txBody>
      </p:sp>
      <p:sp>
        <p:nvSpPr>
          <p:cNvPr id="83" name="No purchase">
            <a:extLst>
              <a:ext uri="{FF2B5EF4-FFF2-40B4-BE49-F238E27FC236}">
                <a16:creationId xmlns:a16="http://schemas.microsoft.com/office/drawing/2014/main" id="{F2338238-28F2-4FDE-A283-EA73E6D32817}"/>
              </a:ext>
            </a:extLst>
          </p:cNvPr>
          <p:cNvSpPr>
            <a:spLocks noGrp="1"/>
          </p:cNvSpPr>
          <p:nvPr/>
        </p:nvSpPr>
        <p:spPr>
          <a:xfrm>
            <a:off x="8715375" y="3657600"/>
            <a:ext cx="2095500" cy="276225"/>
          </a:xfrm>
          <a:prstGeom prst="rect">
            <a:avLst/>
          </a:prstGeom>
          <a:noFill/>
          <a:ln w="0">
            <a:noFill/>
          </a:ln>
        </p:spPr>
        <p:txBody>
          <a:bodyPr wrap="none" lIns="0" tIns="0" rIns="0" bIns="0">
            <a:noAutofit/>
          </a:bodyPr>
          <a:lstStyle/>
          <a:p>
            <a:pPr algn="ctr">
              <a:buNone/>
              <a:defRPr sz="1800" b="1">
                <a:solidFill>
                  <a:srgbClr val="1C2321"/>
                </a:solidFill>
                <a:latin typeface="Cambria"/>
                <a:ea typeface="Cambria"/>
                <a:cs typeface="Cambria"/>
              </a:defRPr>
            </a:pPr>
            <a:r>
              <a:rPr sz="1800" b="1">
                <a:solidFill>
                  <a:srgbClr val="1C2321"/>
                </a:solidFill>
                <a:latin typeface="Cambria"/>
                <a:ea typeface="Cambria"/>
                <a:cs typeface="Cambria"/>
              </a:rPr>
              <a:t>No purchase</a:t>
            </a:r>
          </a:p>
        </p:txBody>
      </p:sp>
      <p:sp>
        <p:nvSpPr>
          <p:cNvPr id="84" name="$0 surplus">
            <a:extLst>
              <a:ext uri="{FF2B5EF4-FFF2-40B4-BE49-F238E27FC236}">
                <a16:creationId xmlns:a16="http://schemas.microsoft.com/office/drawing/2014/main" id="{00E2B12F-EB12-428F-B98E-2BB42ECD2DCB}"/>
              </a:ext>
            </a:extLst>
          </p:cNvPr>
          <p:cNvSpPr>
            <a:spLocks noGrp="1"/>
          </p:cNvSpPr>
          <p:nvPr/>
        </p:nvSpPr>
        <p:spPr>
          <a:xfrm>
            <a:off x="8715375" y="3962400"/>
            <a:ext cx="2095500" cy="257175"/>
          </a:xfrm>
          <a:prstGeom prst="rect">
            <a:avLst/>
          </a:prstGeom>
          <a:noFill/>
          <a:ln w="0">
            <a:noFill/>
          </a:ln>
        </p:spPr>
        <p:txBody>
          <a:bodyPr wrap="none" lIns="0" tIns="0" rIns="0" bIns="0">
            <a:noAutofit/>
          </a:bodyPr>
          <a:lstStyle/>
          <a:p>
            <a:pPr algn="ctr">
              <a:buNone/>
              <a:defRPr sz="1650" b="0">
                <a:solidFill>
                  <a:srgbClr val="51605E"/>
                </a:solidFill>
                <a:latin typeface="Cambria"/>
                <a:ea typeface="Cambria"/>
                <a:cs typeface="Cambria"/>
              </a:defRPr>
            </a:pPr>
            <a:r>
              <a:rPr sz="1650" b="0">
                <a:solidFill>
                  <a:srgbClr val="51605E"/>
                </a:solidFill>
                <a:latin typeface="Cambria"/>
                <a:ea typeface="Cambria"/>
                <a:cs typeface="Cambria"/>
              </a:rPr>
              <a:t>$0 surplus</a:t>
            </a:r>
          </a:p>
        </p:txBody>
      </p:sp>
      <p:sp>
        <p:nvSpPr>
          <p:cNvPr id="85" name="Demand">
            <a:extLst>
              <a:ext uri="{FF2B5EF4-FFF2-40B4-BE49-F238E27FC236}">
                <a16:creationId xmlns:a16="http://schemas.microsoft.com/office/drawing/2014/main" id="{9536852B-9049-4850-B3F9-5131DB67F7C9}"/>
              </a:ext>
            </a:extLst>
          </p:cNvPr>
          <p:cNvSpPr>
            <a:spLocks noGrp="1"/>
          </p:cNvSpPr>
          <p:nvPr/>
        </p:nvSpPr>
        <p:spPr>
          <a:xfrm>
            <a:off x="9810750" y="4324350"/>
            <a:ext cx="1428750" cy="285750"/>
          </a:xfrm>
          <a:prstGeom prst="rect">
            <a:avLst/>
          </a:prstGeom>
          <a:noFill/>
          <a:ln w="0">
            <a:noFill/>
          </a:ln>
        </p:spPr>
        <p:txBody>
          <a:bodyPr wrap="none" lIns="0" tIns="0" rIns="0" bIns="0">
            <a:noAutofit/>
          </a:bodyPr>
          <a:lstStyle/>
          <a:p>
            <a:pPr algn="l">
              <a:buNone/>
              <a:defRPr sz="1875" b="1">
                <a:solidFill>
                  <a:srgbClr val="3E7C79"/>
                </a:solidFill>
                <a:latin typeface="Cambria"/>
                <a:ea typeface="Cambria"/>
                <a:cs typeface="Cambria"/>
              </a:defRPr>
            </a:pPr>
            <a:r>
              <a:rPr sz="1875" b="1">
                <a:solidFill>
                  <a:srgbClr val="3E7C79"/>
                </a:solidFill>
                <a:latin typeface="Cambria"/>
                <a:ea typeface="Cambria"/>
                <a:cs typeface="Cambria"/>
              </a:rPr>
              <a:t>Demand</a:t>
            </a:r>
          </a:p>
        </p:txBody>
      </p:sp>
    </p:spTree>
    <p:extLst>
      <p:ext uri="{BB962C8B-B14F-4D97-AF65-F5344CB8AC3E}">
        <p14:creationId xmlns:p14="http://schemas.microsoft.com/office/powerpoint/2010/main" val="32232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64E534-7D9F-4435-8AE5-0D1A821C806C}"/>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6C5B6E18-65DF-4902-A84C-FB94BAD215E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QUESTION 2</a:t>
            </a:r>
            <a:endParaRPr sz="1300"/>
          </a:p>
        </p:txBody>
      </p:sp>
      <p:sp>
        <p:nvSpPr>
          <p:cNvPr id="4" name="Text 2">
            <a:extLst>
              <a:ext uri="{FF2B5EF4-FFF2-40B4-BE49-F238E27FC236}">
                <a16:creationId xmlns:a16="http://schemas.microsoft.com/office/drawing/2014/main" id="{DBC68592-8B64-41D2-8CD0-EFD2E7DAC835}"/>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C88C697-DE6E-436E-BA3D-5596CD9141AA}"/>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19</a:t>
            </a:r>
            <a:endParaRPr sz="1000"/>
          </a:p>
        </p:txBody>
      </p:sp>
      <p:sp>
        <p:nvSpPr>
          <p:cNvPr id="6" name="Text 4">
            <a:extLst>
              <a:ext uri="{FF2B5EF4-FFF2-40B4-BE49-F238E27FC236}">
                <a16:creationId xmlns:a16="http://schemas.microsoft.com/office/drawing/2014/main" id="{951145FF-3F15-4A2A-8972-F2F233A68B9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Surplus rectangle 1: $6">
            <a:extLst>
              <a:ext uri="{FF2B5EF4-FFF2-40B4-BE49-F238E27FC236}">
                <a16:creationId xmlns:a16="http://schemas.microsoft.com/office/drawing/2014/main" id="{5D8B48AA-0B94-435F-9B46-D4C3A192C5DF}"/>
              </a:ext>
            </a:extLst>
          </p:cNvPr>
          <p:cNvSpPr>
            <a:spLocks noGrp="1"/>
          </p:cNvSpPr>
          <p:nvPr/>
        </p:nvSpPr>
        <p:spPr>
          <a:xfrm>
            <a:off x="1238250" y="2131219"/>
            <a:ext cx="1685925" cy="928688"/>
          </a:xfrm>
          <a:prstGeom prst="rect">
            <a:avLst/>
          </a:prstGeom>
          <a:solidFill>
            <a:srgbClr val="DCEAE8"/>
          </a:solidFill>
          <a:ln w="0">
            <a:noFill/>
          </a:ln>
        </p:spPr>
        <p:txBody>
          <a:bodyPr/>
          <a:lstStyle/>
          <a:p>
            <a:endParaRPr/>
          </a:p>
        </p:txBody>
      </p:sp>
      <p:sp>
        <p:nvSpPr>
          <p:cNvPr id="8" name="$6">
            <a:extLst>
              <a:ext uri="{FF2B5EF4-FFF2-40B4-BE49-F238E27FC236}">
                <a16:creationId xmlns:a16="http://schemas.microsoft.com/office/drawing/2014/main" id="{1B01A545-2C29-4B74-9F9C-C21ABEDA9386}"/>
              </a:ext>
            </a:extLst>
          </p:cNvPr>
          <p:cNvSpPr>
            <a:spLocks noGrp="1"/>
          </p:cNvSpPr>
          <p:nvPr/>
        </p:nvSpPr>
        <p:spPr>
          <a:xfrm>
            <a:off x="1619250" y="2462213"/>
            <a:ext cx="904875" cy="285750"/>
          </a:xfrm>
          <a:prstGeom prst="rect">
            <a:avLst/>
          </a:prstGeom>
          <a:noFill/>
          <a:ln w="0">
            <a:noFill/>
          </a:ln>
        </p:spPr>
        <p:txBody>
          <a:bodyPr wrap="none" lIns="0" tIns="0" rIns="0" bIns="0">
            <a:noAutofit/>
          </a:bodyPr>
          <a:lstStyle/>
          <a:p>
            <a:pPr algn="ctr">
              <a:buNone/>
              <a:defRPr sz="1725" b="1">
                <a:solidFill>
                  <a:srgbClr val="3E7C79"/>
                </a:solidFill>
                <a:latin typeface="Cambria"/>
                <a:ea typeface="Cambria"/>
                <a:cs typeface="Cambria"/>
              </a:defRPr>
            </a:pPr>
            <a:r>
              <a:rPr sz="1725" b="1">
                <a:solidFill>
                  <a:srgbClr val="3E7C79"/>
                </a:solidFill>
                <a:latin typeface="Cambria"/>
                <a:ea typeface="Cambria"/>
                <a:cs typeface="Cambria"/>
              </a:rPr>
              <a:t>$6</a:t>
            </a:r>
          </a:p>
        </p:txBody>
      </p:sp>
      <p:sp>
        <p:nvSpPr>
          <p:cNvPr id="9" name="Surplus rectangle 2: $3">
            <a:extLst>
              <a:ext uri="{FF2B5EF4-FFF2-40B4-BE49-F238E27FC236}">
                <a16:creationId xmlns:a16="http://schemas.microsoft.com/office/drawing/2014/main" id="{7A279200-9C94-4A5D-BFC4-C944E2A05358}"/>
              </a:ext>
            </a:extLst>
          </p:cNvPr>
          <p:cNvSpPr>
            <a:spLocks noGrp="1"/>
          </p:cNvSpPr>
          <p:nvPr/>
        </p:nvSpPr>
        <p:spPr>
          <a:xfrm>
            <a:off x="2924175" y="2595563"/>
            <a:ext cx="1685925" cy="464344"/>
          </a:xfrm>
          <a:prstGeom prst="rect">
            <a:avLst/>
          </a:prstGeom>
          <a:solidFill>
            <a:srgbClr val="DCEAE8"/>
          </a:solidFill>
          <a:ln w="0">
            <a:noFill/>
          </a:ln>
        </p:spPr>
        <p:txBody>
          <a:bodyPr/>
          <a:lstStyle/>
          <a:p>
            <a:endParaRPr/>
          </a:p>
        </p:txBody>
      </p:sp>
      <p:sp>
        <p:nvSpPr>
          <p:cNvPr id="10" name="$3">
            <a:extLst>
              <a:ext uri="{FF2B5EF4-FFF2-40B4-BE49-F238E27FC236}">
                <a16:creationId xmlns:a16="http://schemas.microsoft.com/office/drawing/2014/main" id="{58064E4B-F223-4F70-87F3-08645786C94A}"/>
              </a:ext>
            </a:extLst>
          </p:cNvPr>
          <p:cNvSpPr>
            <a:spLocks noGrp="1"/>
          </p:cNvSpPr>
          <p:nvPr/>
        </p:nvSpPr>
        <p:spPr>
          <a:xfrm>
            <a:off x="3305175" y="2694384"/>
            <a:ext cx="904875" cy="285750"/>
          </a:xfrm>
          <a:prstGeom prst="rect">
            <a:avLst/>
          </a:prstGeom>
          <a:noFill/>
          <a:ln w="0">
            <a:noFill/>
          </a:ln>
        </p:spPr>
        <p:txBody>
          <a:bodyPr wrap="none" lIns="0" tIns="0" rIns="0" bIns="0">
            <a:noAutofit/>
          </a:bodyPr>
          <a:lstStyle/>
          <a:p>
            <a:pPr algn="ctr">
              <a:buNone/>
              <a:defRPr sz="1725" b="1">
                <a:solidFill>
                  <a:srgbClr val="3E7C79"/>
                </a:solidFill>
                <a:latin typeface="Cambria"/>
                <a:ea typeface="Cambria"/>
                <a:cs typeface="Cambria"/>
              </a:defRPr>
            </a:pPr>
            <a:r>
              <a:rPr sz="1725" b="1">
                <a:solidFill>
                  <a:srgbClr val="3E7C79"/>
                </a:solidFill>
                <a:latin typeface="Cambria"/>
                <a:ea typeface="Cambria"/>
                <a:cs typeface="Cambria"/>
              </a:rPr>
              <a:t>$3</a:t>
            </a:r>
          </a:p>
        </p:txBody>
      </p:sp>
      <p:sp>
        <p:nvSpPr>
          <p:cNvPr id="11" name="Surplus rectangle 3: $2">
            <a:extLst>
              <a:ext uri="{FF2B5EF4-FFF2-40B4-BE49-F238E27FC236}">
                <a16:creationId xmlns:a16="http://schemas.microsoft.com/office/drawing/2014/main" id="{92029BCA-4BE2-49EA-ACBD-85DD6F633126}"/>
              </a:ext>
            </a:extLst>
          </p:cNvPr>
          <p:cNvSpPr>
            <a:spLocks noGrp="1"/>
          </p:cNvSpPr>
          <p:nvPr/>
        </p:nvSpPr>
        <p:spPr>
          <a:xfrm>
            <a:off x="4610100" y="2750344"/>
            <a:ext cx="1685925" cy="309563"/>
          </a:xfrm>
          <a:prstGeom prst="rect">
            <a:avLst/>
          </a:prstGeom>
          <a:solidFill>
            <a:srgbClr val="DCEAE8"/>
          </a:solidFill>
          <a:ln w="0">
            <a:noFill/>
          </a:ln>
        </p:spPr>
        <p:txBody>
          <a:bodyPr/>
          <a:lstStyle/>
          <a:p>
            <a:endParaRPr/>
          </a:p>
        </p:txBody>
      </p:sp>
      <p:sp>
        <p:nvSpPr>
          <p:cNvPr id="12" name="$2">
            <a:extLst>
              <a:ext uri="{FF2B5EF4-FFF2-40B4-BE49-F238E27FC236}">
                <a16:creationId xmlns:a16="http://schemas.microsoft.com/office/drawing/2014/main" id="{92A08449-A052-40FD-816F-41CD948A4632}"/>
              </a:ext>
            </a:extLst>
          </p:cNvPr>
          <p:cNvSpPr>
            <a:spLocks noGrp="1"/>
          </p:cNvSpPr>
          <p:nvPr/>
        </p:nvSpPr>
        <p:spPr>
          <a:xfrm>
            <a:off x="4991100" y="2771775"/>
            <a:ext cx="904875" cy="285750"/>
          </a:xfrm>
          <a:prstGeom prst="rect">
            <a:avLst/>
          </a:prstGeom>
          <a:noFill/>
          <a:ln w="0">
            <a:noFill/>
          </a:ln>
        </p:spPr>
        <p:txBody>
          <a:bodyPr wrap="none" lIns="0" tIns="0" rIns="0" bIns="0">
            <a:noAutofit/>
          </a:bodyPr>
          <a:lstStyle/>
          <a:p>
            <a:pPr algn="ctr">
              <a:buNone/>
              <a:defRPr sz="1725" b="1">
                <a:solidFill>
                  <a:srgbClr val="3E7C79"/>
                </a:solidFill>
                <a:latin typeface="Cambria"/>
                <a:ea typeface="Cambria"/>
                <a:cs typeface="Cambria"/>
              </a:defRPr>
            </a:pPr>
            <a:r>
              <a:rPr sz="1725" b="1">
                <a:solidFill>
                  <a:srgbClr val="3E7C79"/>
                </a:solidFill>
                <a:latin typeface="Cambria"/>
                <a:ea typeface="Cambria"/>
                <a:cs typeface="Cambria"/>
              </a:rPr>
              <a:t>$2</a:t>
            </a:r>
          </a:p>
        </p:txBody>
      </p:sp>
      <p:sp>
        <p:nvSpPr>
          <p:cNvPr id="13" name="line">
            <a:extLst>
              <a:ext uri="{FF2B5EF4-FFF2-40B4-BE49-F238E27FC236}">
                <a16:creationId xmlns:a16="http://schemas.microsoft.com/office/drawing/2014/main" id="{B8560C91-F6F3-475A-93EB-3D6FECDD252E}"/>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14" name="line">
            <a:extLst>
              <a:ext uri="{FF2B5EF4-FFF2-40B4-BE49-F238E27FC236}">
                <a16:creationId xmlns:a16="http://schemas.microsoft.com/office/drawing/2014/main" id="{8AE543B7-8CF8-485E-BF80-D7ED7CC3A753}"/>
              </a:ext>
            </a:extLst>
          </p:cNvPr>
          <p:cNvSpPr>
            <a:spLocks noGrp="1"/>
          </p:cNvSpPr>
          <p:nvPr/>
        </p:nvSpPr>
        <p:spPr>
          <a:xfrm>
            <a:off x="1238250" y="5381625"/>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15" name="Price">
            <a:extLst>
              <a:ext uri="{FF2B5EF4-FFF2-40B4-BE49-F238E27FC236}">
                <a16:creationId xmlns:a16="http://schemas.microsoft.com/office/drawing/2014/main" id="{4A871161-872E-4158-AFAD-B52413A1D392}"/>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16" name="line">
            <a:extLst>
              <a:ext uri="{FF2B5EF4-FFF2-40B4-BE49-F238E27FC236}">
                <a16:creationId xmlns:a16="http://schemas.microsoft.com/office/drawing/2014/main" id="{9E97EE17-B103-4AEA-9836-718FA954CEAF}"/>
              </a:ext>
            </a:extLst>
          </p:cNvPr>
          <p:cNvSpPr>
            <a:spLocks noGrp="1"/>
          </p:cNvSpPr>
          <p:nvPr/>
        </p:nvSpPr>
        <p:spPr>
          <a:xfrm>
            <a:off x="1162050" y="538162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0">
            <a:extLst>
              <a:ext uri="{FF2B5EF4-FFF2-40B4-BE49-F238E27FC236}">
                <a16:creationId xmlns:a16="http://schemas.microsoft.com/office/drawing/2014/main" id="{587219F1-38BF-4D62-8216-5FC25203235D}"/>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8" name="line">
            <a:extLst>
              <a:ext uri="{FF2B5EF4-FFF2-40B4-BE49-F238E27FC236}">
                <a16:creationId xmlns:a16="http://schemas.microsoft.com/office/drawing/2014/main" id="{8ADC2AFC-9726-4693-B52C-78ECCDDD5207}"/>
              </a:ext>
            </a:extLst>
          </p:cNvPr>
          <p:cNvSpPr>
            <a:spLocks noGrp="1"/>
          </p:cNvSpPr>
          <p:nvPr/>
        </p:nvSpPr>
        <p:spPr>
          <a:xfrm>
            <a:off x="1162050" y="445293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6">
            <a:extLst>
              <a:ext uri="{FF2B5EF4-FFF2-40B4-BE49-F238E27FC236}">
                <a16:creationId xmlns:a16="http://schemas.microsoft.com/office/drawing/2014/main" id="{F8375D46-F06D-4FCD-B45B-BD8063B3D455}"/>
              </a:ext>
            </a:extLst>
          </p:cNvPr>
          <p:cNvSpPr>
            <a:spLocks noGrp="1"/>
          </p:cNvSpPr>
          <p:nvPr/>
        </p:nvSpPr>
        <p:spPr>
          <a:xfrm>
            <a:off x="600075" y="432911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$6</a:t>
            </a:r>
          </a:p>
        </p:txBody>
      </p:sp>
      <p:sp>
        <p:nvSpPr>
          <p:cNvPr id="20" name="line">
            <a:extLst>
              <a:ext uri="{FF2B5EF4-FFF2-40B4-BE49-F238E27FC236}">
                <a16:creationId xmlns:a16="http://schemas.microsoft.com/office/drawing/2014/main" id="{E44049BF-4EBB-406A-8DD3-6C9D171A8BD9}"/>
              </a:ext>
            </a:extLst>
          </p:cNvPr>
          <p:cNvSpPr>
            <a:spLocks noGrp="1"/>
          </p:cNvSpPr>
          <p:nvPr/>
        </p:nvSpPr>
        <p:spPr>
          <a:xfrm>
            <a:off x="1162050" y="352425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12">
            <a:extLst>
              <a:ext uri="{FF2B5EF4-FFF2-40B4-BE49-F238E27FC236}">
                <a16:creationId xmlns:a16="http://schemas.microsoft.com/office/drawing/2014/main" id="{982ECCDF-D717-4E21-AC16-5145CBE3CE41}"/>
              </a:ext>
            </a:extLst>
          </p:cNvPr>
          <p:cNvSpPr>
            <a:spLocks noGrp="1"/>
          </p:cNvSpPr>
          <p:nvPr/>
        </p:nvSpPr>
        <p:spPr>
          <a:xfrm>
            <a:off x="600075" y="3400425"/>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$12</a:t>
            </a:r>
          </a:p>
        </p:txBody>
      </p:sp>
      <p:sp>
        <p:nvSpPr>
          <p:cNvPr id="22" name="line">
            <a:extLst>
              <a:ext uri="{FF2B5EF4-FFF2-40B4-BE49-F238E27FC236}">
                <a16:creationId xmlns:a16="http://schemas.microsoft.com/office/drawing/2014/main" id="{3083B136-624B-45DA-B7DF-F6E68D20DAF1}"/>
              </a:ext>
            </a:extLst>
          </p:cNvPr>
          <p:cNvSpPr>
            <a:spLocks noGrp="1"/>
          </p:cNvSpPr>
          <p:nvPr/>
        </p:nvSpPr>
        <p:spPr>
          <a:xfrm>
            <a:off x="1162050" y="305990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15">
            <a:extLst>
              <a:ext uri="{FF2B5EF4-FFF2-40B4-BE49-F238E27FC236}">
                <a16:creationId xmlns:a16="http://schemas.microsoft.com/office/drawing/2014/main" id="{B00B83BB-A32C-40F4-95FD-881FB36BF4FE}"/>
              </a:ext>
            </a:extLst>
          </p:cNvPr>
          <p:cNvSpPr>
            <a:spLocks noGrp="1"/>
          </p:cNvSpPr>
          <p:nvPr/>
        </p:nvSpPr>
        <p:spPr>
          <a:xfrm>
            <a:off x="600075" y="293608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24" name="line">
            <a:extLst>
              <a:ext uri="{FF2B5EF4-FFF2-40B4-BE49-F238E27FC236}">
                <a16:creationId xmlns:a16="http://schemas.microsoft.com/office/drawing/2014/main" id="{031AE851-64E6-4D3F-ABE2-12565B8C786A}"/>
              </a:ext>
            </a:extLst>
          </p:cNvPr>
          <p:cNvSpPr>
            <a:spLocks noGrp="1"/>
          </p:cNvSpPr>
          <p:nvPr/>
        </p:nvSpPr>
        <p:spPr>
          <a:xfrm>
            <a:off x="1162050" y="2595563"/>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5" name="$18">
            <a:extLst>
              <a:ext uri="{FF2B5EF4-FFF2-40B4-BE49-F238E27FC236}">
                <a16:creationId xmlns:a16="http://schemas.microsoft.com/office/drawing/2014/main" id="{F74BC97E-4150-4FCF-97FD-2D56209A2740}"/>
              </a:ext>
            </a:extLst>
          </p:cNvPr>
          <p:cNvSpPr>
            <a:spLocks noGrp="1"/>
          </p:cNvSpPr>
          <p:nvPr/>
        </p:nvSpPr>
        <p:spPr>
          <a:xfrm>
            <a:off x="600075" y="2471738"/>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$18</a:t>
            </a:r>
          </a:p>
        </p:txBody>
      </p:sp>
      <p:sp>
        <p:nvSpPr>
          <p:cNvPr id="26" name="line">
            <a:extLst>
              <a:ext uri="{FF2B5EF4-FFF2-40B4-BE49-F238E27FC236}">
                <a16:creationId xmlns:a16="http://schemas.microsoft.com/office/drawing/2014/main" id="{2F0BF88E-9D6A-42FC-8391-B8D3CC2F8448}"/>
              </a:ext>
            </a:extLst>
          </p:cNvPr>
          <p:cNvSpPr>
            <a:spLocks noGrp="1"/>
          </p:cNvSpPr>
          <p:nvPr/>
        </p:nvSpPr>
        <p:spPr>
          <a:xfrm>
            <a:off x="1162050" y="2131219"/>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7" name="$21">
            <a:extLst>
              <a:ext uri="{FF2B5EF4-FFF2-40B4-BE49-F238E27FC236}">
                <a16:creationId xmlns:a16="http://schemas.microsoft.com/office/drawing/2014/main" id="{D3961D3D-5147-4750-83C0-08A8A3381F0C}"/>
              </a:ext>
            </a:extLst>
          </p:cNvPr>
          <p:cNvSpPr>
            <a:spLocks noGrp="1"/>
          </p:cNvSpPr>
          <p:nvPr/>
        </p:nvSpPr>
        <p:spPr>
          <a:xfrm>
            <a:off x="600075" y="200739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$21</a:t>
            </a:r>
          </a:p>
        </p:txBody>
      </p:sp>
      <p:sp>
        <p:nvSpPr>
          <p:cNvPr id="28" name="line">
            <a:extLst>
              <a:ext uri="{FF2B5EF4-FFF2-40B4-BE49-F238E27FC236}">
                <a16:creationId xmlns:a16="http://schemas.microsoft.com/office/drawing/2014/main" id="{EE0F9FF1-E1EA-4057-8971-6D16E79C61EA}"/>
              </a:ext>
            </a:extLst>
          </p:cNvPr>
          <p:cNvSpPr>
            <a:spLocks noGrp="1"/>
          </p:cNvSpPr>
          <p:nvPr/>
        </p:nvSpPr>
        <p:spPr>
          <a:xfrm>
            <a:off x="1162050" y="166687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9" name="$24">
            <a:extLst>
              <a:ext uri="{FF2B5EF4-FFF2-40B4-BE49-F238E27FC236}">
                <a16:creationId xmlns:a16="http://schemas.microsoft.com/office/drawing/2014/main" id="{2AF66DD7-9AEA-4127-BC93-847A6E80E654}"/>
              </a:ext>
            </a:extLst>
          </p:cNvPr>
          <p:cNvSpPr>
            <a:spLocks noGrp="1"/>
          </p:cNvSpPr>
          <p:nvPr/>
        </p:nvSpPr>
        <p:spPr>
          <a:xfrm>
            <a:off x="600075" y="154305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$24</a:t>
            </a:r>
          </a:p>
        </p:txBody>
      </p:sp>
      <p:sp>
        <p:nvSpPr>
          <p:cNvPr id="30" name="line">
            <a:extLst>
              <a:ext uri="{FF2B5EF4-FFF2-40B4-BE49-F238E27FC236}">
                <a16:creationId xmlns:a16="http://schemas.microsoft.com/office/drawing/2014/main" id="{A8E6B2A8-3E3D-4DBA-AFFA-984442016370}"/>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0">
            <a:extLst>
              <a:ext uri="{FF2B5EF4-FFF2-40B4-BE49-F238E27FC236}">
                <a16:creationId xmlns:a16="http://schemas.microsoft.com/office/drawing/2014/main" id="{09B9686F-5BFE-4966-943E-8B1E4AA93DEA}"/>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32" name="line">
            <a:extLst>
              <a:ext uri="{FF2B5EF4-FFF2-40B4-BE49-F238E27FC236}">
                <a16:creationId xmlns:a16="http://schemas.microsoft.com/office/drawing/2014/main" id="{7EFBC0AB-75E1-4EC4-8EA3-75C5183AB540}"/>
              </a:ext>
            </a:extLst>
          </p:cNvPr>
          <p:cNvSpPr>
            <a:spLocks noGrp="1"/>
          </p:cNvSpPr>
          <p:nvPr/>
        </p:nvSpPr>
        <p:spPr>
          <a:xfrm>
            <a:off x="29241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1">
            <a:extLst>
              <a:ext uri="{FF2B5EF4-FFF2-40B4-BE49-F238E27FC236}">
                <a16:creationId xmlns:a16="http://schemas.microsoft.com/office/drawing/2014/main" id="{0B4FDC6E-D7AA-4F89-91BE-3079E590BBFD}"/>
              </a:ext>
            </a:extLst>
          </p:cNvPr>
          <p:cNvSpPr>
            <a:spLocks noGrp="1"/>
          </p:cNvSpPr>
          <p:nvPr/>
        </p:nvSpPr>
        <p:spPr>
          <a:xfrm>
            <a:off x="27146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34" name="line">
            <a:extLst>
              <a:ext uri="{FF2B5EF4-FFF2-40B4-BE49-F238E27FC236}">
                <a16:creationId xmlns:a16="http://schemas.microsoft.com/office/drawing/2014/main" id="{8BDE49D6-6CF0-4ADC-8112-13DA7C10482A}"/>
              </a:ext>
            </a:extLst>
          </p:cNvPr>
          <p:cNvSpPr>
            <a:spLocks noGrp="1"/>
          </p:cNvSpPr>
          <p:nvPr/>
        </p:nvSpPr>
        <p:spPr>
          <a:xfrm>
            <a:off x="46101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2">
            <a:extLst>
              <a:ext uri="{FF2B5EF4-FFF2-40B4-BE49-F238E27FC236}">
                <a16:creationId xmlns:a16="http://schemas.microsoft.com/office/drawing/2014/main" id="{60B0E2FC-2F87-49CC-AD2A-4F5D326FDE64}"/>
              </a:ext>
            </a:extLst>
          </p:cNvPr>
          <p:cNvSpPr>
            <a:spLocks noGrp="1"/>
          </p:cNvSpPr>
          <p:nvPr/>
        </p:nvSpPr>
        <p:spPr>
          <a:xfrm>
            <a:off x="44005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6" name="line">
            <a:extLst>
              <a:ext uri="{FF2B5EF4-FFF2-40B4-BE49-F238E27FC236}">
                <a16:creationId xmlns:a16="http://schemas.microsoft.com/office/drawing/2014/main" id="{D4E45334-E2BE-4003-AADA-1BF6218288C8}"/>
              </a:ext>
            </a:extLst>
          </p:cNvPr>
          <p:cNvSpPr>
            <a:spLocks noGrp="1"/>
          </p:cNvSpPr>
          <p:nvPr/>
        </p:nvSpPr>
        <p:spPr>
          <a:xfrm>
            <a:off x="62960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7" name="3">
            <a:extLst>
              <a:ext uri="{FF2B5EF4-FFF2-40B4-BE49-F238E27FC236}">
                <a16:creationId xmlns:a16="http://schemas.microsoft.com/office/drawing/2014/main" id="{906A5D7F-ACEA-4699-9199-18D10F125F66}"/>
              </a:ext>
            </a:extLst>
          </p:cNvPr>
          <p:cNvSpPr>
            <a:spLocks noGrp="1"/>
          </p:cNvSpPr>
          <p:nvPr/>
        </p:nvSpPr>
        <p:spPr>
          <a:xfrm>
            <a:off x="60864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8" name="line">
            <a:extLst>
              <a:ext uri="{FF2B5EF4-FFF2-40B4-BE49-F238E27FC236}">
                <a16:creationId xmlns:a16="http://schemas.microsoft.com/office/drawing/2014/main" id="{837A5977-8E95-4C18-AF4A-A3B7A4FC86F0}"/>
              </a:ext>
            </a:extLst>
          </p:cNvPr>
          <p:cNvSpPr>
            <a:spLocks noGrp="1"/>
          </p:cNvSpPr>
          <p:nvPr/>
        </p:nvSpPr>
        <p:spPr>
          <a:xfrm>
            <a:off x="79819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9" name="4">
            <a:extLst>
              <a:ext uri="{FF2B5EF4-FFF2-40B4-BE49-F238E27FC236}">
                <a16:creationId xmlns:a16="http://schemas.microsoft.com/office/drawing/2014/main" id="{C2264FF7-5E9E-4807-AD9A-7B6CBCC65C48}"/>
              </a:ext>
            </a:extLst>
          </p:cNvPr>
          <p:cNvSpPr>
            <a:spLocks noGrp="1"/>
          </p:cNvSpPr>
          <p:nvPr/>
        </p:nvSpPr>
        <p:spPr>
          <a:xfrm>
            <a:off x="77724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40" name="line">
            <a:extLst>
              <a:ext uri="{FF2B5EF4-FFF2-40B4-BE49-F238E27FC236}">
                <a16:creationId xmlns:a16="http://schemas.microsoft.com/office/drawing/2014/main" id="{AAB1A681-5B15-47BC-B8AB-B54B3AE6A133}"/>
              </a:ext>
            </a:extLst>
          </p:cNvPr>
          <p:cNvSpPr>
            <a:spLocks noGrp="1"/>
          </p:cNvSpPr>
          <p:nvPr/>
        </p:nvSpPr>
        <p:spPr>
          <a:xfrm>
            <a:off x="9667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41" name="5">
            <a:extLst>
              <a:ext uri="{FF2B5EF4-FFF2-40B4-BE49-F238E27FC236}">
                <a16:creationId xmlns:a16="http://schemas.microsoft.com/office/drawing/2014/main" id="{A91D7365-AD43-4BF5-952F-6772424F2A01}"/>
              </a:ext>
            </a:extLst>
          </p:cNvPr>
          <p:cNvSpPr>
            <a:spLocks noGrp="1"/>
          </p:cNvSpPr>
          <p:nvPr/>
        </p:nvSpPr>
        <p:spPr>
          <a:xfrm>
            <a:off x="9458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42" name="Quantity (Cases of Alani)">
            <a:extLst>
              <a:ext uri="{FF2B5EF4-FFF2-40B4-BE49-F238E27FC236}">
                <a16:creationId xmlns:a16="http://schemas.microsoft.com/office/drawing/2014/main" id="{9821D3C6-D42A-48EF-99D1-FAA825F3B504}"/>
              </a:ext>
            </a:extLst>
          </p:cNvPr>
          <p:cNvSpPr>
            <a:spLocks noGrp="1"/>
          </p:cNvSpPr>
          <p:nvPr/>
        </p:nvSpPr>
        <p:spPr>
          <a:xfrm>
            <a:off x="4095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Alani)</a:t>
            </a:r>
          </a:p>
        </p:txBody>
      </p:sp>
      <p:sp>
        <p:nvSpPr>
          <p:cNvPr id="43" name="line">
            <a:extLst>
              <a:ext uri="{FF2B5EF4-FFF2-40B4-BE49-F238E27FC236}">
                <a16:creationId xmlns:a16="http://schemas.microsoft.com/office/drawing/2014/main" id="{065BBAA9-3B3F-4D06-B7C9-72F474CB6E32}"/>
              </a:ext>
            </a:extLst>
          </p:cNvPr>
          <p:cNvSpPr>
            <a:spLocks noGrp="1"/>
          </p:cNvSpPr>
          <p:nvPr/>
        </p:nvSpPr>
        <p:spPr>
          <a:xfrm>
            <a:off x="1238250" y="3059906"/>
            <a:ext cx="9667875" cy="9525"/>
          </a:xfrm>
          <a:custGeom>
            <a:avLst/>
            <a:gdLst/>
            <a:ahLst/>
            <a:cxnLst/>
            <a:rect l="0" t="0" r="0" b="0"/>
            <a:pathLst>
              <a:path w="9667875" h="9525">
                <a:moveTo>
                  <a:pt x="0" y="0"/>
                </a:moveTo>
                <a:lnTo>
                  <a:pt x="9667875" y="0"/>
                </a:lnTo>
              </a:path>
            </a:pathLst>
          </a:custGeom>
          <a:noFill/>
          <a:ln w="19050">
            <a:solidFill>
              <a:srgbClr val="1C2321"/>
            </a:solidFill>
          </a:ln>
        </p:spPr>
        <p:txBody>
          <a:bodyPr/>
          <a:lstStyle/>
          <a:p>
            <a:endParaRPr/>
          </a:p>
        </p:txBody>
      </p:sp>
      <p:sp>
        <p:nvSpPr>
          <p:cNvPr id="44" name="Market price = $15">
            <a:extLst>
              <a:ext uri="{FF2B5EF4-FFF2-40B4-BE49-F238E27FC236}">
                <a16:creationId xmlns:a16="http://schemas.microsoft.com/office/drawing/2014/main" id="{EADCC8CA-8786-4083-871A-B59E9343C860}"/>
              </a:ext>
            </a:extLst>
          </p:cNvPr>
          <p:cNvSpPr>
            <a:spLocks noGrp="1"/>
          </p:cNvSpPr>
          <p:nvPr/>
        </p:nvSpPr>
        <p:spPr>
          <a:xfrm>
            <a:off x="1381125" y="3145631"/>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$15</a:t>
            </a:r>
          </a:p>
        </p:txBody>
      </p:sp>
      <p:sp>
        <p:nvSpPr>
          <p:cNvPr id="45" name="line">
            <a:extLst>
              <a:ext uri="{FF2B5EF4-FFF2-40B4-BE49-F238E27FC236}">
                <a16:creationId xmlns:a16="http://schemas.microsoft.com/office/drawing/2014/main" id="{573C520B-68F7-4D5A-AB25-C8159CCA21E5}"/>
              </a:ext>
            </a:extLst>
          </p:cNvPr>
          <p:cNvSpPr>
            <a:spLocks noGrp="1"/>
          </p:cNvSpPr>
          <p:nvPr/>
        </p:nvSpPr>
        <p:spPr>
          <a:xfrm>
            <a:off x="1238250" y="2131219"/>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46" name="Amanda: $21">
            <a:extLst>
              <a:ext uri="{FF2B5EF4-FFF2-40B4-BE49-F238E27FC236}">
                <a16:creationId xmlns:a16="http://schemas.microsoft.com/office/drawing/2014/main" id="{8D3020E6-8521-4AA8-91F8-8C35531BCD7B}"/>
              </a:ext>
            </a:extLst>
          </p:cNvPr>
          <p:cNvSpPr>
            <a:spLocks noGrp="1"/>
          </p:cNvSpPr>
          <p:nvPr/>
        </p:nvSpPr>
        <p:spPr>
          <a:xfrm>
            <a:off x="2876550" y="2083594"/>
            <a:ext cx="95250" cy="95250"/>
          </a:xfrm>
          <a:prstGeom prst="ellipse">
            <a:avLst/>
          </a:prstGeom>
          <a:solidFill>
            <a:srgbClr val="3E7C79"/>
          </a:solidFill>
          <a:ln w="0">
            <a:noFill/>
          </a:ln>
        </p:spPr>
        <p:txBody>
          <a:bodyPr/>
          <a:lstStyle/>
          <a:p>
            <a:endParaRPr/>
          </a:p>
        </p:txBody>
      </p:sp>
      <p:sp>
        <p:nvSpPr>
          <p:cNvPr id="47" name="Amanda">
            <a:extLst>
              <a:ext uri="{FF2B5EF4-FFF2-40B4-BE49-F238E27FC236}">
                <a16:creationId xmlns:a16="http://schemas.microsoft.com/office/drawing/2014/main" id="{CC3A097A-0D63-4F07-94B7-F1CBB87B50E7}"/>
              </a:ext>
            </a:extLst>
          </p:cNvPr>
          <p:cNvSpPr>
            <a:spLocks noGrp="1"/>
          </p:cNvSpPr>
          <p:nvPr/>
        </p:nvSpPr>
        <p:spPr>
          <a:xfrm>
            <a:off x="2495550" y="1864519"/>
            <a:ext cx="85725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Amanda</a:t>
            </a:r>
          </a:p>
        </p:txBody>
      </p:sp>
      <p:sp>
        <p:nvSpPr>
          <p:cNvPr id="48" name="$21 − $15 = $6">
            <a:extLst>
              <a:ext uri="{FF2B5EF4-FFF2-40B4-BE49-F238E27FC236}">
                <a16:creationId xmlns:a16="http://schemas.microsoft.com/office/drawing/2014/main" id="{3578AF99-AF5B-4FBE-99CB-F35BCDF881A9}"/>
              </a:ext>
            </a:extLst>
          </p:cNvPr>
          <p:cNvSpPr>
            <a:spLocks noGrp="1"/>
          </p:cNvSpPr>
          <p:nvPr/>
        </p:nvSpPr>
        <p:spPr>
          <a:xfrm>
            <a:off x="3752850" y="1864519"/>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$21 − $15 = $6</a:t>
            </a:r>
          </a:p>
        </p:txBody>
      </p:sp>
      <p:sp>
        <p:nvSpPr>
          <p:cNvPr id="49" name="line">
            <a:extLst>
              <a:ext uri="{FF2B5EF4-FFF2-40B4-BE49-F238E27FC236}">
                <a16:creationId xmlns:a16="http://schemas.microsoft.com/office/drawing/2014/main" id="{39BDF0D2-9749-4E44-A234-16028D9B2285}"/>
              </a:ext>
            </a:extLst>
          </p:cNvPr>
          <p:cNvSpPr>
            <a:spLocks noGrp="1"/>
          </p:cNvSpPr>
          <p:nvPr/>
        </p:nvSpPr>
        <p:spPr>
          <a:xfrm>
            <a:off x="3438525" y="1997869"/>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50" name="line">
            <a:extLst>
              <a:ext uri="{FF2B5EF4-FFF2-40B4-BE49-F238E27FC236}">
                <a16:creationId xmlns:a16="http://schemas.microsoft.com/office/drawing/2014/main" id="{F6D457E3-BBC6-4E5F-BEFA-44AF6BFBF976}"/>
              </a:ext>
            </a:extLst>
          </p:cNvPr>
          <p:cNvSpPr>
            <a:spLocks noGrp="1"/>
          </p:cNvSpPr>
          <p:nvPr/>
        </p:nvSpPr>
        <p:spPr>
          <a:xfrm>
            <a:off x="3588986" y="1997869"/>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51" name="line">
            <a:extLst>
              <a:ext uri="{FF2B5EF4-FFF2-40B4-BE49-F238E27FC236}">
                <a16:creationId xmlns:a16="http://schemas.microsoft.com/office/drawing/2014/main" id="{F9BBC015-F054-4369-B118-578EA201BDF5}"/>
              </a:ext>
            </a:extLst>
          </p:cNvPr>
          <p:cNvSpPr>
            <a:spLocks noGrp="1"/>
          </p:cNvSpPr>
          <p:nvPr/>
        </p:nvSpPr>
        <p:spPr>
          <a:xfrm>
            <a:off x="3588986" y="1964724"/>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52" name="line">
            <a:extLst>
              <a:ext uri="{FF2B5EF4-FFF2-40B4-BE49-F238E27FC236}">
                <a16:creationId xmlns:a16="http://schemas.microsoft.com/office/drawing/2014/main" id="{A714DBAE-C815-48C2-BE11-A99418C5BF24}"/>
              </a:ext>
            </a:extLst>
          </p:cNvPr>
          <p:cNvSpPr>
            <a:spLocks noGrp="1"/>
          </p:cNvSpPr>
          <p:nvPr/>
        </p:nvSpPr>
        <p:spPr>
          <a:xfrm>
            <a:off x="2828925" y="2188369"/>
            <a:ext cx="9525" cy="814388"/>
          </a:xfrm>
          <a:custGeom>
            <a:avLst/>
            <a:gdLst/>
            <a:ahLst/>
            <a:cxnLst/>
            <a:rect l="0" t="0" r="0" b="0"/>
            <a:pathLst>
              <a:path w="9525" h="814388">
                <a:moveTo>
                  <a:pt x="0" y="0"/>
                </a:moveTo>
                <a:lnTo>
                  <a:pt x="0" y="814388"/>
                </a:lnTo>
              </a:path>
            </a:pathLst>
          </a:custGeom>
          <a:noFill/>
          <a:ln w="14288">
            <a:solidFill>
              <a:srgbClr val="3E7C79"/>
            </a:solidFill>
          </a:ln>
        </p:spPr>
        <p:txBody>
          <a:bodyPr/>
          <a:lstStyle/>
          <a:p>
            <a:endParaRPr/>
          </a:p>
        </p:txBody>
      </p:sp>
      <p:sp>
        <p:nvSpPr>
          <p:cNvPr id="53" name="line">
            <a:extLst>
              <a:ext uri="{FF2B5EF4-FFF2-40B4-BE49-F238E27FC236}">
                <a16:creationId xmlns:a16="http://schemas.microsoft.com/office/drawing/2014/main" id="{8AE4BC9D-2585-4B7C-9B17-B706C4CBD3C3}"/>
              </a:ext>
            </a:extLst>
          </p:cNvPr>
          <p:cNvSpPr>
            <a:spLocks noGrp="1"/>
          </p:cNvSpPr>
          <p:nvPr/>
        </p:nvSpPr>
        <p:spPr>
          <a:xfrm>
            <a:off x="2790825" y="2131219"/>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4" name="line">
            <a:extLst>
              <a:ext uri="{FF2B5EF4-FFF2-40B4-BE49-F238E27FC236}">
                <a16:creationId xmlns:a16="http://schemas.microsoft.com/office/drawing/2014/main" id="{EFFA4B03-F6D7-4D34-B6FC-DA4DED3BB710}"/>
              </a:ext>
            </a:extLst>
          </p:cNvPr>
          <p:cNvSpPr>
            <a:spLocks noGrp="1"/>
          </p:cNvSpPr>
          <p:nvPr/>
        </p:nvSpPr>
        <p:spPr>
          <a:xfrm>
            <a:off x="279082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55" name="line">
            <a:extLst>
              <a:ext uri="{FF2B5EF4-FFF2-40B4-BE49-F238E27FC236}">
                <a16:creationId xmlns:a16="http://schemas.microsoft.com/office/drawing/2014/main" id="{59CEC0B4-FF15-463C-996B-DAFF310CA1B7}"/>
              </a:ext>
            </a:extLst>
          </p:cNvPr>
          <p:cNvSpPr>
            <a:spLocks noGrp="1"/>
          </p:cNvSpPr>
          <p:nvPr/>
        </p:nvSpPr>
        <p:spPr>
          <a:xfrm>
            <a:off x="2924175" y="2131219"/>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56" name="line">
            <a:extLst>
              <a:ext uri="{FF2B5EF4-FFF2-40B4-BE49-F238E27FC236}">
                <a16:creationId xmlns:a16="http://schemas.microsoft.com/office/drawing/2014/main" id="{5477907A-B9F7-4124-A2AB-160122FDBCF2}"/>
              </a:ext>
            </a:extLst>
          </p:cNvPr>
          <p:cNvSpPr>
            <a:spLocks noGrp="1"/>
          </p:cNvSpPr>
          <p:nvPr/>
        </p:nvSpPr>
        <p:spPr>
          <a:xfrm>
            <a:off x="2924175" y="2595563"/>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57" name="Hannah: $18">
            <a:extLst>
              <a:ext uri="{FF2B5EF4-FFF2-40B4-BE49-F238E27FC236}">
                <a16:creationId xmlns:a16="http://schemas.microsoft.com/office/drawing/2014/main" id="{E82E19FA-FDF5-4EA4-8CBC-E93D23CE61ED}"/>
              </a:ext>
            </a:extLst>
          </p:cNvPr>
          <p:cNvSpPr>
            <a:spLocks noGrp="1"/>
          </p:cNvSpPr>
          <p:nvPr/>
        </p:nvSpPr>
        <p:spPr>
          <a:xfrm>
            <a:off x="4562475" y="2547938"/>
            <a:ext cx="95250" cy="95250"/>
          </a:xfrm>
          <a:prstGeom prst="ellipse">
            <a:avLst/>
          </a:prstGeom>
          <a:solidFill>
            <a:srgbClr val="3E7C79"/>
          </a:solidFill>
          <a:ln w="0">
            <a:noFill/>
          </a:ln>
        </p:spPr>
        <p:txBody>
          <a:bodyPr/>
          <a:lstStyle/>
          <a:p>
            <a:endParaRPr/>
          </a:p>
        </p:txBody>
      </p:sp>
      <p:sp>
        <p:nvSpPr>
          <p:cNvPr id="58" name="Hannah">
            <a:extLst>
              <a:ext uri="{FF2B5EF4-FFF2-40B4-BE49-F238E27FC236}">
                <a16:creationId xmlns:a16="http://schemas.microsoft.com/office/drawing/2014/main" id="{10FFE40D-B337-4283-A1FA-846319BECA55}"/>
              </a:ext>
            </a:extLst>
          </p:cNvPr>
          <p:cNvSpPr>
            <a:spLocks noGrp="1"/>
          </p:cNvSpPr>
          <p:nvPr/>
        </p:nvSpPr>
        <p:spPr>
          <a:xfrm>
            <a:off x="4195763" y="2211515"/>
            <a:ext cx="8286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Hannah</a:t>
            </a:r>
          </a:p>
        </p:txBody>
      </p:sp>
      <p:sp>
        <p:nvSpPr>
          <p:cNvPr id="59" name="$18 − $15 = $3">
            <a:extLst>
              <a:ext uri="{FF2B5EF4-FFF2-40B4-BE49-F238E27FC236}">
                <a16:creationId xmlns:a16="http://schemas.microsoft.com/office/drawing/2014/main" id="{9B437B54-AF3C-46FF-8191-526C8C643184}"/>
              </a:ext>
            </a:extLst>
          </p:cNvPr>
          <p:cNvSpPr>
            <a:spLocks noGrp="1"/>
          </p:cNvSpPr>
          <p:nvPr/>
        </p:nvSpPr>
        <p:spPr>
          <a:xfrm>
            <a:off x="5424488" y="2211515"/>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$18 − $15 = $3</a:t>
            </a:r>
          </a:p>
        </p:txBody>
      </p:sp>
      <p:sp>
        <p:nvSpPr>
          <p:cNvPr id="60" name="line">
            <a:extLst>
              <a:ext uri="{FF2B5EF4-FFF2-40B4-BE49-F238E27FC236}">
                <a16:creationId xmlns:a16="http://schemas.microsoft.com/office/drawing/2014/main" id="{682F631A-1E4A-4DDA-8FEF-343FA3406E13}"/>
              </a:ext>
            </a:extLst>
          </p:cNvPr>
          <p:cNvSpPr>
            <a:spLocks noGrp="1"/>
          </p:cNvSpPr>
          <p:nvPr/>
        </p:nvSpPr>
        <p:spPr>
          <a:xfrm>
            <a:off x="5110163" y="2344865"/>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61" name="line">
            <a:extLst>
              <a:ext uri="{FF2B5EF4-FFF2-40B4-BE49-F238E27FC236}">
                <a16:creationId xmlns:a16="http://schemas.microsoft.com/office/drawing/2014/main" id="{7EE6262D-B4A0-4FBC-BFF3-5A58E5E0325A}"/>
              </a:ext>
            </a:extLst>
          </p:cNvPr>
          <p:cNvSpPr>
            <a:spLocks noGrp="1"/>
          </p:cNvSpPr>
          <p:nvPr/>
        </p:nvSpPr>
        <p:spPr>
          <a:xfrm>
            <a:off x="5260623" y="2344865"/>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62" name="line">
            <a:extLst>
              <a:ext uri="{FF2B5EF4-FFF2-40B4-BE49-F238E27FC236}">
                <a16:creationId xmlns:a16="http://schemas.microsoft.com/office/drawing/2014/main" id="{55D37DE6-5BEE-4ECE-AE4E-689E45B481FA}"/>
              </a:ext>
            </a:extLst>
          </p:cNvPr>
          <p:cNvSpPr>
            <a:spLocks noGrp="1"/>
          </p:cNvSpPr>
          <p:nvPr/>
        </p:nvSpPr>
        <p:spPr>
          <a:xfrm>
            <a:off x="5260623" y="2311720"/>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63" name="line">
            <a:extLst>
              <a:ext uri="{FF2B5EF4-FFF2-40B4-BE49-F238E27FC236}">
                <a16:creationId xmlns:a16="http://schemas.microsoft.com/office/drawing/2014/main" id="{BE441047-A411-4992-BA38-04064FA4EE9E}"/>
              </a:ext>
            </a:extLst>
          </p:cNvPr>
          <p:cNvSpPr>
            <a:spLocks noGrp="1"/>
          </p:cNvSpPr>
          <p:nvPr/>
        </p:nvSpPr>
        <p:spPr>
          <a:xfrm>
            <a:off x="4514850" y="2652713"/>
            <a:ext cx="9525" cy="350044"/>
          </a:xfrm>
          <a:custGeom>
            <a:avLst/>
            <a:gdLst/>
            <a:ahLst/>
            <a:cxnLst/>
            <a:rect l="0" t="0" r="0" b="0"/>
            <a:pathLst>
              <a:path w="9525" h="350044">
                <a:moveTo>
                  <a:pt x="0" y="0"/>
                </a:moveTo>
                <a:lnTo>
                  <a:pt x="0" y="350044"/>
                </a:lnTo>
              </a:path>
            </a:pathLst>
          </a:custGeom>
          <a:noFill/>
          <a:ln w="14288">
            <a:solidFill>
              <a:srgbClr val="3E7C79"/>
            </a:solidFill>
          </a:ln>
        </p:spPr>
        <p:txBody>
          <a:bodyPr/>
          <a:lstStyle/>
          <a:p>
            <a:endParaRPr/>
          </a:p>
        </p:txBody>
      </p:sp>
      <p:sp>
        <p:nvSpPr>
          <p:cNvPr id="64" name="line">
            <a:extLst>
              <a:ext uri="{FF2B5EF4-FFF2-40B4-BE49-F238E27FC236}">
                <a16:creationId xmlns:a16="http://schemas.microsoft.com/office/drawing/2014/main" id="{7D76A650-5BF1-48A2-BE81-02E219AEFBB8}"/>
              </a:ext>
            </a:extLst>
          </p:cNvPr>
          <p:cNvSpPr>
            <a:spLocks noGrp="1"/>
          </p:cNvSpPr>
          <p:nvPr/>
        </p:nvSpPr>
        <p:spPr>
          <a:xfrm>
            <a:off x="4476750" y="2595563"/>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5" name="line">
            <a:extLst>
              <a:ext uri="{FF2B5EF4-FFF2-40B4-BE49-F238E27FC236}">
                <a16:creationId xmlns:a16="http://schemas.microsoft.com/office/drawing/2014/main" id="{53C2CBB6-17FE-43E5-9620-AAA4FC2170E0}"/>
              </a:ext>
            </a:extLst>
          </p:cNvPr>
          <p:cNvSpPr>
            <a:spLocks noGrp="1"/>
          </p:cNvSpPr>
          <p:nvPr/>
        </p:nvSpPr>
        <p:spPr>
          <a:xfrm>
            <a:off x="4476750"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66" name="line">
            <a:extLst>
              <a:ext uri="{FF2B5EF4-FFF2-40B4-BE49-F238E27FC236}">
                <a16:creationId xmlns:a16="http://schemas.microsoft.com/office/drawing/2014/main" id="{08B36EB8-E81E-49D1-8B6F-45D9150C94AB}"/>
              </a:ext>
            </a:extLst>
          </p:cNvPr>
          <p:cNvSpPr>
            <a:spLocks noGrp="1"/>
          </p:cNvSpPr>
          <p:nvPr/>
        </p:nvSpPr>
        <p:spPr>
          <a:xfrm>
            <a:off x="4610100" y="2595563"/>
            <a:ext cx="9525" cy="154781"/>
          </a:xfrm>
          <a:custGeom>
            <a:avLst/>
            <a:gdLst/>
            <a:ahLst/>
            <a:cxnLst/>
            <a:rect l="0" t="0" r="0" b="0"/>
            <a:pathLst>
              <a:path w="9525" h="154781">
                <a:moveTo>
                  <a:pt x="0" y="0"/>
                </a:moveTo>
                <a:lnTo>
                  <a:pt x="0" y="154781"/>
                </a:lnTo>
              </a:path>
            </a:pathLst>
          </a:custGeom>
          <a:noFill/>
          <a:ln w="28575">
            <a:solidFill>
              <a:srgbClr val="3E7C79"/>
            </a:solidFill>
          </a:ln>
        </p:spPr>
        <p:txBody>
          <a:bodyPr/>
          <a:lstStyle/>
          <a:p>
            <a:endParaRPr/>
          </a:p>
        </p:txBody>
      </p:sp>
      <p:sp>
        <p:nvSpPr>
          <p:cNvPr id="67" name="line">
            <a:extLst>
              <a:ext uri="{FF2B5EF4-FFF2-40B4-BE49-F238E27FC236}">
                <a16:creationId xmlns:a16="http://schemas.microsoft.com/office/drawing/2014/main" id="{B86B71F7-F12B-4783-823E-B1171624DD9C}"/>
              </a:ext>
            </a:extLst>
          </p:cNvPr>
          <p:cNvSpPr>
            <a:spLocks noGrp="1"/>
          </p:cNvSpPr>
          <p:nvPr/>
        </p:nvSpPr>
        <p:spPr>
          <a:xfrm>
            <a:off x="4610100" y="2750344"/>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68" name="Ben: $17">
            <a:extLst>
              <a:ext uri="{FF2B5EF4-FFF2-40B4-BE49-F238E27FC236}">
                <a16:creationId xmlns:a16="http://schemas.microsoft.com/office/drawing/2014/main" id="{4B26DE8C-35A0-4FBB-8804-D8A6A9C4F77A}"/>
              </a:ext>
            </a:extLst>
          </p:cNvPr>
          <p:cNvSpPr>
            <a:spLocks noGrp="1"/>
          </p:cNvSpPr>
          <p:nvPr/>
        </p:nvSpPr>
        <p:spPr>
          <a:xfrm>
            <a:off x="6248400" y="2702719"/>
            <a:ext cx="95250" cy="95250"/>
          </a:xfrm>
          <a:prstGeom prst="ellipse">
            <a:avLst/>
          </a:prstGeom>
          <a:solidFill>
            <a:srgbClr val="3E7C79"/>
          </a:solidFill>
          <a:ln w="0">
            <a:noFill/>
          </a:ln>
        </p:spPr>
        <p:txBody>
          <a:bodyPr/>
          <a:lstStyle/>
          <a:p>
            <a:endParaRPr/>
          </a:p>
        </p:txBody>
      </p:sp>
      <p:sp>
        <p:nvSpPr>
          <p:cNvPr id="69" name="Ben">
            <a:extLst>
              <a:ext uri="{FF2B5EF4-FFF2-40B4-BE49-F238E27FC236}">
                <a16:creationId xmlns:a16="http://schemas.microsoft.com/office/drawing/2014/main" id="{428A76A6-CDC9-4EAA-AFC3-287739F81371}"/>
              </a:ext>
            </a:extLst>
          </p:cNvPr>
          <p:cNvSpPr>
            <a:spLocks noGrp="1"/>
          </p:cNvSpPr>
          <p:nvPr/>
        </p:nvSpPr>
        <p:spPr>
          <a:xfrm>
            <a:off x="6091238" y="2483644"/>
            <a:ext cx="40957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Ben</a:t>
            </a:r>
          </a:p>
        </p:txBody>
      </p:sp>
      <p:sp>
        <p:nvSpPr>
          <p:cNvPr id="70" name="$17 − $15 = $2">
            <a:extLst>
              <a:ext uri="{FF2B5EF4-FFF2-40B4-BE49-F238E27FC236}">
                <a16:creationId xmlns:a16="http://schemas.microsoft.com/office/drawing/2014/main" id="{C1CAE568-4B82-4667-916C-64EE5191F183}"/>
              </a:ext>
            </a:extLst>
          </p:cNvPr>
          <p:cNvSpPr>
            <a:spLocks noGrp="1"/>
          </p:cNvSpPr>
          <p:nvPr/>
        </p:nvSpPr>
        <p:spPr>
          <a:xfrm>
            <a:off x="6900863" y="2483644"/>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$17 − $15 = $2</a:t>
            </a:r>
          </a:p>
        </p:txBody>
      </p:sp>
      <p:sp>
        <p:nvSpPr>
          <p:cNvPr id="71" name="line">
            <a:extLst>
              <a:ext uri="{FF2B5EF4-FFF2-40B4-BE49-F238E27FC236}">
                <a16:creationId xmlns:a16="http://schemas.microsoft.com/office/drawing/2014/main" id="{06C46C53-0CD4-4006-8F28-1A1BED4B8256}"/>
              </a:ext>
            </a:extLst>
          </p:cNvPr>
          <p:cNvSpPr>
            <a:spLocks noGrp="1"/>
          </p:cNvSpPr>
          <p:nvPr/>
        </p:nvSpPr>
        <p:spPr>
          <a:xfrm>
            <a:off x="6586538" y="2616994"/>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72" name="line">
            <a:extLst>
              <a:ext uri="{FF2B5EF4-FFF2-40B4-BE49-F238E27FC236}">
                <a16:creationId xmlns:a16="http://schemas.microsoft.com/office/drawing/2014/main" id="{1AA432AA-9071-4D72-8E03-FE7D3084D45D}"/>
              </a:ext>
            </a:extLst>
          </p:cNvPr>
          <p:cNvSpPr>
            <a:spLocks noGrp="1"/>
          </p:cNvSpPr>
          <p:nvPr/>
        </p:nvSpPr>
        <p:spPr>
          <a:xfrm>
            <a:off x="6736998" y="2616994"/>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73" name="line">
            <a:extLst>
              <a:ext uri="{FF2B5EF4-FFF2-40B4-BE49-F238E27FC236}">
                <a16:creationId xmlns:a16="http://schemas.microsoft.com/office/drawing/2014/main" id="{A62F9825-80E7-48AA-A60C-32FEFB7BAFB5}"/>
              </a:ext>
            </a:extLst>
          </p:cNvPr>
          <p:cNvSpPr>
            <a:spLocks noGrp="1"/>
          </p:cNvSpPr>
          <p:nvPr/>
        </p:nvSpPr>
        <p:spPr>
          <a:xfrm>
            <a:off x="6736998" y="2583849"/>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74" name="line">
            <a:extLst>
              <a:ext uri="{FF2B5EF4-FFF2-40B4-BE49-F238E27FC236}">
                <a16:creationId xmlns:a16="http://schemas.microsoft.com/office/drawing/2014/main" id="{92BB4C0B-FBA9-481E-8C03-E08A6D0197B9}"/>
              </a:ext>
            </a:extLst>
          </p:cNvPr>
          <p:cNvSpPr>
            <a:spLocks noGrp="1"/>
          </p:cNvSpPr>
          <p:nvPr/>
        </p:nvSpPr>
        <p:spPr>
          <a:xfrm>
            <a:off x="6200775" y="2807494"/>
            <a:ext cx="9525" cy="195263"/>
          </a:xfrm>
          <a:custGeom>
            <a:avLst/>
            <a:gdLst/>
            <a:ahLst/>
            <a:cxnLst/>
            <a:rect l="0" t="0" r="0" b="0"/>
            <a:pathLst>
              <a:path w="9525" h="195263">
                <a:moveTo>
                  <a:pt x="0" y="0"/>
                </a:moveTo>
                <a:lnTo>
                  <a:pt x="0" y="195263"/>
                </a:lnTo>
              </a:path>
            </a:pathLst>
          </a:custGeom>
          <a:noFill/>
          <a:ln w="14288">
            <a:solidFill>
              <a:srgbClr val="3E7C79"/>
            </a:solidFill>
          </a:ln>
        </p:spPr>
        <p:txBody>
          <a:bodyPr/>
          <a:lstStyle/>
          <a:p>
            <a:endParaRPr/>
          </a:p>
        </p:txBody>
      </p:sp>
      <p:sp>
        <p:nvSpPr>
          <p:cNvPr id="75" name="line">
            <a:extLst>
              <a:ext uri="{FF2B5EF4-FFF2-40B4-BE49-F238E27FC236}">
                <a16:creationId xmlns:a16="http://schemas.microsoft.com/office/drawing/2014/main" id="{A7582E4D-7201-4B62-9A0E-A5CABBC3E51F}"/>
              </a:ext>
            </a:extLst>
          </p:cNvPr>
          <p:cNvSpPr>
            <a:spLocks noGrp="1"/>
          </p:cNvSpPr>
          <p:nvPr/>
        </p:nvSpPr>
        <p:spPr>
          <a:xfrm>
            <a:off x="6162675" y="2750344"/>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6" name="line">
            <a:extLst>
              <a:ext uri="{FF2B5EF4-FFF2-40B4-BE49-F238E27FC236}">
                <a16:creationId xmlns:a16="http://schemas.microsoft.com/office/drawing/2014/main" id="{AFD3F1AF-C416-44B0-91E7-26ED36598F38}"/>
              </a:ext>
            </a:extLst>
          </p:cNvPr>
          <p:cNvSpPr>
            <a:spLocks noGrp="1"/>
          </p:cNvSpPr>
          <p:nvPr/>
        </p:nvSpPr>
        <p:spPr>
          <a:xfrm>
            <a:off x="6162675" y="3059906"/>
            <a:ext cx="76200" cy="9525"/>
          </a:xfrm>
          <a:custGeom>
            <a:avLst/>
            <a:gdLst/>
            <a:ahLst/>
            <a:cxnLst/>
            <a:rect l="0" t="0" r="0" b="0"/>
            <a:pathLst>
              <a:path w="76200" h="9525">
                <a:moveTo>
                  <a:pt x="0" y="0"/>
                </a:moveTo>
                <a:lnTo>
                  <a:pt x="76200" y="0"/>
                </a:lnTo>
              </a:path>
            </a:pathLst>
          </a:custGeom>
          <a:noFill/>
          <a:ln w="14288">
            <a:solidFill>
              <a:srgbClr val="3E7C79"/>
            </a:solidFill>
          </a:ln>
        </p:spPr>
        <p:txBody>
          <a:bodyPr/>
          <a:lstStyle/>
          <a:p>
            <a:endParaRPr/>
          </a:p>
        </p:txBody>
      </p:sp>
      <p:sp>
        <p:nvSpPr>
          <p:cNvPr id="77" name="line">
            <a:extLst>
              <a:ext uri="{FF2B5EF4-FFF2-40B4-BE49-F238E27FC236}">
                <a16:creationId xmlns:a16="http://schemas.microsoft.com/office/drawing/2014/main" id="{38AE98BD-AA3F-43BF-B7C7-076F17357FD7}"/>
              </a:ext>
            </a:extLst>
          </p:cNvPr>
          <p:cNvSpPr>
            <a:spLocks noGrp="1"/>
          </p:cNvSpPr>
          <p:nvPr/>
        </p:nvSpPr>
        <p:spPr>
          <a:xfrm>
            <a:off x="6296025" y="2750344"/>
            <a:ext cx="9525" cy="309563"/>
          </a:xfrm>
          <a:custGeom>
            <a:avLst/>
            <a:gdLst/>
            <a:ahLst/>
            <a:cxnLst/>
            <a:rect l="0" t="0" r="0" b="0"/>
            <a:pathLst>
              <a:path w="9525" h="309563">
                <a:moveTo>
                  <a:pt x="0" y="0"/>
                </a:moveTo>
                <a:lnTo>
                  <a:pt x="0" y="309563"/>
                </a:lnTo>
              </a:path>
            </a:pathLst>
          </a:custGeom>
          <a:noFill/>
          <a:ln w="28575">
            <a:solidFill>
              <a:srgbClr val="3E7C79"/>
            </a:solidFill>
          </a:ln>
        </p:spPr>
        <p:txBody>
          <a:bodyPr/>
          <a:lstStyle/>
          <a:p>
            <a:endParaRPr/>
          </a:p>
        </p:txBody>
      </p:sp>
      <p:sp>
        <p:nvSpPr>
          <p:cNvPr id="78" name="line">
            <a:extLst>
              <a:ext uri="{FF2B5EF4-FFF2-40B4-BE49-F238E27FC236}">
                <a16:creationId xmlns:a16="http://schemas.microsoft.com/office/drawing/2014/main" id="{638D0DEE-93B2-40C3-A60E-4550F3BB3F74}"/>
              </a:ext>
            </a:extLst>
          </p:cNvPr>
          <p:cNvSpPr>
            <a:spLocks noGrp="1"/>
          </p:cNvSpPr>
          <p:nvPr/>
        </p:nvSpPr>
        <p:spPr>
          <a:xfrm>
            <a:off x="6296025" y="3059906"/>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79" name="Alyssa: $15">
            <a:extLst>
              <a:ext uri="{FF2B5EF4-FFF2-40B4-BE49-F238E27FC236}">
                <a16:creationId xmlns:a16="http://schemas.microsoft.com/office/drawing/2014/main" id="{D4FAEEFE-A87B-4060-8542-DD0BD036A9BF}"/>
              </a:ext>
            </a:extLst>
          </p:cNvPr>
          <p:cNvSpPr>
            <a:spLocks noGrp="1"/>
          </p:cNvSpPr>
          <p:nvPr/>
        </p:nvSpPr>
        <p:spPr>
          <a:xfrm>
            <a:off x="7934325" y="3012281"/>
            <a:ext cx="95250" cy="95250"/>
          </a:xfrm>
          <a:prstGeom prst="ellipse">
            <a:avLst/>
          </a:prstGeom>
          <a:solidFill>
            <a:srgbClr val="3E7C79"/>
          </a:solidFill>
          <a:ln w="0">
            <a:noFill/>
          </a:ln>
        </p:spPr>
        <p:txBody>
          <a:bodyPr/>
          <a:lstStyle/>
          <a:p>
            <a:endParaRPr/>
          </a:p>
        </p:txBody>
      </p:sp>
      <p:sp>
        <p:nvSpPr>
          <p:cNvPr id="80" name="Alyssa">
            <a:extLst>
              <a:ext uri="{FF2B5EF4-FFF2-40B4-BE49-F238E27FC236}">
                <a16:creationId xmlns:a16="http://schemas.microsoft.com/office/drawing/2014/main" id="{D76369B7-A2E8-484F-A64C-491DAEAE6052}"/>
              </a:ext>
            </a:extLst>
          </p:cNvPr>
          <p:cNvSpPr>
            <a:spLocks noGrp="1"/>
          </p:cNvSpPr>
          <p:nvPr/>
        </p:nvSpPr>
        <p:spPr>
          <a:xfrm>
            <a:off x="7634288" y="2692908"/>
            <a:ext cx="695325"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Alyssa</a:t>
            </a:r>
          </a:p>
        </p:txBody>
      </p:sp>
      <p:sp>
        <p:nvSpPr>
          <p:cNvPr id="81" name="$15 − $15 = $0">
            <a:extLst>
              <a:ext uri="{FF2B5EF4-FFF2-40B4-BE49-F238E27FC236}">
                <a16:creationId xmlns:a16="http://schemas.microsoft.com/office/drawing/2014/main" id="{FF033BC3-E17A-4C62-99D4-C46BE11A144C}"/>
              </a:ext>
            </a:extLst>
          </p:cNvPr>
          <p:cNvSpPr>
            <a:spLocks noGrp="1"/>
          </p:cNvSpPr>
          <p:nvPr/>
        </p:nvSpPr>
        <p:spPr>
          <a:xfrm>
            <a:off x="8729663" y="2692908"/>
            <a:ext cx="1619250" cy="266700"/>
          </a:xfrm>
          <a:prstGeom prst="rect">
            <a:avLst/>
          </a:prstGeom>
          <a:noFill/>
          <a:ln w="0">
            <a:noFill/>
          </a:ln>
        </p:spPr>
        <p:txBody>
          <a:bodyPr wrap="none" lIns="0" tIns="0" rIns="0" bIns="0">
            <a:noAutofit/>
          </a:bodyPr>
          <a:lstStyle/>
          <a:p>
            <a:pPr algn="l">
              <a:buNone/>
              <a:defRPr sz="1650" b="0">
                <a:solidFill>
                  <a:srgbClr val="1C2321"/>
                </a:solidFill>
                <a:latin typeface="Cambria"/>
                <a:ea typeface="Cambria"/>
                <a:cs typeface="Cambria"/>
              </a:defRPr>
            </a:pPr>
            <a:r>
              <a:rPr sz="1650" b="0">
                <a:solidFill>
                  <a:srgbClr val="1C2321"/>
                </a:solidFill>
                <a:latin typeface="Cambria"/>
                <a:ea typeface="Cambria"/>
                <a:cs typeface="Cambria"/>
              </a:rPr>
              <a:t>$15 − $15 = $0</a:t>
            </a:r>
          </a:p>
        </p:txBody>
      </p:sp>
      <p:sp>
        <p:nvSpPr>
          <p:cNvPr id="82" name="line">
            <a:extLst>
              <a:ext uri="{FF2B5EF4-FFF2-40B4-BE49-F238E27FC236}">
                <a16:creationId xmlns:a16="http://schemas.microsoft.com/office/drawing/2014/main" id="{514B7406-6DAE-41A6-B66E-63C1DAB74A29}"/>
              </a:ext>
            </a:extLst>
          </p:cNvPr>
          <p:cNvSpPr>
            <a:spLocks noGrp="1"/>
          </p:cNvSpPr>
          <p:nvPr/>
        </p:nvSpPr>
        <p:spPr>
          <a:xfrm>
            <a:off x="8415338" y="2825972"/>
            <a:ext cx="219075" cy="9525"/>
          </a:xfrm>
          <a:custGeom>
            <a:avLst/>
            <a:gdLst/>
            <a:ahLst/>
            <a:cxnLst/>
            <a:rect l="0" t="0" r="0" b="0"/>
            <a:pathLst>
              <a:path w="219075" h="9525">
                <a:moveTo>
                  <a:pt x="0" y="0"/>
                </a:moveTo>
                <a:lnTo>
                  <a:pt x="219075" y="0"/>
                </a:lnTo>
              </a:path>
            </a:pathLst>
          </a:custGeom>
          <a:noFill/>
          <a:ln w="14288">
            <a:solidFill>
              <a:srgbClr val="3E7C79"/>
            </a:solidFill>
          </a:ln>
        </p:spPr>
        <p:txBody>
          <a:bodyPr/>
          <a:lstStyle/>
          <a:p>
            <a:endParaRPr/>
          </a:p>
        </p:txBody>
      </p:sp>
      <p:sp>
        <p:nvSpPr>
          <p:cNvPr id="83" name="line">
            <a:extLst>
              <a:ext uri="{FF2B5EF4-FFF2-40B4-BE49-F238E27FC236}">
                <a16:creationId xmlns:a16="http://schemas.microsoft.com/office/drawing/2014/main" id="{425E6A6E-D5CF-41C7-BF1C-49FC8C5DDBF7}"/>
              </a:ext>
            </a:extLst>
          </p:cNvPr>
          <p:cNvSpPr>
            <a:spLocks noGrp="1"/>
          </p:cNvSpPr>
          <p:nvPr/>
        </p:nvSpPr>
        <p:spPr>
          <a:xfrm>
            <a:off x="8565798" y="2825972"/>
            <a:ext cx="68614" cy="33144"/>
          </a:xfrm>
          <a:custGeom>
            <a:avLst/>
            <a:gdLst/>
            <a:ahLst/>
            <a:cxnLst/>
            <a:rect l="0" t="0" r="0" b="0"/>
            <a:pathLst>
              <a:path w="68614" h="33144">
                <a:moveTo>
                  <a:pt x="68614" y="0"/>
                </a:moveTo>
                <a:lnTo>
                  <a:pt x="0" y="33144"/>
                </a:lnTo>
              </a:path>
            </a:pathLst>
          </a:custGeom>
          <a:noFill/>
          <a:ln w="14288">
            <a:solidFill>
              <a:srgbClr val="3E7C79"/>
            </a:solidFill>
          </a:ln>
        </p:spPr>
        <p:txBody>
          <a:bodyPr/>
          <a:lstStyle/>
          <a:p>
            <a:endParaRPr/>
          </a:p>
        </p:txBody>
      </p:sp>
      <p:sp>
        <p:nvSpPr>
          <p:cNvPr id="84" name="line">
            <a:extLst>
              <a:ext uri="{FF2B5EF4-FFF2-40B4-BE49-F238E27FC236}">
                <a16:creationId xmlns:a16="http://schemas.microsoft.com/office/drawing/2014/main" id="{9BA3E9D2-6B51-4DBC-9330-2191B98FDCF4}"/>
              </a:ext>
            </a:extLst>
          </p:cNvPr>
          <p:cNvSpPr>
            <a:spLocks noGrp="1"/>
          </p:cNvSpPr>
          <p:nvPr/>
        </p:nvSpPr>
        <p:spPr>
          <a:xfrm>
            <a:off x="8565798" y="2792828"/>
            <a:ext cx="68614" cy="33144"/>
          </a:xfrm>
          <a:custGeom>
            <a:avLst/>
            <a:gdLst/>
            <a:ahLst/>
            <a:cxnLst/>
            <a:rect l="0" t="0" r="0" b="0"/>
            <a:pathLst>
              <a:path w="68614" h="33144">
                <a:moveTo>
                  <a:pt x="68614" y="33144"/>
                </a:moveTo>
                <a:lnTo>
                  <a:pt x="0" y="0"/>
                </a:lnTo>
              </a:path>
            </a:pathLst>
          </a:custGeom>
          <a:noFill/>
          <a:ln w="14288">
            <a:solidFill>
              <a:srgbClr val="3E7C79"/>
            </a:solidFill>
          </a:ln>
        </p:spPr>
        <p:txBody>
          <a:bodyPr/>
          <a:lstStyle/>
          <a:p>
            <a:endParaRPr/>
          </a:p>
        </p:txBody>
      </p:sp>
      <p:sp>
        <p:nvSpPr>
          <p:cNvPr id="85" name="line">
            <a:extLst>
              <a:ext uri="{FF2B5EF4-FFF2-40B4-BE49-F238E27FC236}">
                <a16:creationId xmlns:a16="http://schemas.microsoft.com/office/drawing/2014/main" id="{CE11180B-4D16-45E2-95ED-0A73D7ED6C50}"/>
              </a:ext>
            </a:extLst>
          </p:cNvPr>
          <p:cNvSpPr>
            <a:spLocks noGrp="1"/>
          </p:cNvSpPr>
          <p:nvPr/>
        </p:nvSpPr>
        <p:spPr>
          <a:xfrm>
            <a:off x="7981950" y="3059906"/>
            <a:ext cx="9525" cy="464344"/>
          </a:xfrm>
          <a:custGeom>
            <a:avLst/>
            <a:gdLst/>
            <a:ahLst/>
            <a:cxnLst/>
            <a:rect l="0" t="0" r="0" b="0"/>
            <a:pathLst>
              <a:path w="9525" h="464344">
                <a:moveTo>
                  <a:pt x="0" y="0"/>
                </a:moveTo>
                <a:lnTo>
                  <a:pt x="0" y="464344"/>
                </a:lnTo>
              </a:path>
            </a:pathLst>
          </a:custGeom>
          <a:noFill/>
          <a:ln w="28575">
            <a:solidFill>
              <a:srgbClr val="3E7C79"/>
            </a:solidFill>
          </a:ln>
        </p:spPr>
        <p:txBody>
          <a:bodyPr/>
          <a:lstStyle/>
          <a:p>
            <a:endParaRPr/>
          </a:p>
        </p:txBody>
      </p:sp>
      <p:sp>
        <p:nvSpPr>
          <p:cNvPr id="86" name="line">
            <a:extLst>
              <a:ext uri="{FF2B5EF4-FFF2-40B4-BE49-F238E27FC236}">
                <a16:creationId xmlns:a16="http://schemas.microsoft.com/office/drawing/2014/main" id="{DCB09EE3-82DE-44E7-B054-5C109B6C86C5}"/>
              </a:ext>
            </a:extLst>
          </p:cNvPr>
          <p:cNvSpPr>
            <a:spLocks noGrp="1"/>
          </p:cNvSpPr>
          <p:nvPr/>
        </p:nvSpPr>
        <p:spPr>
          <a:xfrm>
            <a:off x="7981950" y="3524250"/>
            <a:ext cx="1685925" cy="9525"/>
          </a:xfrm>
          <a:custGeom>
            <a:avLst/>
            <a:gdLst/>
            <a:ahLst/>
            <a:cxnLst/>
            <a:rect l="0" t="0" r="0" b="0"/>
            <a:pathLst>
              <a:path w="1685925" h="9525">
                <a:moveTo>
                  <a:pt x="0" y="0"/>
                </a:moveTo>
                <a:lnTo>
                  <a:pt x="1685925" y="0"/>
                </a:lnTo>
              </a:path>
            </a:pathLst>
          </a:custGeom>
          <a:noFill/>
          <a:ln w="28575">
            <a:solidFill>
              <a:srgbClr val="3E7C79"/>
            </a:solidFill>
          </a:ln>
        </p:spPr>
        <p:txBody>
          <a:bodyPr/>
          <a:lstStyle/>
          <a:p>
            <a:endParaRPr/>
          </a:p>
        </p:txBody>
      </p:sp>
      <p:sp>
        <p:nvSpPr>
          <p:cNvPr id="87" name="Brady: $12">
            <a:extLst>
              <a:ext uri="{FF2B5EF4-FFF2-40B4-BE49-F238E27FC236}">
                <a16:creationId xmlns:a16="http://schemas.microsoft.com/office/drawing/2014/main" id="{7EB4593B-B4A7-4C9C-96E5-723D96C0DBD8}"/>
              </a:ext>
            </a:extLst>
          </p:cNvPr>
          <p:cNvSpPr>
            <a:spLocks noGrp="1"/>
          </p:cNvSpPr>
          <p:nvPr/>
        </p:nvSpPr>
        <p:spPr>
          <a:xfrm>
            <a:off x="9620250" y="3476625"/>
            <a:ext cx="95250" cy="95250"/>
          </a:xfrm>
          <a:prstGeom prst="ellipse">
            <a:avLst/>
          </a:prstGeom>
          <a:solidFill>
            <a:srgbClr val="3E7C79"/>
          </a:solidFill>
          <a:ln w="0">
            <a:noFill/>
          </a:ln>
        </p:spPr>
        <p:txBody>
          <a:bodyPr/>
          <a:lstStyle/>
          <a:p>
            <a:endParaRPr/>
          </a:p>
        </p:txBody>
      </p:sp>
      <p:sp>
        <p:nvSpPr>
          <p:cNvPr id="88" name="Brady">
            <a:extLst>
              <a:ext uri="{FF2B5EF4-FFF2-40B4-BE49-F238E27FC236}">
                <a16:creationId xmlns:a16="http://schemas.microsoft.com/office/drawing/2014/main" id="{1296E57D-C69E-4526-A43C-E6684C1DA5C1}"/>
              </a:ext>
            </a:extLst>
          </p:cNvPr>
          <p:cNvSpPr>
            <a:spLocks noGrp="1"/>
          </p:cNvSpPr>
          <p:nvPr/>
        </p:nvSpPr>
        <p:spPr>
          <a:xfrm>
            <a:off x="9344025" y="3257550"/>
            <a:ext cx="647700" cy="266700"/>
          </a:xfrm>
          <a:prstGeom prst="rect">
            <a:avLst/>
          </a:prstGeom>
          <a:noFill/>
          <a:ln w="0">
            <a:noFill/>
          </a:ln>
        </p:spPr>
        <p:txBody>
          <a:bodyPr wrap="none" lIns="0" tIns="0" rIns="0" bIns="0">
            <a:noAutofit/>
          </a:bodyPr>
          <a:lstStyle/>
          <a:p>
            <a:pPr algn="ctr">
              <a:buNone/>
              <a:defRPr sz="1725" b="1">
                <a:solidFill>
                  <a:srgbClr val="1C2321"/>
                </a:solidFill>
                <a:latin typeface="Cambria"/>
                <a:ea typeface="Cambria"/>
                <a:cs typeface="Cambria"/>
              </a:defRPr>
            </a:pPr>
            <a:r>
              <a:rPr sz="1725" b="1">
                <a:solidFill>
                  <a:srgbClr val="1C2321"/>
                </a:solidFill>
                <a:latin typeface="Cambria"/>
                <a:ea typeface="Cambria"/>
                <a:cs typeface="Cambria"/>
              </a:rPr>
              <a:t>Brady</a:t>
            </a:r>
          </a:p>
        </p:txBody>
      </p:sp>
      <p:sp>
        <p:nvSpPr>
          <p:cNvPr id="89" name="No purchase">
            <a:extLst>
              <a:ext uri="{FF2B5EF4-FFF2-40B4-BE49-F238E27FC236}">
                <a16:creationId xmlns:a16="http://schemas.microsoft.com/office/drawing/2014/main" id="{7E06B530-0B4A-4E8D-A550-E6251C0AD1E3}"/>
              </a:ext>
            </a:extLst>
          </p:cNvPr>
          <p:cNvSpPr>
            <a:spLocks noGrp="1"/>
          </p:cNvSpPr>
          <p:nvPr/>
        </p:nvSpPr>
        <p:spPr>
          <a:xfrm>
            <a:off x="8715375" y="3657600"/>
            <a:ext cx="2095500" cy="276225"/>
          </a:xfrm>
          <a:prstGeom prst="rect">
            <a:avLst/>
          </a:prstGeom>
          <a:noFill/>
          <a:ln w="0">
            <a:noFill/>
          </a:ln>
        </p:spPr>
        <p:txBody>
          <a:bodyPr wrap="none" lIns="0" tIns="0" rIns="0" bIns="0">
            <a:noAutofit/>
          </a:bodyPr>
          <a:lstStyle/>
          <a:p>
            <a:pPr algn="ctr">
              <a:buNone/>
              <a:defRPr sz="1800" b="1">
                <a:solidFill>
                  <a:srgbClr val="1C2321"/>
                </a:solidFill>
                <a:latin typeface="Cambria"/>
                <a:ea typeface="Cambria"/>
                <a:cs typeface="Cambria"/>
              </a:defRPr>
            </a:pPr>
            <a:r>
              <a:rPr sz="1800" b="1">
                <a:solidFill>
                  <a:srgbClr val="1C2321"/>
                </a:solidFill>
                <a:latin typeface="Cambria"/>
                <a:ea typeface="Cambria"/>
                <a:cs typeface="Cambria"/>
              </a:rPr>
              <a:t>No purchase</a:t>
            </a:r>
          </a:p>
        </p:txBody>
      </p:sp>
      <p:sp>
        <p:nvSpPr>
          <p:cNvPr id="90" name="$0 surplus">
            <a:extLst>
              <a:ext uri="{FF2B5EF4-FFF2-40B4-BE49-F238E27FC236}">
                <a16:creationId xmlns:a16="http://schemas.microsoft.com/office/drawing/2014/main" id="{6D5CAC39-307B-49B4-B858-0E68A9616E4E}"/>
              </a:ext>
            </a:extLst>
          </p:cNvPr>
          <p:cNvSpPr>
            <a:spLocks noGrp="1"/>
          </p:cNvSpPr>
          <p:nvPr/>
        </p:nvSpPr>
        <p:spPr>
          <a:xfrm>
            <a:off x="8715375" y="3962400"/>
            <a:ext cx="2095500" cy="257175"/>
          </a:xfrm>
          <a:prstGeom prst="rect">
            <a:avLst/>
          </a:prstGeom>
          <a:noFill/>
          <a:ln w="0">
            <a:noFill/>
          </a:ln>
        </p:spPr>
        <p:txBody>
          <a:bodyPr wrap="none" lIns="0" tIns="0" rIns="0" bIns="0">
            <a:noAutofit/>
          </a:bodyPr>
          <a:lstStyle/>
          <a:p>
            <a:pPr algn="ctr">
              <a:buNone/>
              <a:defRPr sz="1650" b="0">
                <a:solidFill>
                  <a:srgbClr val="51605E"/>
                </a:solidFill>
                <a:latin typeface="Cambria"/>
                <a:ea typeface="Cambria"/>
                <a:cs typeface="Cambria"/>
              </a:defRPr>
            </a:pPr>
            <a:r>
              <a:rPr sz="1650" b="0">
                <a:solidFill>
                  <a:srgbClr val="51605E"/>
                </a:solidFill>
                <a:latin typeface="Cambria"/>
                <a:ea typeface="Cambria"/>
                <a:cs typeface="Cambria"/>
              </a:rPr>
              <a:t>$0 surplus</a:t>
            </a:r>
          </a:p>
        </p:txBody>
      </p:sp>
      <p:sp>
        <p:nvSpPr>
          <p:cNvPr id="91" name="Demand">
            <a:extLst>
              <a:ext uri="{FF2B5EF4-FFF2-40B4-BE49-F238E27FC236}">
                <a16:creationId xmlns:a16="http://schemas.microsoft.com/office/drawing/2014/main" id="{769ECC43-7C7B-4368-B38B-1E826EF31DB6}"/>
              </a:ext>
            </a:extLst>
          </p:cNvPr>
          <p:cNvSpPr>
            <a:spLocks noGrp="1"/>
          </p:cNvSpPr>
          <p:nvPr/>
        </p:nvSpPr>
        <p:spPr>
          <a:xfrm>
            <a:off x="9810750" y="4324350"/>
            <a:ext cx="1428750" cy="285750"/>
          </a:xfrm>
          <a:prstGeom prst="rect">
            <a:avLst/>
          </a:prstGeom>
          <a:noFill/>
          <a:ln w="0">
            <a:noFill/>
          </a:ln>
        </p:spPr>
        <p:txBody>
          <a:bodyPr wrap="none" lIns="0" tIns="0" rIns="0" bIns="0">
            <a:noAutofit/>
          </a:bodyPr>
          <a:lstStyle/>
          <a:p>
            <a:pPr algn="l">
              <a:buNone/>
              <a:defRPr sz="1875" b="1">
                <a:solidFill>
                  <a:srgbClr val="3E7C79"/>
                </a:solidFill>
                <a:latin typeface="Cambria"/>
                <a:ea typeface="Cambria"/>
                <a:cs typeface="Cambria"/>
              </a:defRPr>
            </a:pPr>
            <a:r>
              <a:rPr sz="1875" b="1">
                <a:solidFill>
                  <a:srgbClr val="3E7C79"/>
                </a:solidFill>
                <a:latin typeface="Cambria"/>
                <a:ea typeface="Cambria"/>
                <a:cs typeface="Cambria"/>
              </a:rPr>
              <a:t>Demand</a:t>
            </a:r>
          </a:p>
        </p:txBody>
      </p:sp>
      <p:sp>
        <p:nvSpPr>
          <p:cNvPr id="92" name="Total consumer surplus = $6 + $3 + $2 + ">
            <a:extLst>
              <a:ext uri="{FF2B5EF4-FFF2-40B4-BE49-F238E27FC236}">
                <a16:creationId xmlns:a16="http://schemas.microsoft.com/office/drawing/2014/main" id="{47271557-A7EB-403B-9D86-111E9CEB3AA9}"/>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1">
                <a:solidFill>
                  <a:srgbClr val="3E7C79"/>
                </a:solidFill>
                <a:latin typeface="Cambria"/>
                <a:ea typeface="Cambria"/>
                <a:cs typeface="Cambria"/>
              </a:defRPr>
            </a:pPr>
            <a:r>
              <a:rPr sz="1950" b="1">
                <a:solidFill>
                  <a:srgbClr val="3E7C79"/>
                </a:solidFill>
                <a:latin typeface="Cambria"/>
                <a:ea typeface="Cambria"/>
                <a:cs typeface="Cambria"/>
              </a:rPr>
              <a:t>Total consumer surplus = $6 + $3 + $2 + $0 = $11</a:t>
            </a:r>
          </a:p>
        </p:txBody>
      </p:sp>
    </p:spTree>
    <p:extLst>
      <p:ext uri="{BB962C8B-B14F-4D97-AF65-F5344CB8AC3E}">
        <p14:creationId xmlns:p14="http://schemas.microsoft.com/office/powerpoint/2010/main" val="322328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79CB0CC-15B4-4C18-8E05-E20D30D5B804}"/>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7375CC4E-6EA5-40CE-A474-9014A5149BFB}"/>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QUIZ REVIEW  ·  ANSWER</a:t>
            </a:r>
            <a:endParaRPr sz="1300"/>
          </a:p>
        </p:txBody>
      </p:sp>
      <p:sp>
        <p:nvSpPr>
          <p:cNvPr id="4" name="Text 2">
            <a:extLst>
              <a:ext uri="{FF2B5EF4-FFF2-40B4-BE49-F238E27FC236}">
                <a16:creationId xmlns:a16="http://schemas.microsoft.com/office/drawing/2014/main" id="{49A1975B-331D-485C-8DCF-C648443F6F40}"/>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E4C48711-3ED1-4CA7-8545-A7EC4B9E7B06}"/>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20</a:t>
            </a:r>
            <a:endParaRPr sz="1000"/>
          </a:p>
        </p:txBody>
      </p:sp>
      <p:sp>
        <p:nvSpPr>
          <p:cNvPr id="6" name="Text 4">
            <a:extLst>
              <a:ext uri="{FF2B5EF4-FFF2-40B4-BE49-F238E27FC236}">
                <a16:creationId xmlns:a16="http://schemas.microsoft.com/office/drawing/2014/main" id="{79C3BD69-592A-4A81-9E75-E1204EEE135E}"/>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Consumer Surplus</a:t>
            </a:r>
            <a:endParaRPr sz="3200"/>
          </a:p>
        </p:txBody>
      </p:sp>
      <p:sp>
        <p:nvSpPr>
          <p:cNvPr id="7" name="Text 5">
            <a:extLst>
              <a:ext uri="{FF2B5EF4-FFF2-40B4-BE49-F238E27FC236}">
                <a16:creationId xmlns:a16="http://schemas.microsoft.com/office/drawing/2014/main" id="{C4AC8226-8F10-4364-B32B-0BFE0FA8CA76}"/>
              </a:ext>
            </a:extLst>
          </p:cNvPr>
          <p:cNvSpPr>
            <a:spLocks noGrp="1"/>
          </p:cNvSpPr>
          <p:nvPr/>
        </p:nvSpPr>
        <p:spPr>
          <a:xfrm>
            <a:off x="548640" y="1783080"/>
            <a:ext cx="10881360" cy="448056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Consumer surplus is the gap between what a buyer is willing to pay and what they actually pay.</a:t>
            </a:r>
            <a:endParaRPr sz="1800"/>
          </a:p>
          <a:p>
            <a:pPr marL="508000" lvl="1" indent="-254000">
              <a:spcAft>
                <a:spcPts val="1000"/>
              </a:spcAft>
              <a:buSzPct val="100000"/>
              <a:buChar char="–"/>
            </a:pPr>
            <a:r>
              <a:rPr sz="1700" i="1">
                <a:solidFill>
                  <a:srgbClr val="3E7C79"/>
                </a:solidFill>
                <a:latin typeface="Cambria"/>
                <a:ea typeface="Cambria"/>
                <a:cs typeface="Cambria"/>
              </a:rPr>
              <a:t>Willingness to pay minus the market price, for each buyer who makes the purchase.</a:t>
            </a:r>
            <a:endParaRPr sz="1800"/>
          </a:p>
          <a:p>
            <a:pPr marL="279400" indent="-279400">
              <a:spcAft>
                <a:spcPts val="800"/>
              </a:spcAft>
              <a:buSzPct val="100000"/>
              <a:buChar char="●"/>
            </a:pPr>
            <a:r>
              <a:rPr sz="1800" b="1">
                <a:solidFill>
                  <a:srgbClr val="1C2321"/>
                </a:solidFill>
                <a:latin typeface="Cambria"/>
                <a:ea typeface="Cambria"/>
                <a:cs typeface="Cambria"/>
              </a:rPr>
              <a:t>Total consumer surplus is every individual’s consumer surplus added together.</a:t>
            </a:r>
            <a:endParaRPr sz="1800"/>
          </a:p>
          <a:p>
            <a:pPr marL="508000" lvl="1" indent="-254000">
              <a:spcAft>
                <a:spcPts val="1000"/>
              </a:spcAft>
              <a:buSzPct val="100000"/>
              <a:buChar char="–"/>
            </a:pPr>
            <a:r>
              <a:rPr sz="1700" i="1">
                <a:solidFill>
                  <a:srgbClr val="3E7C79"/>
                </a:solidFill>
                <a:latin typeface="Cambria"/>
                <a:ea typeface="Cambria"/>
                <a:cs typeface="Cambria"/>
              </a:rPr>
              <a:t>Amanda $6 + Hannah $3 + Ben $2 + Alyssa $0 = $11 in total consumer surplus.</a:t>
            </a:r>
            <a:endParaRPr sz="1800"/>
          </a:p>
          <a:p>
            <a:pPr marL="279400" indent="-279400">
              <a:spcAft>
                <a:spcPts val="800"/>
              </a:spcAft>
              <a:buSzPct val="100000"/>
              <a:buChar char="●"/>
            </a:pPr>
            <a:r>
              <a:rPr sz="1800" b="1">
                <a:solidFill>
                  <a:srgbClr val="1C2321"/>
                </a:solidFill>
                <a:latin typeface="Cambria"/>
                <a:ea typeface="Cambria"/>
                <a:cs typeface="Cambria"/>
              </a:rPr>
              <a:t>So why didn’t Brady get included in this calculation?</a:t>
            </a:r>
            <a:endParaRPr sz="1800"/>
          </a:p>
          <a:p>
            <a:pPr marL="508000" lvl="1" indent="-254000">
              <a:spcAft>
                <a:spcPts val="1000"/>
              </a:spcAft>
              <a:buSzPct val="100000"/>
              <a:buChar char="–"/>
            </a:pPr>
            <a:r>
              <a:rPr sz="1700" i="1">
                <a:solidFill>
                  <a:srgbClr val="3E7C79"/>
                </a:solidFill>
                <a:latin typeface="Cambria"/>
                <a:ea typeface="Cambria"/>
                <a:cs typeface="Cambria"/>
              </a:rPr>
              <a:t>Go back to our lesson on trade: a person enters a trade only when they expect to be better off for it.</a:t>
            </a:r>
            <a:endParaRPr sz="1800"/>
          </a:p>
          <a:p>
            <a:pPr marL="508000" lvl="1" indent="-254000">
              <a:spcAft>
                <a:spcPts val="1000"/>
              </a:spcAft>
              <a:buSzPct val="100000"/>
              <a:buChar char="–"/>
            </a:pPr>
            <a:r>
              <a:rPr sz="1700" i="1">
                <a:solidFill>
                  <a:srgbClr val="3E7C79"/>
                </a:solidFill>
                <a:latin typeface="Cambria"/>
                <a:ea typeface="Cambria"/>
                <a:cs typeface="Cambria"/>
              </a:rPr>
              <a:t>Willingness to pay is the most someone will give up to obtain the good. Brady’s maximum is $12, and the market price is $15 — more than the case is worth to him.</a:t>
            </a:r>
            <a:endParaRPr sz="1800"/>
          </a:p>
          <a:p>
            <a:pPr marL="508000" lvl="1" indent="-254000">
              <a:spcAft>
                <a:spcPts val="1000"/>
              </a:spcAft>
              <a:buSzPct val="100000"/>
              <a:buChar char="–"/>
            </a:pPr>
            <a:r>
              <a:rPr sz="1700" i="1">
                <a:solidFill>
                  <a:srgbClr val="3E7C79"/>
                </a:solidFill>
                <a:latin typeface="Cambria"/>
                <a:ea typeface="Cambria"/>
                <a:cs typeface="Cambria"/>
              </a:rPr>
              <a:t>So he never enters the trade, and he gains no surplus. He isn’t left out of the calculation; he simply isn’t a buyer.</a:t>
            </a:r>
            <a:endParaRPr sz="1800"/>
          </a:p>
        </p:txBody>
      </p:sp>
    </p:spTree>
    <p:extLst>
      <p:ext uri="{BB962C8B-B14F-4D97-AF65-F5344CB8AC3E}">
        <p14:creationId xmlns:p14="http://schemas.microsoft.com/office/powerpoint/2010/main" val="569590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9D9E7C6-4DD2-4C5D-978A-F21C3A008BED}"/>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2EDEC772-36C2-4527-9EA3-D2EEEA86B55F}"/>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PRODUCER SURPLUS</a:t>
            </a:r>
            <a:endParaRPr sz="1300"/>
          </a:p>
        </p:txBody>
      </p:sp>
      <p:sp>
        <p:nvSpPr>
          <p:cNvPr id="4" name="Text 2">
            <a:extLst>
              <a:ext uri="{FF2B5EF4-FFF2-40B4-BE49-F238E27FC236}">
                <a16:creationId xmlns:a16="http://schemas.microsoft.com/office/drawing/2014/main" id="{E9780199-593E-43DD-A7AC-1585B2ADA62D}"/>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7D414BA0-4ECE-4125-874D-A63920C74E3F}"/>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21</a:t>
            </a:r>
            <a:endParaRPr sz="1000"/>
          </a:p>
        </p:txBody>
      </p:sp>
      <p:sp>
        <p:nvSpPr>
          <p:cNvPr id="6" name="Text 4">
            <a:extLst>
              <a:ext uri="{FF2B5EF4-FFF2-40B4-BE49-F238E27FC236}">
                <a16:creationId xmlns:a16="http://schemas.microsoft.com/office/drawing/2014/main" id="{01C1D924-9E09-401D-A51D-030908C1E3FF}"/>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Producer Surplus: Beer</a:t>
            </a:r>
            <a:endParaRPr sz="3200"/>
          </a:p>
        </p:txBody>
      </p:sp>
      <p:graphicFrame>
        <p:nvGraphicFramePr>
          <p:cNvPr id="19" name="Table 18"/>
          <p:cNvGraphicFramePr/>
          <p:nvPr/>
        </p:nvGraphicFramePr>
        <p:xfrm>
          <a:off x="1981200" y="2352675"/>
          <a:ext cx="8229600" cy="3143250"/>
        </p:xfrm>
        <a:graphic>
          <a:graphicData uri="http://schemas.openxmlformats.org/drawingml/2006/table">
            <a:tbl>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523875">
                <a:tc>
                  <a:txBody>
                    <a:bodyPr/>
                    <a:lstStyle/>
                    <a:p>
                      <a:pPr algn="l">
                        <a:buNone/>
                      </a:pPr>
                      <a:r>
                        <a:rPr sz="1950" b="1">
                          <a:solidFill>
                            <a:srgbClr val="1C2321"/>
                          </a:solidFill>
                          <a:latin typeface="Cambria"/>
                          <a:ea typeface="Cambria"/>
                          <a:cs typeface="Cambria"/>
                        </a:rPr>
                        <a:t>Beer company</a:t>
                      </a:r>
                    </a:p>
                  </a:txBody>
                  <a:tcPr anchor="ctr">
                    <a:solidFill>
                      <a:srgbClr val="F1E3DA"/>
                    </a:solidFill>
                  </a:tcPr>
                </a:tc>
                <a:tc>
                  <a:txBody>
                    <a:bodyPr/>
                    <a:lstStyle/>
                    <a:p>
                      <a:pPr algn="ctr">
                        <a:buNone/>
                      </a:pPr>
                      <a:r>
                        <a:rPr sz="1950" b="1">
                          <a:solidFill>
                            <a:srgbClr val="1C2321"/>
                          </a:solidFill>
                          <a:latin typeface="Cambria"/>
                          <a:ea typeface="Cambria"/>
                          <a:cs typeface="Cambria"/>
                        </a:rPr>
                        <a:t>Minimum acceptable price</a:t>
                      </a:r>
                    </a:p>
                  </a:txBody>
                  <a:tcPr anchor="ctr">
                    <a:solidFill>
                      <a:srgbClr val="F1E3DA"/>
                    </a:solidFill>
                  </a:tcPr>
                </a:tc>
                <a:extLst>
                  <a:ext uri="{0D108BD9-81ED-4DB2-BD59-A6C34878D82A}">
                    <a16:rowId xmlns:a16="http://schemas.microsoft.com/office/drawing/2014/main" val="10000"/>
                  </a:ext>
                </a:extLst>
              </a:tr>
              <a:tr h="523875">
                <a:tc>
                  <a:txBody>
                    <a:bodyPr/>
                    <a:lstStyle/>
                    <a:p>
                      <a:pPr algn="l">
                        <a:buNone/>
                      </a:pPr>
                      <a:r>
                        <a:rPr sz="1950" b="0">
                          <a:solidFill>
                            <a:srgbClr val="1C2321"/>
                          </a:solidFill>
                          <a:latin typeface="Cambria"/>
                          <a:ea typeface="Cambria"/>
                          <a:cs typeface="Cambria"/>
                        </a:rPr>
                        <a:t>Guinness</a:t>
                      </a:r>
                    </a:p>
                  </a:txBody>
                  <a:tcPr anchor="ctr">
                    <a:solidFill>
                      <a:srgbClr val="FAF6F3"/>
                    </a:solidFill>
                  </a:tcPr>
                </a:tc>
                <a:tc>
                  <a:txBody>
                    <a:bodyPr/>
                    <a:lstStyle/>
                    <a:p>
                      <a:pPr algn="ctr">
                        <a:buNone/>
                      </a:pPr>
                      <a:r>
                        <a:rPr sz="1950" b="0">
                          <a:solidFill>
                            <a:srgbClr val="1C2321"/>
                          </a:solidFill>
                          <a:latin typeface="Cambria"/>
                          <a:ea typeface="Cambria"/>
                          <a:cs typeface="Cambria"/>
                        </a:rPr>
                        <a:t>$12</a:t>
                      </a:r>
                    </a:p>
                  </a:txBody>
                  <a:tcPr anchor="ctr">
                    <a:solidFill>
                      <a:srgbClr val="FAF6F3"/>
                    </a:solidFill>
                  </a:tcPr>
                </a:tc>
                <a:extLst>
                  <a:ext uri="{0D108BD9-81ED-4DB2-BD59-A6C34878D82A}">
                    <a16:rowId xmlns:a16="http://schemas.microsoft.com/office/drawing/2014/main" val="10001"/>
                  </a:ext>
                </a:extLst>
              </a:tr>
              <a:tr h="523875">
                <a:tc>
                  <a:txBody>
                    <a:bodyPr/>
                    <a:lstStyle/>
                    <a:p>
                      <a:pPr algn="l">
                        <a:buNone/>
                      </a:pPr>
                      <a:r>
                        <a:rPr sz="1950" b="0">
                          <a:solidFill>
                            <a:srgbClr val="1C2321"/>
                          </a:solidFill>
                          <a:latin typeface="Cambria"/>
                          <a:ea typeface="Cambria"/>
                          <a:cs typeface="Cambria"/>
                        </a:rPr>
                        <a:t>Heineken</a:t>
                      </a:r>
                    </a:p>
                  </a:txBody>
                  <a:tcPr anchor="ctr">
                    <a:solidFill>
                      <a:srgbClr val="FAF6F3"/>
                    </a:solidFill>
                  </a:tcPr>
                </a:tc>
                <a:tc>
                  <a:txBody>
                    <a:bodyPr/>
                    <a:lstStyle/>
                    <a:p>
                      <a:pPr algn="ctr">
                        <a:buNone/>
                      </a:pPr>
                      <a:r>
                        <a:rPr sz="1950" b="0">
                          <a:solidFill>
                            <a:srgbClr val="1C2321"/>
                          </a:solidFill>
                          <a:latin typeface="Cambria"/>
                          <a:ea typeface="Cambria"/>
                          <a:cs typeface="Cambria"/>
                        </a:rPr>
                        <a:t>$17</a:t>
                      </a:r>
                    </a:p>
                  </a:txBody>
                  <a:tcPr anchor="ctr">
                    <a:solidFill>
                      <a:srgbClr val="FAF6F3"/>
                    </a:solidFill>
                  </a:tcPr>
                </a:tc>
                <a:extLst>
                  <a:ext uri="{0D108BD9-81ED-4DB2-BD59-A6C34878D82A}">
                    <a16:rowId xmlns:a16="http://schemas.microsoft.com/office/drawing/2014/main" val="10002"/>
                  </a:ext>
                </a:extLst>
              </a:tr>
              <a:tr h="523875">
                <a:tc>
                  <a:txBody>
                    <a:bodyPr/>
                    <a:lstStyle/>
                    <a:p>
                      <a:pPr algn="l">
                        <a:buNone/>
                      </a:pPr>
                      <a:r>
                        <a:rPr sz="1950" b="0">
                          <a:solidFill>
                            <a:srgbClr val="1C2321"/>
                          </a:solidFill>
                          <a:latin typeface="Cambria"/>
                          <a:ea typeface="Cambria"/>
                          <a:cs typeface="Cambria"/>
                        </a:rPr>
                        <a:t>Coors</a:t>
                      </a:r>
                    </a:p>
                  </a:txBody>
                  <a:tcPr anchor="ctr">
                    <a:solidFill>
                      <a:srgbClr val="FAF6F3"/>
                    </a:solidFill>
                  </a:tcPr>
                </a:tc>
                <a:tc>
                  <a:txBody>
                    <a:bodyPr/>
                    <a:lstStyle/>
                    <a:p>
                      <a:pPr algn="ctr">
                        <a:buNone/>
                      </a:pPr>
                      <a:r>
                        <a:rPr sz="1950" b="0">
                          <a:solidFill>
                            <a:srgbClr val="1C2321"/>
                          </a:solidFill>
                          <a:latin typeface="Cambria"/>
                          <a:ea typeface="Cambria"/>
                          <a:cs typeface="Cambria"/>
                        </a:rPr>
                        <a:t>$22</a:t>
                      </a:r>
                    </a:p>
                  </a:txBody>
                  <a:tcPr anchor="ctr">
                    <a:solidFill>
                      <a:srgbClr val="FAF6F3"/>
                    </a:solidFill>
                  </a:tcPr>
                </a:tc>
                <a:extLst>
                  <a:ext uri="{0D108BD9-81ED-4DB2-BD59-A6C34878D82A}">
                    <a16:rowId xmlns:a16="http://schemas.microsoft.com/office/drawing/2014/main" val="10003"/>
                  </a:ext>
                </a:extLst>
              </a:tr>
              <a:tr h="523875">
                <a:tc>
                  <a:txBody>
                    <a:bodyPr/>
                    <a:lstStyle/>
                    <a:p>
                      <a:pPr algn="l">
                        <a:buNone/>
                      </a:pPr>
                      <a:r>
                        <a:rPr sz="1950" b="0">
                          <a:solidFill>
                            <a:srgbClr val="1C2321"/>
                          </a:solidFill>
                          <a:latin typeface="Cambria"/>
                          <a:ea typeface="Cambria"/>
                          <a:cs typeface="Cambria"/>
                        </a:rPr>
                        <a:t>Miller</a:t>
                      </a:r>
                    </a:p>
                  </a:txBody>
                  <a:tcPr anchor="ctr">
                    <a:solidFill>
                      <a:srgbClr val="FAF6F3"/>
                    </a:solidFill>
                  </a:tcPr>
                </a:tc>
                <a:tc>
                  <a:txBody>
                    <a:bodyPr/>
                    <a:lstStyle/>
                    <a:p>
                      <a:pPr algn="ctr">
                        <a:buNone/>
                      </a:pPr>
                      <a:r>
                        <a:rPr sz="1950" b="0">
                          <a:solidFill>
                            <a:srgbClr val="1C2321"/>
                          </a:solidFill>
                          <a:latin typeface="Cambria"/>
                          <a:ea typeface="Cambria"/>
                          <a:cs typeface="Cambria"/>
                        </a:rPr>
                        <a:t>$24</a:t>
                      </a:r>
                    </a:p>
                  </a:txBody>
                  <a:tcPr anchor="ctr">
                    <a:solidFill>
                      <a:srgbClr val="FAF6F3"/>
                    </a:solidFill>
                  </a:tcPr>
                </a:tc>
                <a:extLst>
                  <a:ext uri="{0D108BD9-81ED-4DB2-BD59-A6C34878D82A}">
                    <a16:rowId xmlns:a16="http://schemas.microsoft.com/office/drawing/2014/main" val="10004"/>
                  </a:ext>
                </a:extLst>
              </a:tr>
              <a:tr h="523875">
                <a:tc>
                  <a:txBody>
                    <a:bodyPr/>
                    <a:lstStyle/>
                    <a:p>
                      <a:pPr algn="l">
                        <a:buNone/>
                      </a:pPr>
                      <a:r>
                        <a:rPr sz="1950" b="0">
                          <a:solidFill>
                            <a:srgbClr val="1C2321"/>
                          </a:solidFill>
                          <a:latin typeface="Cambria"/>
                          <a:ea typeface="Cambria"/>
                          <a:cs typeface="Cambria"/>
                        </a:rPr>
                        <a:t>Yuengling</a:t>
                      </a:r>
                    </a:p>
                  </a:txBody>
                  <a:tcPr anchor="ctr">
                    <a:solidFill>
                      <a:srgbClr val="FAF6F3"/>
                    </a:solidFill>
                  </a:tcPr>
                </a:tc>
                <a:tc>
                  <a:txBody>
                    <a:bodyPr/>
                    <a:lstStyle/>
                    <a:p>
                      <a:pPr algn="ctr">
                        <a:buNone/>
                      </a:pPr>
                      <a:r>
                        <a:rPr sz="1950" b="0">
                          <a:solidFill>
                            <a:srgbClr val="1C2321"/>
                          </a:solidFill>
                          <a:latin typeface="Cambria"/>
                          <a:ea typeface="Cambria"/>
                          <a:cs typeface="Cambria"/>
                        </a:rPr>
                        <a:t>$27</a:t>
                      </a:r>
                    </a:p>
                  </a:txBody>
                  <a:tcPr anchor="ctr">
                    <a:solidFill>
                      <a:srgbClr val="FAF6F3"/>
                    </a:solidFill>
                  </a:tcPr>
                </a:tc>
                <a:extLst>
                  <a:ext uri="{0D108BD9-81ED-4DB2-BD59-A6C34878D82A}">
                    <a16:rowId xmlns:a16="http://schemas.microsoft.com/office/drawing/2014/main" val="10005"/>
                  </a:ext>
                </a:extLst>
              </a:tr>
            </a:tbl>
          </a:graphicData>
        </a:graphic>
      </p:graphicFrame>
      <p:sp>
        <p:nvSpPr>
          <p:cNvPr id="11" name="Practice example: each beer company offe">
            <a:extLst>
              <a:ext uri="{FF2B5EF4-FFF2-40B4-BE49-F238E27FC236}">
                <a16:creationId xmlns:a16="http://schemas.microsoft.com/office/drawing/2014/main" id="{5381F869-1BE8-422F-81D2-38981018C965}"/>
              </a:ext>
            </a:extLst>
          </p:cNvPr>
          <p:cNvSpPr>
            <a:spLocks noGrp="1"/>
          </p:cNvSpPr>
          <p:nvPr/>
        </p:nvSpPr>
        <p:spPr>
          <a:xfrm>
            <a:off x="552450" y="1695450"/>
            <a:ext cx="11087100" cy="419100"/>
          </a:xfrm>
          <a:prstGeom prst="rect">
            <a:avLst/>
          </a:prstGeom>
          <a:noFill/>
          <a:ln w="0">
            <a:noFill/>
          </a:ln>
        </p:spPr>
        <p:txBody>
          <a:bodyPr wrap="none" lIns="0" tIns="0" rIns="0" bIns="0">
            <a:noAutofit/>
          </a:bodyPr>
          <a:lstStyle/>
          <a:p>
            <a:pPr algn="l">
              <a:buNone/>
              <a:defRPr sz="2025" b="0">
                <a:solidFill>
                  <a:srgbClr val="1C2321"/>
                </a:solidFill>
                <a:latin typeface="Cambria"/>
                <a:ea typeface="Cambria"/>
                <a:cs typeface="Cambria"/>
              </a:defRPr>
            </a:pPr>
            <a:r>
              <a:rPr sz="2025" b="0">
                <a:solidFill>
                  <a:srgbClr val="1C2321"/>
                </a:solidFill>
                <a:latin typeface="Cambria"/>
                <a:ea typeface="Cambria"/>
                <a:cs typeface="Cambria"/>
              </a:rPr>
              <a:t>Practice example: each beer company offers one case of beer at a market price of $24.</a:t>
            </a:r>
          </a:p>
        </p:txBody>
      </p:sp>
      <p:sp>
        <p:nvSpPr>
          <p:cNvPr id="12" name="Who sells? Who gains the most? What is t">
            <a:extLst>
              <a:ext uri="{FF2B5EF4-FFF2-40B4-BE49-F238E27FC236}">
                <a16:creationId xmlns:a16="http://schemas.microsoft.com/office/drawing/2014/main" id="{0EF27411-DC6C-45BF-8890-88E339A3ECB1}"/>
              </a:ext>
            </a:extLst>
          </p:cNvPr>
          <p:cNvSpPr>
            <a:spLocks noGrp="1"/>
          </p:cNvSpPr>
          <p:nvPr/>
        </p:nvSpPr>
        <p:spPr>
          <a:xfrm>
            <a:off x="552450" y="5800725"/>
            <a:ext cx="11087100" cy="371475"/>
          </a:xfrm>
          <a:prstGeom prst="rect">
            <a:avLst/>
          </a:prstGeom>
          <a:noFill/>
          <a:ln w="0">
            <a:noFill/>
          </a:ln>
        </p:spPr>
        <p:txBody>
          <a:bodyPr wrap="none" lIns="0" tIns="0" rIns="0" bIns="0">
            <a:noAutofit/>
          </a:bodyPr>
          <a:lstStyle/>
          <a:p>
            <a:pPr algn="ctr">
              <a:buNone/>
              <a:defRPr sz="2025" b="1">
                <a:solidFill>
                  <a:srgbClr val="3E7C79"/>
                </a:solidFill>
                <a:latin typeface="Cambria"/>
                <a:ea typeface="Cambria"/>
                <a:cs typeface="Cambria"/>
              </a:defRPr>
            </a:pPr>
            <a:r>
              <a:rPr sz="2025" b="1">
                <a:solidFill>
                  <a:srgbClr val="3E7C79"/>
                </a:solidFill>
                <a:latin typeface="Cambria"/>
                <a:ea typeface="Cambria"/>
                <a:cs typeface="Cambria"/>
              </a:rPr>
              <a:t>Who sells? Who gains the most? What is total producer surplus?</a:t>
            </a:r>
          </a:p>
        </p:txBody>
      </p:sp>
    </p:spTree>
    <p:extLst>
      <p:ext uri="{BB962C8B-B14F-4D97-AF65-F5344CB8AC3E}">
        <p14:creationId xmlns:p14="http://schemas.microsoft.com/office/powerpoint/2010/main" val="1772981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722DC8-2EC3-4A64-BD44-49F1B55D6B05}"/>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26BDF27A-6805-4A03-AB55-C68B8EE88ADD}"/>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PRODUCER SURPLUS</a:t>
            </a:r>
            <a:endParaRPr sz="1300"/>
          </a:p>
        </p:txBody>
      </p:sp>
      <p:sp>
        <p:nvSpPr>
          <p:cNvPr id="4" name="Text 2">
            <a:extLst>
              <a:ext uri="{FF2B5EF4-FFF2-40B4-BE49-F238E27FC236}">
                <a16:creationId xmlns:a16="http://schemas.microsoft.com/office/drawing/2014/main" id="{24A35A13-0C58-438A-899F-A47A77495321}"/>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B6D8041-10A7-4D91-9CC0-8BFBF915F16F}"/>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22</a:t>
            </a:r>
            <a:endParaRPr sz="1000"/>
          </a:p>
        </p:txBody>
      </p:sp>
      <p:sp>
        <p:nvSpPr>
          <p:cNvPr id="6" name="Text 4">
            <a:extLst>
              <a:ext uri="{FF2B5EF4-FFF2-40B4-BE49-F238E27FC236}">
                <a16:creationId xmlns:a16="http://schemas.microsoft.com/office/drawing/2014/main" id="{B02E5398-4F75-4063-917A-599867684CE8}"/>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Producer Surplus: Beer</a:t>
            </a:r>
            <a:endParaRPr sz="3200"/>
          </a:p>
        </p:txBody>
      </p:sp>
      <p:sp>
        <p:nvSpPr>
          <p:cNvPr id="7" name="Price">
            <a:extLst>
              <a:ext uri="{FF2B5EF4-FFF2-40B4-BE49-F238E27FC236}">
                <a16:creationId xmlns:a16="http://schemas.microsoft.com/office/drawing/2014/main" id="{9B088248-B1CE-4793-B39A-156098D55EC6}"/>
              </a:ext>
            </a:extLst>
          </p:cNvPr>
          <p:cNvSpPr>
            <a:spLocks noGrp="1"/>
          </p:cNvSpPr>
          <p:nvPr/>
        </p:nvSpPr>
        <p:spPr>
          <a:xfrm>
            <a:off x="790575" y="1304925"/>
            <a:ext cx="895350" cy="285750"/>
          </a:xfrm>
          <a:prstGeom prst="rect">
            <a:avLst/>
          </a:prstGeom>
          <a:noFill/>
          <a:ln w="0">
            <a:noFill/>
          </a:ln>
        </p:spPr>
        <p:txBody>
          <a:bodyPr wrap="none" lIns="0" tIns="0" rIns="0" bIns="0">
            <a:noAutofit/>
          </a:bodyPr>
          <a:lstStyle/>
          <a:p>
            <a:pPr algn="ctr">
              <a:buNone/>
              <a:defRPr sz="1800" b="0">
                <a:solidFill>
                  <a:srgbClr val="51605E"/>
                </a:solidFill>
                <a:latin typeface="Cambria"/>
                <a:ea typeface="Cambria"/>
                <a:cs typeface="Cambria"/>
              </a:defRPr>
            </a:pPr>
            <a:r>
              <a:rPr sz="1800" b="0">
                <a:solidFill>
                  <a:srgbClr val="51605E"/>
                </a:solidFill>
                <a:latin typeface="Cambria"/>
                <a:ea typeface="Cambria"/>
                <a:cs typeface="Cambria"/>
              </a:rPr>
              <a:t>Price</a:t>
            </a:r>
          </a:p>
        </p:txBody>
      </p:sp>
      <p:sp>
        <p:nvSpPr>
          <p:cNvPr id="8" name="rect">
            <a:extLst>
              <a:ext uri="{FF2B5EF4-FFF2-40B4-BE49-F238E27FC236}">
                <a16:creationId xmlns:a16="http://schemas.microsoft.com/office/drawing/2014/main" id="{4AFF9C6F-F806-4255-8228-FDA6CEC7A1DC}"/>
              </a:ext>
            </a:extLst>
          </p:cNvPr>
          <p:cNvSpPr>
            <a:spLocks noGrp="1"/>
          </p:cNvSpPr>
          <p:nvPr/>
        </p:nvSpPr>
        <p:spPr>
          <a:xfrm>
            <a:off x="1238250" y="2409809"/>
            <a:ext cx="1190625" cy="1485717"/>
          </a:xfrm>
          <a:prstGeom prst="rect">
            <a:avLst/>
          </a:prstGeom>
          <a:solidFill>
            <a:srgbClr val="F1E3DA"/>
          </a:solidFill>
          <a:ln w="0">
            <a:noFill/>
          </a:ln>
        </p:spPr>
        <p:txBody>
          <a:bodyPr/>
          <a:lstStyle/>
          <a:p>
            <a:endParaRPr/>
          </a:p>
        </p:txBody>
      </p:sp>
      <p:sp>
        <p:nvSpPr>
          <p:cNvPr id="9" name="$12">
            <a:extLst>
              <a:ext uri="{FF2B5EF4-FFF2-40B4-BE49-F238E27FC236}">
                <a16:creationId xmlns:a16="http://schemas.microsoft.com/office/drawing/2014/main" id="{DD2892D8-F3ED-41DA-BDA0-8DE6F46BFCA9}"/>
              </a:ext>
            </a:extLst>
          </p:cNvPr>
          <p:cNvSpPr>
            <a:spLocks noGrp="1"/>
          </p:cNvSpPr>
          <p:nvPr/>
        </p:nvSpPr>
        <p:spPr>
          <a:xfrm>
            <a:off x="1476375" y="3010021"/>
            <a:ext cx="714375" cy="285750"/>
          </a:xfrm>
          <a:prstGeom prst="rect">
            <a:avLst/>
          </a:prstGeom>
          <a:noFill/>
          <a:ln w="0">
            <a:noFill/>
          </a:ln>
        </p:spPr>
        <p:txBody>
          <a:bodyPr wrap="none" lIns="0" tIns="0" rIns="0" bIns="0">
            <a:noAutofit/>
          </a:bodyPr>
          <a:lstStyle/>
          <a:p>
            <a:pPr algn="ctr">
              <a:buNone/>
              <a:defRPr sz="1725" b="1">
                <a:solidFill>
                  <a:srgbClr val="BE7F5E"/>
                </a:solidFill>
                <a:latin typeface="Cambria"/>
                <a:ea typeface="Cambria"/>
                <a:cs typeface="Cambria"/>
              </a:defRPr>
            </a:pPr>
            <a:r>
              <a:rPr sz="1725" b="1">
                <a:solidFill>
                  <a:srgbClr val="BE7F5E"/>
                </a:solidFill>
                <a:latin typeface="Cambria"/>
                <a:ea typeface="Cambria"/>
                <a:cs typeface="Cambria"/>
              </a:rPr>
              <a:t>$12</a:t>
            </a:r>
          </a:p>
        </p:txBody>
      </p:sp>
      <p:sp>
        <p:nvSpPr>
          <p:cNvPr id="10" name="rect">
            <a:extLst>
              <a:ext uri="{FF2B5EF4-FFF2-40B4-BE49-F238E27FC236}">
                <a16:creationId xmlns:a16="http://schemas.microsoft.com/office/drawing/2014/main" id="{EEBD29F4-0FEC-458F-97CD-ADCE05930249}"/>
              </a:ext>
            </a:extLst>
          </p:cNvPr>
          <p:cNvSpPr>
            <a:spLocks noGrp="1"/>
          </p:cNvSpPr>
          <p:nvPr/>
        </p:nvSpPr>
        <p:spPr>
          <a:xfrm>
            <a:off x="2428875" y="2409809"/>
            <a:ext cx="1190625" cy="866668"/>
          </a:xfrm>
          <a:prstGeom prst="rect">
            <a:avLst/>
          </a:prstGeom>
          <a:solidFill>
            <a:srgbClr val="F1E3DA"/>
          </a:solidFill>
          <a:ln w="0">
            <a:noFill/>
          </a:ln>
        </p:spPr>
        <p:txBody>
          <a:bodyPr/>
          <a:lstStyle/>
          <a:p>
            <a:endParaRPr/>
          </a:p>
        </p:txBody>
      </p:sp>
      <p:sp>
        <p:nvSpPr>
          <p:cNvPr id="11" name="$7">
            <a:extLst>
              <a:ext uri="{FF2B5EF4-FFF2-40B4-BE49-F238E27FC236}">
                <a16:creationId xmlns:a16="http://schemas.microsoft.com/office/drawing/2014/main" id="{2181DA7C-E44D-4BE9-BD3C-8CFC0869D543}"/>
              </a:ext>
            </a:extLst>
          </p:cNvPr>
          <p:cNvSpPr>
            <a:spLocks noGrp="1"/>
          </p:cNvSpPr>
          <p:nvPr/>
        </p:nvSpPr>
        <p:spPr>
          <a:xfrm>
            <a:off x="2667000" y="2700497"/>
            <a:ext cx="714375" cy="285750"/>
          </a:xfrm>
          <a:prstGeom prst="rect">
            <a:avLst/>
          </a:prstGeom>
          <a:noFill/>
          <a:ln w="0">
            <a:noFill/>
          </a:ln>
        </p:spPr>
        <p:txBody>
          <a:bodyPr wrap="none" lIns="0" tIns="0" rIns="0" bIns="0">
            <a:noAutofit/>
          </a:bodyPr>
          <a:lstStyle/>
          <a:p>
            <a:pPr algn="ctr">
              <a:buNone/>
              <a:defRPr sz="1725" b="1">
                <a:solidFill>
                  <a:srgbClr val="BE7F5E"/>
                </a:solidFill>
                <a:latin typeface="Cambria"/>
                <a:ea typeface="Cambria"/>
                <a:cs typeface="Cambria"/>
              </a:defRPr>
            </a:pPr>
            <a:r>
              <a:rPr sz="1725" b="1">
                <a:solidFill>
                  <a:srgbClr val="BE7F5E"/>
                </a:solidFill>
                <a:latin typeface="Cambria"/>
                <a:ea typeface="Cambria"/>
                <a:cs typeface="Cambria"/>
              </a:rPr>
              <a:t>$7</a:t>
            </a:r>
          </a:p>
        </p:txBody>
      </p:sp>
      <p:sp>
        <p:nvSpPr>
          <p:cNvPr id="12" name="rect">
            <a:extLst>
              <a:ext uri="{FF2B5EF4-FFF2-40B4-BE49-F238E27FC236}">
                <a16:creationId xmlns:a16="http://schemas.microsoft.com/office/drawing/2014/main" id="{8EB87765-C4F6-465A-A61B-CDEECCC108A3}"/>
              </a:ext>
            </a:extLst>
          </p:cNvPr>
          <p:cNvSpPr>
            <a:spLocks noGrp="1"/>
          </p:cNvSpPr>
          <p:nvPr/>
        </p:nvSpPr>
        <p:spPr>
          <a:xfrm>
            <a:off x="3619500" y="2409809"/>
            <a:ext cx="1190625" cy="247619"/>
          </a:xfrm>
          <a:prstGeom prst="rect">
            <a:avLst/>
          </a:prstGeom>
          <a:solidFill>
            <a:srgbClr val="F1E3DA"/>
          </a:solidFill>
          <a:ln w="0">
            <a:noFill/>
          </a:ln>
        </p:spPr>
        <p:txBody>
          <a:bodyPr/>
          <a:lstStyle/>
          <a:p>
            <a:endParaRPr/>
          </a:p>
        </p:txBody>
      </p:sp>
      <p:sp>
        <p:nvSpPr>
          <p:cNvPr id="13" name="$2">
            <a:extLst>
              <a:ext uri="{FF2B5EF4-FFF2-40B4-BE49-F238E27FC236}">
                <a16:creationId xmlns:a16="http://schemas.microsoft.com/office/drawing/2014/main" id="{A8F1433C-1796-45AF-A052-7D2600D62A77}"/>
              </a:ext>
            </a:extLst>
          </p:cNvPr>
          <p:cNvSpPr>
            <a:spLocks noGrp="1"/>
          </p:cNvSpPr>
          <p:nvPr/>
        </p:nvSpPr>
        <p:spPr>
          <a:xfrm>
            <a:off x="3857625" y="2390973"/>
            <a:ext cx="714375" cy="285750"/>
          </a:xfrm>
          <a:prstGeom prst="rect">
            <a:avLst/>
          </a:prstGeom>
          <a:noFill/>
          <a:ln w="0">
            <a:noFill/>
          </a:ln>
        </p:spPr>
        <p:txBody>
          <a:bodyPr wrap="none" lIns="0" tIns="0" rIns="0" bIns="0">
            <a:noAutofit/>
          </a:bodyPr>
          <a:lstStyle/>
          <a:p>
            <a:pPr algn="ctr">
              <a:buNone/>
              <a:defRPr sz="1725" b="1">
                <a:solidFill>
                  <a:srgbClr val="BE7F5E"/>
                </a:solidFill>
                <a:latin typeface="Cambria"/>
                <a:ea typeface="Cambria"/>
                <a:cs typeface="Cambria"/>
              </a:defRPr>
            </a:pPr>
            <a:r>
              <a:rPr sz="1725" b="1">
                <a:solidFill>
                  <a:srgbClr val="BE7F5E"/>
                </a:solidFill>
                <a:latin typeface="Cambria"/>
                <a:ea typeface="Cambria"/>
                <a:cs typeface="Cambria"/>
              </a:rPr>
              <a:t>$2</a:t>
            </a:r>
          </a:p>
        </p:txBody>
      </p:sp>
      <p:sp>
        <p:nvSpPr>
          <p:cNvPr id="14" name="line">
            <a:extLst>
              <a:ext uri="{FF2B5EF4-FFF2-40B4-BE49-F238E27FC236}">
                <a16:creationId xmlns:a16="http://schemas.microsoft.com/office/drawing/2014/main" id="{C405048A-76FA-4D4F-9741-6945F6048477}"/>
              </a:ext>
            </a:extLst>
          </p:cNvPr>
          <p:cNvSpPr>
            <a:spLocks noGrp="1"/>
          </p:cNvSpPr>
          <p:nvPr/>
        </p:nvSpPr>
        <p:spPr>
          <a:xfrm>
            <a:off x="1238250" y="1619250"/>
            <a:ext cx="9525" cy="3762375"/>
          </a:xfrm>
          <a:custGeom>
            <a:avLst/>
            <a:gdLst/>
            <a:ahLst/>
            <a:cxnLst/>
            <a:rect l="0" t="0" r="0" b="0"/>
            <a:pathLst>
              <a:path w="9525" h="3762375">
                <a:moveTo>
                  <a:pt x="0" y="3762375"/>
                </a:moveTo>
                <a:lnTo>
                  <a:pt x="0" y="0"/>
                </a:lnTo>
              </a:path>
            </a:pathLst>
          </a:custGeom>
          <a:noFill/>
          <a:ln w="19050">
            <a:solidFill>
              <a:srgbClr val="1C2321"/>
            </a:solidFill>
          </a:ln>
        </p:spPr>
        <p:txBody>
          <a:bodyPr/>
          <a:lstStyle/>
          <a:p>
            <a:endParaRPr/>
          </a:p>
        </p:txBody>
      </p:sp>
      <p:sp>
        <p:nvSpPr>
          <p:cNvPr id="15" name="line">
            <a:extLst>
              <a:ext uri="{FF2B5EF4-FFF2-40B4-BE49-F238E27FC236}">
                <a16:creationId xmlns:a16="http://schemas.microsoft.com/office/drawing/2014/main" id="{7D586068-CC84-4C25-9660-F3A930D380BB}"/>
              </a:ext>
            </a:extLst>
          </p:cNvPr>
          <p:cNvSpPr>
            <a:spLocks noGrp="1"/>
          </p:cNvSpPr>
          <p:nvPr/>
        </p:nvSpPr>
        <p:spPr>
          <a:xfrm>
            <a:off x="1238250" y="5381625"/>
            <a:ext cx="6715125" cy="9525"/>
          </a:xfrm>
          <a:custGeom>
            <a:avLst/>
            <a:gdLst/>
            <a:ahLst/>
            <a:cxnLst/>
            <a:rect l="0" t="0" r="0" b="0"/>
            <a:pathLst>
              <a:path w="6715125" h="9525">
                <a:moveTo>
                  <a:pt x="0" y="0"/>
                </a:moveTo>
                <a:lnTo>
                  <a:pt x="6715125" y="0"/>
                </a:lnTo>
              </a:path>
            </a:pathLst>
          </a:custGeom>
          <a:noFill/>
          <a:ln w="19050">
            <a:solidFill>
              <a:srgbClr val="1C2321"/>
            </a:solidFill>
          </a:ln>
        </p:spPr>
        <p:txBody>
          <a:bodyPr/>
          <a:lstStyle/>
          <a:p>
            <a:endParaRPr/>
          </a:p>
        </p:txBody>
      </p:sp>
      <p:sp>
        <p:nvSpPr>
          <p:cNvPr id="16" name="line">
            <a:extLst>
              <a:ext uri="{FF2B5EF4-FFF2-40B4-BE49-F238E27FC236}">
                <a16:creationId xmlns:a16="http://schemas.microsoft.com/office/drawing/2014/main" id="{CFCD1801-8BCC-4C8E-9157-46A9ACFBE832}"/>
              </a:ext>
            </a:extLst>
          </p:cNvPr>
          <p:cNvSpPr>
            <a:spLocks noGrp="1"/>
          </p:cNvSpPr>
          <p:nvPr/>
        </p:nvSpPr>
        <p:spPr>
          <a:xfrm>
            <a:off x="1162050" y="5381244"/>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7" name="$0">
            <a:extLst>
              <a:ext uri="{FF2B5EF4-FFF2-40B4-BE49-F238E27FC236}">
                <a16:creationId xmlns:a16="http://schemas.microsoft.com/office/drawing/2014/main" id="{E195E520-907B-4F37-A34C-D49D0FDA096F}"/>
              </a:ext>
            </a:extLst>
          </p:cNvPr>
          <p:cNvSpPr>
            <a:spLocks noGrp="1"/>
          </p:cNvSpPr>
          <p:nvPr/>
        </p:nvSpPr>
        <p:spPr>
          <a:xfrm>
            <a:off x="600075" y="5257800"/>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18" name="line">
            <a:extLst>
              <a:ext uri="{FF2B5EF4-FFF2-40B4-BE49-F238E27FC236}">
                <a16:creationId xmlns:a16="http://schemas.microsoft.com/office/drawing/2014/main" id="{57B50E37-FEC0-4DAD-8243-FDE921DC9AAC}"/>
              </a:ext>
            </a:extLst>
          </p:cNvPr>
          <p:cNvSpPr>
            <a:spLocks noGrp="1"/>
          </p:cNvSpPr>
          <p:nvPr/>
        </p:nvSpPr>
        <p:spPr>
          <a:xfrm>
            <a:off x="1162050" y="4762195"/>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19" name="$6">
            <a:extLst>
              <a:ext uri="{FF2B5EF4-FFF2-40B4-BE49-F238E27FC236}">
                <a16:creationId xmlns:a16="http://schemas.microsoft.com/office/drawing/2014/main" id="{3EF4566F-09A4-4F20-A6FE-7399475A6B16}"/>
              </a:ext>
            </a:extLst>
          </p:cNvPr>
          <p:cNvSpPr>
            <a:spLocks noGrp="1"/>
          </p:cNvSpPr>
          <p:nvPr/>
        </p:nvSpPr>
        <p:spPr>
          <a:xfrm>
            <a:off x="600075" y="4638751"/>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20" name="line">
            <a:extLst>
              <a:ext uri="{FF2B5EF4-FFF2-40B4-BE49-F238E27FC236}">
                <a16:creationId xmlns:a16="http://schemas.microsoft.com/office/drawing/2014/main" id="{7B45ED88-13AC-4FFA-AE2F-D20EAE0992CB}"/>
              </a:ext>
            </a:extLst>
          </p:cNvPr>
          <p:cNvSpPr>
            <a:spLocks noGrp="1"/>
          </p:cNvSpPr>
          <p:nvPr/>
        </p:nvSpPr>
        <p:spPr>
          <a:xfrm>
            <a:off x="1162050" y="4143146"/>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1" name="$12">
            <a:extLst>
              <a:ext uri="{FF2B5EF4-FFF2-40B4-BE49-F238E27FC236}">
                <a16:creationId xmlns:a16="http://schemas.microsoft.com/office/drawing/2014/main" id="{C74A3708-7EAB-4EB3-8849-4E22AD1D9460}"/>
              </a:ext>
            </a:extLst>
          </p:cNvPr>
          <p:cNvSpPr>
            <a:spLocks noGrp="1"/>
          </p:cNvSpPr>
          <p:nvPr/>
        </p:nvSpPr>
        <p:spPr>
          <a:xfrm>
            <a:off x="600075" y="4019702"/>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$10</a:t>
            </a:r>
          </a:p>
        </p:txBody>
      </p:sp>
      <p:sp>
        <p:nvSpPr>
          <p:cNvPr id="22" name="line">
            <a:extLst>
              <a:ext uri="{FF2B5EF4-FFF2-40B4-BE49-F238E27FC236}">
                <a16:creationId xmlns:a16="http://schemas.microsoft.com/office/drawing/2014/main" id="{52E024D8-3B5B-4041-BBEE-7234A5514F6B}"/>
              </a:ext>
            </a:extLst>
          </p:cNvPr>
          <p:cNvSpPr>
            <a:spLocks noGrp="1"/>
          </p:cNvSpPr>
          <p:nvPr/>
        </p:nvSpPr>
        <p:spPr>
          <a:xfrm>
            <a:off x="1162050" y="3524097"/>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3" name="$15">
            <a:extLst>
              <a:ext uri="{FF2B5EF4-FFF2-40B4-BE49-F238E27FC236}">
                <a16:creationId xmlns:a16="http://schemas.microsoft.com/office/drawing/2014/main" id="{AFB7EBBE-38E2-4A27-9178-16B56652E5A0}"/>
              </a:ext>
            </a:extLst>
          </p:cNvPr>
          <p:cNvSpPr>
            <a:spLocks noGrp="1"/>
          </p:cNvSpPr>
          <p:nvPr/>
        </p:nvSpPr>
        <p:spPr>
          <a:xfrm>
            <a:off x="600075" y="3400653"/>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$15</a:t>
            </a:r>
          </a:p>
        </p:txBody>
      </p:sp>
      <p:sp>
        <p:nvSpPr>
          <p:cNvPr id="24" name="line">
            <a:extLst>
              <a:ext uri="{FF2B5EF4-FFF2-40B4-BE49-F238E27FC236}">
                <a16:creationId xmlns:a16="http://schemas.microsoft.com/office/drawing/2014/main" id="{07E90D9E-53A9-4BEA-98FD-19DE8AECDBD2}"/>
              </a:ext>
            </a:extLst>
          </p:cNvPr>
          <p:cNvSpPr>
            <a:spLocks noGrp="1"/>
          </p:cNvSpPr>
          <p:nvPr/>
        </p:nvSpPr>
        <p:spPr>
          <a:xfrm>
            <a:off x="1162050" y="2905048"/>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5" name="$18">
            <a:extLst>
              <a:ext uri="{FF2B5EF4-FFF2-40B4-BE49-F238E27FC236}">
                <a16:creationId xmlns:a16="http://schemas.microsoft.com/office/drawing/2014/main" id="{33F8B5B9-6749-4F16-94BB-F95B0DDD8D2F}"/>
              </a:ext>
            </a:extLst>
          </p:cNvPr>
          <p:cNvSpPr>
            <a:spLocks noGrp="1"/>
          </p:cNvSpPr>
          <p:nvPr/>
        </p:nvSpPr>
        <p:spPr>
          <a:xfrm>
            <a:off x="600075" y="2781604"/>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$20</a:t>
            </a:r>
          </a:p>
        </p:txBody>
      </p:sp>
      <p:sp>
        <p:nvSpPr>
          <p:cNvPr id="26" name="line">
            <a:extLst>
              <a:ext uri="{FF2B5EF4-FFF2-40B4-BE49-F238E27FC236}">
                <a16:creationId xmlns:a16="http://schemas.microsoft.com/office/drawing/2014/main" id="{5A3B173B-5D94-4A23-B305-818D77D1A6C3}"/>
              </a:ext>
            </a:extLst>
          </p:cNvPr>
          <p:cNvSpPr>
            <a:spLocks noGrp="1"/>
          </p:cNvSpPr>
          <p:nvPr/>
        </p:nvSpPr>
        <p:spPr>
          <a:xfrm>
            <a:off x="1162050" y="2286000"/>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7" name="$21">
            <a:extLst>
              <a:ext uri="{FF2B5EF4-FFF2-40B4-BE49-F238E27FC236}">
                <a16:creationId xmlns:a16="http://schemas.microsoft.com/office/drawing/2014/main" id="{2232065C-2BDE-4023-B0E4-F7FB89F8C2E6}"/>
              </a:ext>
            </a:extLst>
          </p:cNvPr>
          <p:cNvSpPr>
            <a:spLocks noGrp="1"/>
          </p:cNvSpPr>
          <p:nvPr/>
        </p:nvSpPr>
        <p:spPr>
          <a:xfrm>
            <a:off x="600075" y="2162556"/>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$25</a:t>
            </a:r>
          </a:p>
        </p:txBody>
      </p:sp>
      <p:sp>
        <p:nvSpPr>
          <p:cNvPr id="28" name="line">
            <a:extLst>
              <a:ext uri="{FF2B5EF4-FFF2-40B4-BE49-F238E27FC236}">
                <a16:creationId xmlns:a16="http://schemas.microsoft.com/office/drawing/2014/main" id="{1D63C2B1-7FD4-4364-95C5-E08DC4985A0C}"/>
              </a:ext>
            </a:extLst>
          </p:cNvPr>
          <p:cNvSpPr>
            <a:spLocks noGrp="1"/>
          </p:cNvSpPr>
          <p:nvPr/>
        </p:nvSpPr>
        <p:spPr>
          <a:xfrm>
            <a:off x="1162050" y="1666951"/>
            <a:ext cx="76200" cy="9525"/>
          </a:xfrm>
          <a:custGeom>
            <a:avLst/>
            <a:gdLst/>
            <a:ahLst/>
            <a:cxnLst/>
            <a:rect l="0" t="0" r="0" b="0"/>
            <a:pathLst>
              <a:path w="76200" h="9525">
                <a:moveTo>
                  <a:pt x="0" y="0"/>
                </a:moveTo>
                <a:lnTo>
                  <a:pt x="76200" y="0"/>
                </a:lnTo>
              </a:path>
            </a:pathLst>
          </a:custGeom>
          <a:noFill/>
          <a:ln w="19050">
            <a:solidFill>
              <a:srgbClr val="1C2321"/>
            </a:solidFill>
          </a:ln>
        </p:spPr>
        <p:txBody>
          <a:bodyPr/>
          <a:lstStyle/>
          <a:p>
            <a:endParaRPr/>
          </a:p>
        </p:txBody>
      </p:sp>
      <p:sp>
        <p:nvSpPr>
          <p:cNvPr id="29" name="$24">
            <a:extLst>
              <a:ext uri="{FF2B5EF4-FFF2-40B4-BE49-F238E27FC236}">
                <a16:creationId xmlns:a16="http://schemas.microsoft.com/office/drawing/2014/main" id="{AB109350-5C9A-47E6-B573-785AF8FD6C60}"/>
              </a:ext>
            </a:extLst>
          </p:cNvPr>
          <p:cNvSpPr>
            <a:spLocks noGrp="1"/>
          </p:cNvSpPr>
          <p:nvPr/>
        </p:nvSpPr>
        <p:spPr>
          <a:xfrm>
            <a:off x="600075" y="1543507"/>
            <a:ext cx="495300" cy="257175"/>
          </a:xfrm>
          <a:prstGeom prst="rect">
            <a:avLst/>
          </a:prstGeom>
          <a:noFill/>
          <a:ln w="0">
            <a:noFill/>
          </a:ln>
        </p:spPr>
        <p:txBody>
          <a:bodyPr wrap="none" lIns="0" tIns="0" rIns="0" bIns="0">
            <a:noAutofit/>
          </a:bodyPr>
          <a:lstStyle/>
          <a:p>
            <a:pPr algn="r">
              <a:buNone/>
              <a:defRPr sz="1575" b="0">
                <a:solidFill>
                  <a:srgbClr val="1C2321"/>
                </a:solidFill>
                <a:latin typeface="Cambria"/>
                <a:ea typeface="Cambria"/>
                <a:cs typeface="Cambria"/>
              </a:defRPr>
            </a:pPr>
            <a:r>
              <a:rPr sz="1575" b="0">
                <a:solidFill>
                  <a:srgbClr val="1C2321"/>
                </a:solidFill>
                <a:latin typeface="Cambria"/>
                <a:ea typeface="Cambria"/>
                <a:cs typeface="Cambria"/>
              </a:rPr>
              <a:t>$30</a:t>
            </a:r>
          </a:p>
        </p:txBody>
      </p:sp>
      <p:sp>
        <p:nvSpPr>
          <p:cNvPr id="30" name="line">
            <a:extLst>
              <a:ext uri="{FF2B5EF4-FFF2-40B4-BE49-F238E27FC236}">
                <a16:creationId xmlns:a16="http://schemas.microsoft.com/office/drawing/2014/main" id="{01AB4A4E-8110-4894-81F9-D07F5FCE502C}"/>
              </a:ext>
            </a:extLst>
          </p:cNvPr>
          <p:cNvSpPr>
            <a:spLocks noGrp="1"/>
          </p:cNvSpPr>
          <p:nvPr/>
        </p:nvSpPr>
        <p:spPr>
          <a:xfrm>
            <a:off x="12382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1" name="0">
            <a:extLst>
              <a:ext uri="{FF2B5EF4-FFF2-40B4-BE49-F238E27FC236}">
                <a16:creationId xmlns:a16="http://schemas.microsoft.com/office/drawing/2014/main" id="{E0C00CB7-928B-4510-AB8F-15DD2D938B00}"/>
              </a:ext>
            </a:extLst>
          </p:cNvPr>
          <p:cNvSpPr>
            <a:spLocks noGrp="1"/>
          </p:cNvSpPr>
          <p:nvPr/>
        </p:nvSpPr>
        <p:spPr>
          <a:xfrm>
            <a:off x="10287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0</a:t>
            </a:r>
          </a:p>
        </p:txBody>
      </p:sp>
      <p:sp>
        <p:nvSpPr>
          <p:cNvPr id="32" name="line">
            <a:extLst>
              <a:ext uri="{FF2B5EF4-FFF2-40B4-BE49-F238E27FC236}">
                <a16:creationId xmlns:a16="http://schemas.microsoft.com/office/drawing/2014/main" id="{00E7FB48-1707-4DD2-8E04-AA0DEFE9BF4B}"/>
              </a:ext>
            </a:extLst>
          </p:cNvPr>
          <p:cNvSpPr>
            <a:spLocks noGrp="1"/>
          </p:cNvSpPr>
          <p:nvPr/>
        </p:nvSpPr>
        <p:spPr>
          <a:xfrm>
            <a:off x="24288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3" name="1">
            <a:extLst>
              <a:ext uri="{FF2B5EF4-FFF2-40B4-BE49-F238E27FC236}">
                <a16:creationId xmlns:a16="http://schemas.microsoft.com/office/drawing/2014/main" id="{A7385CD1-EE50-4337-9461-3BDD74B2FDF7}"/>
              </a:ext>
            </a:extLst>
          </p:cNvPr>
          <p:cNvSpPr>
            <a:spLocks noGrp="1"/>
          </p:cNvSpPr>
          <p:nvPr/>
        </p:nvSpPr>
        <p:spPr>
          <a:xfrm>
            <a:off x="22193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1</a:t>
            </a:r>
          </a:p>
        </p:txBody>
      </p:sp>
      <p:sp>
        <p:nvSpPr>
          <p:cNvPr id="34" name="line">
            <a:extLst>
              <a:ext uri="{FF2B5EF4-FFF2-40B4-BE49-F238E27FC236}">
                <a16:creationId xmlns:a16="http://schemas.microsoft.com/office/drawing/2014/main" id="{D7AF6E91-07C7-4042-86FD-2D0F2AB29BBF}"/>
              </a:ext>
            </a:extLst>
          </p:cNvPr>
          <p:cNvSpPr>
            <a:spLocks noGrp="1"/>
          </p:cNvSpPr>
          <p:nvPr/>
        </p:nvSpPr>
        <p:spPr>
          <a:xfrm>
            <a:off x="361950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5" name="2">
            <a:extLst>
              <a:ext uri="{FF2B5EF4-FFF2-40B4-BE49-F238E27FC236}">
                <a16:creationId xmlns:a16="http://schemas.microsoft.com/office/drawing/2014/main" id="{411997F4-F0CB-4D4E-BABC-FB577CFE0745}"/>
              </a:ext>
            </a:extLst>
          </p:cNvPr>
          <p:cNvSpPr>
            <a:spLocks noGrp="1"/>
          </p:cNvSpPr>
          <p:nvPr/>
        </p:nvSpPr>
        <p:spPr>
          <a:xfrm>
            <a:off x="340995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2</a:t>
            </a:r>
          </a:p>
        </p:txBody>
      </p:sp>
      <p:sp>
        <p:nvSpPr>
          <p:cNvPr id="36" name="line">
            <a:extLst>
              <a:ext uri="{FF2B5EF4-FFF2-40B4-BE49-F238E27FC236}">
                <a16:creationId xmlns:a16="http://schemas.microsoft.com/office/drawing/2014/main" id="{F6D06770-5E14-4008-9E86-A46549A6CAEC}"/>
              </a:ext>
            </a:extLst>
          </p:cNvPr>
          <p:cNvSpPr>
            <a:spLocks noGrp="1"/>
          </p:cNvSpPr>
          <p:nvPr/>
        </p:nvSpPr>
        <p:spPr>
          <a:xfrm>
            <a:off x="481012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7" name="3">
            <a:extLst>
              <a:ext uri="{FF2B5EF4-FFF2-40B4-BE49-F238E27FC236}">
                <a16:creationId xmlns:a16="http://schemas.microsoft.com/office/drawing/2014/main" id="{5896F422-7A9C-4129-81A6-54BBBAA1B2C1}"/>
              </a:ext>
            </a:extLst>
          </p:cNvPr>
          <p:cNvSpPr>
            <a:spLocks noGrp="1"/>
          </p:cNvSpPr>
          <p:nvPr/>
        </p:nvSpPr>
        <p:spPr>
          <a:xfrm>
            <a:off x="460057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3</a:t>
            </a:r>
          </a:p>
        </p:txBody>
      </p:sp>
      <p:sp>
        <p:nvSpPr>
          <p:cNvPr id="38" name="line">
            <a:extLst>
              <a:ext uri="{FF2B5EF4-FFF2-40B4-BE49-F238E27FC236}">
                <a16:creationId xmlns:a16="http://schemas.microsoft.com/office/drawing/2014/main" id="{8BF65765-85A3-4A15-B9D6-D88969F860DC}"/>
              </a:ext>
            </a:extLst>
          </p:cNvPr>
          <p:cNvSpPr>
            <a:spLocks noGrp="1"/>
          </p:cNvSpPr>
          <p:nvPr/>
        </p:nvSpPr>
        <p:spPr>
          <a:xfrm>
            <a:off x="6000750"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39" name="4">
            <a:extLst>
              <a:ext uri="{FF2B5EF4-FFF2-40B4-BE49-F238E27FC236}">
                <a16:creationId xmlns:a16="http://schemas.microsoft.com/office/drawing/2014/main" id="{641297B8-B092-4DF3-94DC-6977CEE0D7FC}"/>
              </a:ext>
            </a:extLst>
          </p:cNvPr>
          <p:cNvSpPr>
            <a:spLocks noGrp="1"/>
          </p:cNvSpPr>
          <p:nvPr/>
        </p:nvSpPr>
        <p:spPr>
          <a:xfrm>
            <a:off x="5791200"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4</a:t>
            </a:r>
          </a:p>
        </p:txBody>
      </p:sp>
      <p:sp>
        <p:nvSpPr>
          <p:cNvPr id="40" name="line">
            <a:extLst>
              <a:ext uri="{FF2B5EF4-FFF2-40B4-BE49-F238E27FC236}">
                <a16:creationId xmlns:a16="http://schemas.microsoft.com/office/drawing/2014/main" id="{0FCF15C4-5CB8-4FC5-B6E7-DD87A246584A}"/>
              </a:ext>
            </a:extLst>
          </p:cNvPr>
          <p:cNvSpPr>
            <a:spLocks noGrp="1"/>
          </p:cNvSpPr>
          <p:nvPr/>
        </p:nvSpPr>
        <p:spPr>
          <a:xfrm>
            <a:off x="7191375" y="5381625"/>
            <a:ext cx="9525" cy="66675"/>
          </a:xfrm>
          <a:custGeom>
            <a:avLst/>
            <a:gdLst/>
            <a:ahLst/>
            <a:cxnLst/>
            <a:rect l="0" t="0" r="0" b="0"/>
            <a:pathLst>
              <a:path w="9525" h="66675">
                <a:moveTo>
                  <a:pt x="0" y="0"/>
                </a:moveTo>
                <a:lnTo>
                  <a:pt x="0" y="66675"/>
                </a:lnTo>
              </a:path>
            </a:pathLst>
          </a:custGeom>
          <a:noFill/>
          <a:ln w="19050">
            <a:solidFill>
              <a:srgbClr val="1C2321"/>
            </a:solidFill>
          </a:ln>
        </p:spPr>
        <p:txBody>
          <a:bodyPr/>
          <a:lstStyle/>
          <a:p>
            <a:endParaRPr/>
          </a:p>
        </p:txBody>
      </p:sp>
      <p:sp>
        <p:nvSpPr>
          <p:cNvPr id="41" name="5">
            <a:extLst>
              <a:ext uri="{FF2B5EF4-FFF2-40B4-BE49-F238E27FC236}">
                <a16:creationId xmlns:a16="http://schemas.microsoft.com/office/drawing/2014/main" id="{EC22D3EE-E52B-449C-92A6-D0C23F6820B8}"/>
              </a:ext>
            </a:extLst>
          </p:cNvPr>
          <p:cNvSpPr>
            <a:spLocks noGrp="1"/>
          </p:cNvSpPr>
          <p:nvPr/>
        </p:nvSpPr>
        <p:spPr>
          <a:xfrm>
            <a:off x="6981825" y="5476875"/>
            <a:ext cx="419100" cy="257175"/>
          </a:xfrm>
          <a:prstGeom prst="rect">
            <a:avLst/>
          </a:prstGeom>
          <a:noFill/>
          <a:ln w="0">
            <a:noFill/>
          </a:ln>
        </p:spPr>
        <p:txBody>
          <a:bodyPr wrap="none" lIns="0" tIns="0" rIns="0" bIns="0">
            <a:noAutofit/>
          </a:bodyPr>
          <a:lstStyle/>
          <a:p>
            <a:pPr algn="ctr">
              <a:buNone/>
              <a:defRPr sz="1575" b="0">
                <a:solidFill>
                  <a:srgbClr val="1C2321"/>
                </a:solidFill>
                <a:latin typeface="Cambria"/>
                <a:ea typeface="Cambria"/>
                <a:cs typeface="Cambria"/>
              </a:defRPr>
            </a:pPr>
            <a:r>
              <a:rPr sz="1575" b="0">
                <a:solidFill>
                  <a:srgbClr val="1C2321"/>
                </a:solidFill>
                <a:latin typeface="Cambria"/>
                <a:ea typeface="Cambria"/>
                <a:cs typeface="Cambria"/>
              </a:rPr>
              <a:t>5</a:t>
            </a:r>
          </a:p>
        </p:txBody>
      </p:sp>
      <p:sp>
        <p:nvSpPr>
          <p:cNvPr id="42" name="Quantity (Cases of Beer)">
            <a:extLst>
              <a:ext uri="{FF2B5EF4-FFF2-40B4-BE49-F238E27FC236}">
                <a16:creationId xmlns:a16="http://schemas.microsoft.com/office/drawing/2014/main" id="{6D41229E-C509-4E83-8D2C-1821675830FE}"/>
              </a:ext>
            </a:extLst>
          </p:cNvPr>
          <p:cNvSpPr>
            <a:spLocks noGrp="1"/>
          </p:cNvSpPr>
          <p:nvPr/>
        </p:nvSpPr>
        <p:spPr>
          <a:xfrm>
            <a:off x="2571750" y="5810250"/>
            <a:ext cx="4286250" cy="304800"/>
          </a:xfrm>
          <a:prstGeom prst="rect">
            <a:avLst/>
          </a:prstGeom>
          <a:noFill/>
          <a:ln w="0">
            <a:noFill/>
          </a:ln>
        </p:spPr>
        <p:txBody>
          <a:bodyPr wrap="none" lIns="0" tIns="0" rIns="0" bIns="0">
            <a:noAutofit/>
          </a:bodyPr>
          <a:lstStyle/>
          <a:p>
            <a:pPr algn="ctr">
              <a:buNone/>
              <a:defRPr sz="1875" b="0">
                <a:solidFill>
                  <a:srgbClr val="1C2321"/>
                </a:solidFill>
                <a:latin typeface="Cambria"/>
                <a:ea typeface="Cambria"/>
                <a:cs typeface="Cambria"/>
              </a:defRPr>
            </a:pPr>
            <a:r>
              <a:rPr sz="1875" b="0">
                <a:solidFill>
                  <a:srgbClr val="1C2321"/>
                </a:solidFill>
                <a:latin typeface="Cambria"/>
                <a:ea typeface="Cambria"/>
                <a:cs typeface="Cambria"/>
              </a:rPr>
              <a:t>Quantity (Cases of Beer)</a:t>
            </a:r>
          </a:p>
        </p:txBody>
      </p:sp>
      <p:sp>
        <p:nvSpPr>
          <p:cNvPr id="43" name="line">
            <a:extLst>
              <a:ext uri="{FF2B5EF4-FFF2-40B4-BE49-F238E27FC236}">
                <a16:creationId xmlns:a16="http://schemas.microsoft.com/office/drawing/2014/main" id="{3FCB7D57-6DBD-4B24-88B5-C7A38E959395}"/>
              </a:ext>
            </a:extLst>
          </p:cNvPr>
          <p:cNvSpPr>
            <a:spLocks noGrp="1"/>
          </p:cNvSpPr>
          <p:nvPr/>
        </p:nvSpPr>
        <p:spPr>
          <a:xfrm>
            <a:off x="1238250" y="2409809"/>
            <a:ext cx="6715125" cy="9525"/>
          </a:xfrm>
          <a:custGeom>
            <a:avLst/>
            <a:gdLst/>
            <a:ahLst/>
            <a:cxnLst/>
            <a:rect l="0" t="0" r="0" b="0"/>
            <a:pathLst>
              <a:path w="6715125" h="9525">
                <a:moveTo>
                  <a:pt x="0" y="0"/>
                </a:moveTo>
                <a:lnTo>
                  <a:pt x="6715125" y="0"/>
                </a:lnTo>
              </a:path>
            </a:pathLst>
          </a:custGeom>
          <a:noFill/>
          <a:ln w="19050">
            <a:solidFill>
              <a:srgbClr val="1C2321"/>
            </a:solidFill>
          </a:ln>
        </p:spPr>
        <p:txBody>
          <a:bodyPr/>
          <a:lstStyle/>
          <a:p>
            <a:endParaRPr/>
          </a:p>
        </p:txBody>
      </p:sp>
      <p:sp>
        <p:nvSpPr>
          <p:cNvPr id="44" name="Market price = $15">
            <a:extLst>
              <a:ext uri="{FF2B5EF4-FFF2-40B4-BE49-F238E27FC236}">
                <a16:creationId xmlns:a16="http://schemas.microsoft.com/office/drawing/2014/main" id="{8EF58436-96FE-4D73-A9A4-FC43C4B2E98C}"/>
              </a:ext>
            </a:extLst>
          </p:cNvPr>
          <p:cNvSpPr>
            <a:spLocks noGrp="1"/>
          </p:cNvSpPr>
          <p:nvPr/>
        </p:nvSpPr>
        <p:spPr>
          <a:xfrm>
            <a:off x="1381125" y="2016617"/>
            <a:ext cx="2571750" cy="285750"/>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Market price = $24</a:t>
            </a:r>
          </a:p>
        </p:txBody>
      </p:sp>
      <p:sp>
        <p:nvSpPr>
          <p:cNvPr id="45" name="line">
            <a:extLst>
              <a:ext uri="{FF2B5EF4-FFF2-40B4-BE49-F238E27FC236}">
                <a16:creationId xmlns:a16="http://schemas.microsoft.com/office/drawing/2014/main" id="{8D4564EE-698C-4377-9488-238E3DCCE48D}"/>
              </a:ext>
            </a:extLst>
          </p:cNvPr>
          <p:cNvSpPr>
            <a:spLocks noGrp="1"/>
          </p:cNvSpPr>
          <p:nvPr/>
        </p:nvSpPr>
        <p:spPr>
          <a:xfrm>
            <a:off x="1238250" y="3895526"/>
            <a:ext cx="1190625" cy="9525"/>
          </a:xfrm>
          <a:custGeom>
            <a:avLst/>
            <a:gdLst/>
            <a:ahLst/>
            <a:cxnLst/>
            <a:rect l="0" t="0" r="0" b="0"/>
            <a:pathLst>
              <a:path w="1190625" h="9525">
                <a:moveTo>
                  <a:pt x="0" y="0"/>
                </a:moveTo>
                <a:lnTo>
                  <a:pt x="1190625" y="0"/>
                </a:lnTo>
              </a:path>
            </a:pathLst>
          </a:custGeom>
          <a:noFill/>
          <a:ln w="28575">
            <a:solidFill>
              <a:srgbClr val="BE7F5E"/>
            </a:solidFill>
          </a:ln>
        </p:spPr>
        <p:txBody>
          <a:bodyPr/>
          <a:lstStyle/>
          <a:p>
            <a:endParaRPr/>
          </a:p>
        </p:txBody>
      </p:sp>
      <p:sp>
        <p:nvSpPr>
          <p:cNvPr id="46" name="point">
            <a:extLst>
              <a:ext uri="{FF2B5EF4-FFF2-40B4-BE49-F238E27FC236}">
                <a16:creationId xmlns:a16="http://schemas.microsoft.com/office/drawing/2014/main" id="{F9F92C0B-AE2D-4E4F-AB66-45C811D4C131}"/>
              </a:ext>
            </a:extLst>
          </p:cNvPr>
          <p:cNvSpPr>
            <a:spLocks noGrp="1"/>
          </p:cNvSpPr>
          <p:nvPr/>
        </p:nvSpPr>
        <p:spPr>
          <a:xfrm>
            <a:off x="2381250" y="3847978"/>
            <a:ext cx="95250" cy="95250"/>
          </a:xfrm>
          <a:prstGeom prst="ellipse">
            <a:avLst/>
          </a:prstGeom>
          <a:solidFill>
            <a:srgbClr val="BE7F5E"/>
          </a:solidFill>
          <a:ln w="0">
            <a:noFill/>
          </a:ln>
        </p:spPr>
        <p:txBody>
          <a:bodyPr/>
          <a:lstStyle/>
          <a:p>
            <a:endParaRPr/>
          </a:p>
        </p:txBody>
      </p:sp>
      <p:sp>
        <p:nvSpPr>
          <p:cNvPr id="47" name="Guinness">
            <a:extLst>
              <a:ext uri="{FF2B5EF4-FFF2-40B4-BE49-F238E27FC236}">
                <a16:creationId xmlns:a16="http://schemas.microsoft.com/office/drawing/2014/main" id="{314624E4-9D4A-4F9C-B295-B8B22CDCB749}"/>
              </a:ext>
            </a:extLst>
          </p:cNvPr>
          <p:cNvSpPr>
            <a:spLocks noGrp="1"/>
          </p:cNvSpPr>
          <p:nvPr/>
        </p:nvSpPr>
        <p:spPr>
          <a:xfrm>
            <a:off x="1962150" y="3990624"/>
            <a:ext cx="933450" cy="257175"/>
          </a:xfrm>
          <a:prstGeom prst="rect">
            <a:avLst/>
          </a:prstGeom>
          <a:noFill/>
          <a:ln w="0">
            <a:noFill/>
          </a:ln>
        </p:spPr>
        <p:txBody>
          <a:bodyPr wrap="none" lIns="0" tIns="0" rIns="0" bIns="0">
            <a:noAutofit/>
          </a:bodyPr>
          <a:lstStyle/>
          <a:p>
            <a:pPr algn="ctr">
              <a:buNone/>
              <a:defRPr sz="1650" b="1">
                <a:solidFill>
                  <a:srgbClr val="1C2321"/>
                </a:solidFill>
                <a:latin typeface="Cambria"/>
                <a:ea typeface="Cambria"/>
                <a:cs typeface="Cambria"/>
              </a:defRPr>
            </a:pPr>
            <a:r>
              <a:rPr sz="1650" b="1">
                <a:solidFill>
                  <a:srgbClr val="1C2321"/>
                </a:solidFill>
                <a:latin typeface="Cambria"/>
                <a:ea typeface="Cambria"/>
                <a:cs typeface="Cambria"/>
              </a:rPr>
              <a:t>Guinness</a:t>
            </a:r>
          </a:p>
        </p:txBody>
      </p:sp>
      <p:sp>
        <p:nvSpPr>
          <p:cNvPr id="48" name="line">
            <a:extLst>
              <a:ext uri="{FF2B5EF4-FFF2-40B4-BE49-F238E27FC236}">
                <a16:creationId xmlns:a16="http://schemas.microsoft.com/office/drawing/2014/main" id="{066F2B0B-FDBD-465C-B47E-F842DBFC86F3}"/>
              </a:ext>
            </a:extLst>
          </p:cNvPr>
          <p:cNvSpPr>
            <a:spLocks noGrp="1"/>
          </p:cNvSpPr>
          <p:nvPr/>
        </p:nvSpPr>
        <p:spPr>
          <a:xfrm>
            <a:off x="2428875" y="3276478"/>
            <a:ext cx="9525" cy="619048"/>
          </a:xfrm>
          <a:custGeom>
            <a:avLst/>
            <a:gdLst/>
            <a:ahLst/>
            <a:cxnLst/>
            <a:rect l="0" t="0" r="0" b="0"/>
            <a:pathLst>
              <a:path w="9525" h="773906">
                <a:moveTo>
                  <a:pt x="0" y="773906"/>
                </a:moveTo>
                <a:lnTo>
                  <a:pt x="0" y="0"/>
                </a:lnTo>
              </a:path>
            </a:pathLst>
          </a:custGeom>
          <a:noFill/>
          <a:ln w="28575">
            <a:solidFill>
              <a:srgbClr val="BE7F5E"/>
            </a:solidFill>
          </a:ln>
        </p:spPr>
        <p:txBody>
          <a:bodyPr/>
          <a:lstStyle/>
          <a:p>
            <a:endParaRPr/>
          </a:p>
        </p:txBody>
      </p:sp>
      <p:sp>
        <p:nvSpPr>
          <p:cNvPr id="49" name="line">
            <a:extLst>
              <a:ext uri="{FF2B5EF4-FFF2-40B4-BE49-F238E27FC236}">
                <a16:creationId xmlns:a16="http://schemas.microsoft.com/office/drawing/2014/main" id="{51AFE598-185F-41B3-A12B-70650E26A4DC}"/>
              </a:ext>
            </a:extLst>
          </p:cNvPr>
          <p:cNvSpPr>
            <a:spLocks noGrp="1"/>
          </p:cNvSpPr>
          <p:nvPr/>
        </p:nvSpPr>
        <p:spPr>
          <a:xfrm>
            <a:off x="2428875" y="3276478"/>
            <a:ext cx="1190625" cy="9525"/>
          </a:xfrm>
          <a:custGeom>
            <a:avLst/>
            <a:gdLst/>
            <a:ahLst/>
            <a:cxnLst/>
            <a:rect l="0" t="0" r="0" b="0"/>
            <a:pathLst>
              <a:path w="1190625" h="9525">
                <a:moveTo>
                  <a:pt x="0" y="0"/>
                </a:moveTo>
                <a:lnTo>
                  <a:pt x="1190625" y="0"/>
                </a:lnTo>
              </a:path>
            </a:pathLst>
          </a:custGeom>
          <a:noFill/>
          <a:ln w="28575">
            <a:solidFill>
              <a:srgbClr val="BE7F5E"/>
            </a:solidFill>
          </a:ln>
        </p:spPr>
        <p:txBody>
          <a:bodyPr/>
          <a:lstStyle/>
          <a:p>
            <a:endParaRPr/>
          </a:p>
        </p:txBody>
      </p:sp>
      <p:sp>
        <p:nvSpPr>
          <p:cNvPr id="50" name="point">
            <a:extLst>
              <a:ext uri="{FF2B5EF4-FFF2-40B4-BE49-F238E27FC236}">
                <a16:creationId xmlns:a16="http://schemas.microsoft.com/office/drawing/2014/main" id="{7D7417D4-8A06-44F3-86EB-FEBF5B7AEC67}"/>
              </a:ext>
            </a:extLst>
          </p:cNvPr>
          <p:cNvSpPr>
            <a:spLocks noGrp="1"/>
          </p:cNvSpPr>
          <p:nvPr/>
        </p:nvSpPr>
        <p:spPr>
          <a:xfrm>
            <a:off x="3571875" y="3228929"/>
            <a:ext cx="95250" cy="95250"/>
          </a:xfrm>
          <a:prstGeom prst="ellipse">
            <a:avLst/>
          </a:prstGeom>
          <a:solidFill>
            <a:srgbClr val="BE7F5E"/>
          </a:solidFill>
          <a:ln w="0">
            <a:noFill/>
          </a:ln>
        </p:spPr>
        <p:txBody>
          <a:bodyPr/>
          <a:lstStyle/>
          <a:p>
            <a:endParaRPr/>
          </a:p>
        </p:txBody>
      </p:sp>
      <p:sp>
        <p:nvSpPr>
          <p:cNvPr id="51" name="Heineken">
            <a:extLst>
              <a:ext uri="{FF2B5EF4-FFF2-40B4-BE49-F238E27FC236}">
                <a16:creationId xmlns:a16="http://schemas.microsoft.com/office/drawing/2014/main" id="{13164EC6-F6AA-4ACC-8CE0-07EFC70A8A79}"/>
              </a:ext>
            </a:extLst>
          </p:cNvPr>
          <p:cNvSpPr>
            <a:spLocks noGrp="1"/>
          </p:cNvSpPr>
          <p:nvPr/>
        </p:nvSpPr>
        <p:spPr>
          <a:xfrm>
            <a:off x="3152775" y="3371575"/>
            <a:ext cx="933450" cy="257175"/>
          </a:xfrm>
          <a:prstGeom prst="rect">
            <a:avLst/>
          </a:prstGeom>
          <a:noFill/>
          <a:ln w="0">
            <a:noFill/>
          </a:ln>
        </p:spPr>
        <p:txBody>
          <a:bodyPr wrap="none" lIns="0" tIns="0" rIns="0" bIns="0">
            <a:noAutofit/>
          </a:bodyPr>
          <a:lstStyle/>
          <a:p>
            <a:pPr algn="ctr">
              <a:buNone/>
              <a:defRPr sz="1650" b="1">
                <a:solidFill>
                  <a:srgbClr val="1C2321"/>
                </a:solidFill>
                <a:latin typeface="Cambria"/>
                <a:ea typeface="Cambria"/>
                <a:cs typeface="Cambria"/>
              </a:defRPr>
            </a:pPr>
            <a:r>
              <a:rPr sz="1650" b="1">
                <a:solidFill>
                  <a:srgbClr val="1C2321"/>
                </a:solidFill>
                <a:latin typeface="Cambria"/>
                <a:ea typeface="Cambria"/>
                <a:cs typeface="Cambria"/>
              </a:rPr>
              <a:t>Heineken</a:t>
            </a:r>
          </a:p>
        </p:txBody>
      </p:sp>
      <p:sp>
        <p:nvSpPr>
          <p:cNvPr id="52" name="line">
            <a:extLst>
              <a:ext uri="{FF2B5EF4-FFF2-40B4-BE49-F238E27FC236}">
                <a16:creationId xmlns:a16="http://schemas.microsoft.com/office/drawing/2014/main" id="{118DEA93-B3D7-478A-AF0E-C31B4BDD1A89}"/>
              </a:ext>
            </a:extLst>
          </p:cNvPr>
          <p:cNvSpPr>
            <a:spLocks noGrp="1"/>
          </p:cNvSpPr>
          <p:nvPr/>
        </p:nvSpPr>
        <p:spPr>
          <a:xfrm>
            <a:off x="3619500" y="2657429"/>
            <a:ext cx="9525" cy="619048"/>
          </a:xfrm>
          <a:custGeom>
            <a:avLst/>
            <a:gdLst/>
            <a:ahLst/>
            <a:cxnLst/>
            <a:rect l="0" t="0" r="0" b="0"/>
            <a:pathLst>
              <a:path w="9525" h="773906">
                <a:moveTo>
                  <a:pt x="0" y="773906"/>
                </a:moveTo>
                <a:lnTo>
                  <a:pt x="0" y="0"/>
                </a:lnTo>
              </a:path>
            </a:pathLst>
          </a:custGeom>
          <a:noFill/>
          <a:ln w="28575">
            <a:solidFill>
              <a:srgbClr val="BE7F5E"/>
            </a:solidFill>
          </a:ln>
        </p:spPr>
        <p:txBody>
          <a:bodyPr/>
          <a:lstStyle/>
          <a:p>
            <a:endParaRPr/>
          </a:p>
        </p:txBody>
      </p:sp>
      <p:sp>
        <p:nvSpPr>
          <p:cNvPr id="53" name="line">
            <a:extLst>
              <a:ext uri="{FF2B5EF4-FFF2-40B4-BE49-F238E27FC236}">
                <a16:creationId xmlns:a16="http://schemas.microsoft.com/office/drawing/2014/main" id="{048B6F1A-F26E-439B-865A-74A51585979D}"/>
              </a:ext>
            </a:extLst>
          </p:cNvPr>
          <p:cNvSpPr>
            <a:spLocks noGrp="1"/>
          </p:cNvSpPr>
          <p:nvPr/>
        </p:nvSpPr>
        <p:spPr>
          <a:xfrm>
            <a:off x="3619500" y="2657429"/>
            <a:ext cx="1190625" cy="9525"/>
          </a:xfrm>
          <a:custGeom>
            <a:avLst/>
            <a:gdLst/>
            <a:ahLst/>
            <a:cxnLst/>
            <a:rect l="0" t="0" r="0" b="0"/>
            <a:pathLst>
              <a:path w="1190625" h="9525">
                <a:moveTo>
                  <a:pt x="0" y="0"/>
                </a:moveTo>
                <a:lnTo>
                  <a:pt x="1190625" y="0"/>
                </a:lnTo>
              </a:path>
            </a:pathLst>
          </a:custGeom>
          <a:noFill/>
          <a:ln w="28575">
            <a:solidFill>
              <a:srgbClr val="BE7F5E"/>
            </a:solidFill>
          </a:ln>
        </p:spPr>
        <p:txBody>
          <a:bodyPr/>
          <a:lstStyle/>
          <a:p>
            <a:endParaRPr/>
          </a:p>
        </p:txBody>
      </p:sp>
      <p:sp>
        <p:nvSpPr>
          <p:cNvPr id="54" name="point">
            <a:extLst>
              <a:ext uri="{FF2B5EF4-FFF2-40B4-BE49-F238E27FC236}">
                <a16:creationId xmlns:a16="http://schemas.microsoft.com/office/drawing/2014/main" id="{DA7F1097-3A9A-43AC-94B7-A87A425EE1AE}"/>
              </a:ext>
            </a:extLst>
          </p:cNvPr>
          <p:cNvSpPr>
            <a:spLocks noGrp="1"/>
          </p:cNvSpPr>
          <p:nvPr/>
        </p:nvSpPr>
        <p:spPr>
          <a:xfrm>
            <a:off x="4762500" y="2609880"/>
            <a:ext cx="95250" cy="95250"/>
          </a:xfrm>
          <a:prstGeom prst="ellipse">
            <a:avLst/>
          </a:prstGeom>
          <a:solidFill>
            <a:srgbClr val="BE7F5E"/>
          </a:solidFill>
          <a:ln w="0">
            <a:noFill/>
          </a:ln>
        </p:spPr>
        <p:txBody>
          <a:bodyPr/>
          <a:lstStyle/>
          <a:p>
            <a:endParaRPr/>
          </a:p>
        </p:txBody>
      </p:sp>
      <p:sp>
        <p:nvSpPr>
          <p:cNvPr id="55" name="Coors">
            <a:extLst>
              <a:ext uri="{FF2B5EF4-FFF2-40B4-BE49-F238E27FC236}">
                <a16:creationId xmlns:a16="http://schemas.microsoft.com/office/drawing/2014/main" id="{7C76C4C7-F5AC-4BC8-A44C-89E41DE5C4E0}"/>
              </a:ext>
            </a:extLst>
          </p:cNvPr>
          <p:cNvSpPr>
            <a:spLocks noGrp="1"/>
          </p:cNvSpPr>
          <p:nvPr/>
        </p:nvSpPr>
        <p:spPr>
          <a:xfrm>
            <a:off x="4343400" y="2752526"/>
            <a:ext cx="933450" cy="257175"/>
          </a:xfrm>
          <a:prstGeom prst="rect">
            <a:avLst/>
          </a:prstGeom>
          <a:noFill/>
          <a:ln w="0">
            <a:noFill/>
          </a:ln>
        </p:spPr>
        <p:txBody>
          <a:bodyPr wrap="none" lIns="0" tIns="0" rIns="0" bIns="0">
            <a:noAutofit/>
          </a:bodyPr>
          <a:lstStyle/>
          <a:p>
            <a:pPr algn="ctr">
              <a:buNone/>
              <a:defRPr sz="1650" b="1">
                <a:solidFill>
                  <a:srgbClr val="1C2321"/>
                </a:solidFill>
                <a:latin typeface="Cambria"/>
                <a:ea typeface="Cambria"/>
                <a:cs typeface="Cambria"/>
              </a:defRPr>
            </a:pPr>
            <a:r>
              <a:rPr sz="1650" b="1">
                <a:solidFill>
                  <a:srgbClr val="1C2321"/>
                </a:solidFill>
                <a:latin typeface="Cambria"/>
                <a:ea typeface="Cambria"/>
                <a:cs typeface="Cambria"/>
              </a:rPr>
              <a:t>Coors</a:t>
            </a:r>
          </a:p>
        </p:txBody>
      </p:sp>
      <p:sp>
        <p:nvSpPr>
          <p:cNvPr id="56" name="line">
            <a:extLst>
              <a:ext uri="{FF2B5EF4-FFF2-40B4-BE49-F238E27FC236}">
                <a16:creationId xmlns:a16="http://schemas.microsoft.com/office/drawing/2014/main" id="{500C3D61-E2C0-452A-880D-91F35DD55DDA}"/>
              </a:ext>
            </a:extLst>
          </p:cNvPr>
          <p:cNvSpPr>
            <a:spLocks noGrp="1"/>
          </p:cNvSpPr>
          <p:nvPr/>
        </p:nvSpPr>
        <p:spPr>
          <a:xfrm>
            <a:off x="4810125" y="2409809"/>
            <a:ext cx="9525" cy="247619"/>
          </a:xfrm>
          <a:custGeom>
            <a:avLst/>
            <a:gdLst/>
            <a:ahLst/>
            <a:cxnLst/>
            <a:rect l="0" t="0" r="0" b="0"/>
            <a:pathLst>
              <a:path w="9525" h="309563">
                <a:moveTo>
                  <a:pt x="0" y="309563"/>
                </a:moveTo>
                <a:lnTo>
                  <a:pt x="0" y="0"/>
                </a:lnTo>
              </a:path>
            </a:pathLst>
          </a:custGeom>
          <a:noFill/>
          <a:ln w="28575">
            <a:solidFill>
              <a:srgbClr val="BE7F5E"/>
            </a:solidFill>
          </a:ln>
        </p:spPr>
        <p:txBody>
          <a:bodyPr/>
          <a:lstStyle/>
          <a:p>
            <a:endParaRPr/>
          </a:p>
        </p:txBody>
      </p:sp>
      <p:sp>
        <p:nvSpPr>
          <p:cNvPr id="57" name="line">
            <a:extLst>
              <a:ext uri="{FF2B5EF4-FFF2-40B4-BE49-F238E27FC236}">
                <a16:creationId xmlns:a16="http://schemas.microsoft.com/office/drawing/2014/main" id="{CF205FB4-A164-4817-9913-C1343574AFE1}"/>
              </a:ext>
            </a:extLst>
          </p:cNvPr>
          <p:cNvSpPr>
            <a:spLocks noGrp="1"/>
          </p:cNvSpPr>
          <p:nvPr/>
        </p:nvSpPr>
        <p:spPr>
          <a:xfrm>
            <a:off x="4810125" y="2409809"/>
            <a:ext cx="1190625" cy="9525"/>
          </a:xfrm>
          <a:custGeom>
            <a:avLst/>
            <a:gdLst/>
            <a:ahLst/>
            <a:cxnLst/>
            <a:rect l="0" t="0" r="0" b="0"/>
            <a:pathLst>
              <a:path w="1190625" h="9525">
                <a:moveTo>
                  <a:pt x="0" y="0"/>
                </a:moveTo>
                <a:lnTo>
                  <a:pt x="1190625" y="0"/>
                </a:lnTo>
              </a:path>
            </a:pathLst>
          </a:custGeom>
          <a:noFill/>
          <a:ln w="28575">
            <a:solidFill>
              <a:srgbClr val="BE7F5E"/>
            </a:solidFill>
          </a:ln>
        </p:spPr>
        <p:txBody>
          <a:bodyPr/>
          <a:lstStyle/>
          <a:p>
            <a:endParaRPr/>
          </a:p>
        </p:txBody>
      </p:sp>
      <p:sp>
        <p:nvSpPr>
          <p:cNvPr id="58" name="point">
            <a:extLst>
              <a:ext uri="{FF2B5EF4-FFF2-40B4-BE49-F238E27FC236}">
                <a16:creationId xmlns:a16="http://schemas.microsoft.com/office/drawing/2014/main" id="{F7B66720-270F-4E0B-95A2-B20936B0C857}"/>
              </a:ext>
            </a:extLst>
          </p:cNvPr>
          <p:cNvSpPr>
            <a:spLocks noGrp="1"/>
          </p:cNvSpPr>
          <p:nvPr/>
        </p:nvSpPr>
        <p:spPr>
          <a:xfrm>
            <a:off x="5953125" y="2362260"/>
            <a:ext cx="95250" cy="95250"/>
          </a:xfrm>
          <a:prstGeom prst="ellipse">
            <a:avLst/>
          </a:prstGeom>
          <a:solidFill>
            <a:srgbClr val="BE7F5E"/>
          </a:solidFill>
          <a:ln w="0">
            <a:noFill/>
          </a:ln>
        </p:spPr>
        <p:txBody>
          <a:bodyPr/>
          <a:lstStyle/>
          <a:p>
            <a:endParaRPr/>
          </a:p>
        </p:txBody>
      </p:sp>
      <p:sp>
        <p:nvSpPr>
          <p:cNvPr id="59" name="Miller">
            <a:extLst>
              <a:ext uri="{FF2B5EF4-FFF2-40B4-BE49-F238E27FC236}">
                <a16:creationId xmlns:a16="http://schemas.microsoft.com/office/drawing/2014/main" id="{D3B814C6-653D-4945-B882-3CA79B1955BF}"/>
              </a:ext>
            </a:extLst>
          </p:cNvPr>
          <p:cNvSpPr>
            <a:spLocks noGrp="1"/>
          </p:cNvSpPr>
          <p:nvPr/>
        </p:nvSpPr>
        <p:spPr>
          <a:xfrm>
            <a:off x="5534025" y="2504907"/>
            <a:ext cx="933450" cy="257175"/>
          </a:xfrm>
          <a:prstGeom prst="rect">
            <a:avLst/>
          </a:prstGeom>
          <a:noFill/>
          <a:ln w="0">
            <a:noFill/>
          </a:ln>
        </p:spPr>
        <p:txBody>
          <a:bodyPr wrap="none" lIns="0" tIns="0" rIns="0" bIns="0">
            <a:noAutofit/>
          </a:bodyPr>
          <a:lstStyle/>
          <a:p>
            <a:pPr algn="ctr">
              <a:buNone/>
              <a:defRPr sz="1650" b="1">
                <a:solidFill>
                  <a:srgbClr val="1C2321"/>
                </a:solidFill>
                <a:latin typeface="Cambria"/>
                <a:ea typeface="Cambria"/>
                <a:cs typeface="Cambria"/>
              </a:defRPr>
            </a:pPr>
            <a:r>
              <a:rPr sz="1650" b="1">
                <a:solidFill>
                  <a:srgbClr val="1C2321"/>
                </a:solidFill>
                <a:latin typeface="Cambria"/>
                <a:ea typeface="Cambria"/>
                <a:cs typeface="Cambria"/>
              </a:rPr>
              <a:t>Miller</a:t>
            </a:r>
          </a:p>
        </p:txBody>
      </p:sp>
      <p:sp>
        <p:nvSpPr>
          <p:cNvPr id="60" name="line">
            <a:extLst>
              <a:ext uri="{FF2B5EF4-FFF2-40B4-BE49-F238E27FC236}">
                <a16:creationId xmlns:a16="http://schemas.microsoft.com/office/drawing/2014/main" id="{21106624-789A-466D-84BB-B46C1093BEFB}"/>
              </a:ext>
            </a:extLst>
          </p:cNvPr>
          <p:cNvSpPr>
            <a:spLocks noGrp="1"/>
          </p:cNvSpPr>
          <p:nvPr/>
        </p:nvSpPr>
        <p:spPr>
          <a:xfrm>
            <a:off x="6000750" y="2038380"/>
            <a:ext cx="9525" cy="371429"/>
          </a:xfrm>
          <a:custGeom>
            <a:avLst/>
            <a:gdLst/>
            <a:ahLst/>
            <a:cxnLst/>
            <a:rect l="0" t="0" r="0" b="0"/>
            <a:pathLst>
              <a:path w="9525" h="464344">
                <a:moveTo>
                  <a:pt x="0" y="464344"/>
                </a:moveTo>
                <a:lnTo>
                  <a:pt x="0" y="0"/>
                </a:lnTo>
              </a:path>
            </a:pathLst>
          </a:custGeom>
          <a:noFill/>
          <a:ln w="28575">
            <a:solidFill>
              <a:srgbClr val="BE7F5E"/>
            </a:solidFill>
          </a:ln>
        </p:spPr>
        <p:txBody>
          <a:bodyPr/>
          <a:lstStyle/>
          <a:p>
            <a:endParaRPr/>
          </a:p>
        </p:txBody>
      </p:sp>
      <p:sp>
        <p:nvSpPr>
          <p:cNvPr id="61" name="line">
            <a:extLst>
              <a:ext uri="{FF2B5EF4-FFF2-40B4-BE49-F238E27FC236}">
                <a16:creationId xmlns:a16="http://schemas.microsoft.com/office/drawing/2014/main" id="{B848316E-C010-4F4C-A962-DCE706C92840}"/>
              </a:ext>
            </a:extLst>
          </p:cNvPr>
          <p:cNvSpPr>
            <a:spLocks noGrp="1"/>
          </p:cNvSpPr>
          <p:nvPr/>
        </p:nvSpPr>
        <p:spPr>
          <a:xfrm>
            <a:off x="6000750" y="2038380"/>
            <a:ext cx="1190625" cy="9525"/>
          </a:xfrm>
          <a:custGeom>
            <a:avLst/>
            <a:gdLst/>
            <a:ahLst/>
            <a:cxnLst/>
            <a:rect l="0" t="0" r="0" b="0"/>
            <a:pathLst>
              <a:path w="1190625" h="9525">
                <a:moveTo>
                  <a:pt x="0" y="0"/>
                </a:moveTo>
                <a:lnTo>
                  <a:pt x="1190625" y="0"/>
                </a:lnTo>
              </a:path>
            </a:pathLst>
          </a:custGeom>
          <a:noFill/>
          <a:ln w="28575">
            <a:solidFill>
              <a:srgbClr val="BE7F5E"/>
            </a:solidFill>
          </a:ln>
        </p:spPr>
        <p:txBody>
          <a:bodyPr/>
          <a:lstStyle/>
          <a:p>
            <a:endParaRPr/>
          </a:p>
        </p:txBody>
      </p:sp>
      <p:sp>
        <p:nvSpPr>
          <p:cNvPr id="62" name="point">
            <a:extLst>
              <a:ext uri="{FF2B5EF4-FFF2-40B4-BE49-F238E27FC236}">
                <a16:creationId xmlns:a16="http://schemas.microsoft.com/office/drawing/2014/main" id="{E093B61C-F3D1-4F09-B6B4-E9C685CBF149}"/>
              </a:ext>
            </a:extLst>
          </p:cNvPr>
          <p:cNvSpPr>
            <a:spLocks noGrp="1"/>
          </p:cNvSpPr>
          <p:nvPr/>
        </p:nvSpPr>
        <p:spPr>
          <a:xfrm>
            <a:off x="7143750" y="1990831"/>
            <a:ext cx="95250" cy="95250"/>
          </a:xfrm>
          <a:prstGeom prst="ellipse">
            <a:avLst/>
          </a:prstGeom>
          <a:solidFill>
            <a:srgbClr val="BE7F5E"/>
          </a:solidFill>
          <a:ln w="0">
            <a:noFill/>
          </a:ln>
        </p:spPr>
        <p:txBody>
          <a:bodyPr/>
          <a:lstStyle/>
          <a:p>
            <a:endParaRPr/>
          </a:p>
        </p:txBody>
      </p:sp>
      <p:sp>
        <p:nvSpPr>
          <p:cNvPr id="63" name="Yuengling">
            <a:extLst>
              <a:ext uri="{FF2B5EF4-FFF2-40B4-BE49-F238E27FC236}">
                <a16:creationId xmlns:a16="http://schemas.microsoft.com/office/drawing/2014/main" id="{FEAB41D0-B140-41E7-92A9-B3E69286047E}"/>
              </a:ext>
            </a:extLst>
          </p:cNvPr>
          <p:cNvSpPr>
            <a:spLocks noGrp="1"/>
          </p:cNvSpPr>
          <p:nvPr/>
        </p:nvSpPr>
        <p:spPr>
          <a:xfrm>
            <a:off x="6724650" y="2133478"/>
            <a:ext cx="933450" cy="257175"/>
          </a:xfrm>
          <a:prstGeom prst="rect">
            <a:avLst/>
          </a:prstGeom>
          <a:noFill/>
          <a:ln w="0">
            <a:noFill/>
          </a:ln>
        </p:spPr>
        <p:txBody>
          <a:bodyPr wrap="none" lIns="0" tIns="0" rIns="0" bIns="0">
            <a:noAutofit/>
          </a:bodyPr>
          <a:lstStyle/>
          <a:p>
            <a:pPr algn="ctr">
              <a:buNone/>
              <a:defRPr sz="1650" b="1">
                <a:solidFill>
                  <a:srgbClr val="1C2321"/>
                </a:solidFill>
                <a:latin typeface="Cambria"/>
                <a:ea typeface="Cambria"/>
                <a:cs typeface="Cambria"/>
              </a:defRPr>
            </a:pPr>
            <a:r>
              <a:rPr sz="1650" b="1">
                <a:solidFill>
                  <a:srgbClr val="1C2321"/>
                </a:solidFill>
                <a:latin typeface="Cambria"/>
                <a:ea typeface="Cambria"/>
                <a:cs typeface="Cambria"/>
              </a:rPr>
              <a:t>Yuengling</a:t>
            </a:r>
          </a:p>
        </p:txBody>
      </p:sp>
      <p:sp>
        <p:nvSpPr>
          <p:cNvPr id="64" name="Supply">
            <a:extLst>
              <a:ext uri="{FF2B5EF4-FFF2-40B4-BE49-F238E27FC236}">
                <a16:creationId xmlns:a16="http://schemas.microsoft.com/office/drawing/2014/main" id="{D9D810FD-A6F3-44F6-93AD-5D3525880056}"/>
              </a:ext>
            </a:extLst>
          </p:cNvPr>
          <p:cNvSpPr>
            <a:spLocks noGrp="1"/>
          </p:cNvSpPr>
          <p:nvPr/>
        </p:nvSpPr>
        <p:spPr>
          <a:xfrm>
            <a:off x="6400800" y="1690908"/>
            <a:ext cx="1095375" cy="285750"/>
          </a:xfrm>
          <a:prstGeom prst="rect">
            <a:avLst/>
          </a:prstGeom>
          <a:noFill/>
          <a:ln w="0">
            <a:noFill/>
          </a:ln>
        </p:spPr>
        <p:txBody>
          <a:bodyPr wrap="none" lIns="0" tIns="0" rIns="0" bIns="0">
            <a:noAutofit/>
          </a:bodyPr>
          <a:lstStyle/>
          <a:p>
            <a:pPr algn="l">
              <a:buNone/>
              <a:defRPr sz="1875" b="1">
                <a:solidFill>
                  <a:srgbClr val="BE7F5E"/>
                </a:solidFill>
                <a:latin typeface="Cambria"/>
                <a:ea typeface="Cambria"/>
                <a:cs typeface="Cambria"/>
              </a:defRPr>
            </a:pPr>
            <a:r>
              <a:rPr sz="1875" b="1">
                <a:solidFill>
                  <a:srgbClr val="BE7F5E"/>
                </a:solidFill>
                <a:latin typeface="Cambria"/>
                <a:ea typeface="Cambria"/>
                <a:cs typeface="Cambria"/>
              </a:rPr>
              <a:t>Supply</a:t>
            </a:r>
          </a:p>
        </p:txBody>
      </p:sp>
      <p:sp>
        <p:nvSpPr>
          <p:cNvPr id="65" name="Surplus from each sale">
            <a:extLst>
              <a:ext uri="{FF2B5EF4-FFF2-40B4-BE49-F238E27FC236}">
                <a16:creationId xmlns:a16="http://schemas.microsoft.com/office/drawing/2014/main" id="{34557BF9-7431-4C22-AC08-F91BF137B93F}"/>
              </a:ext>
            </a:extLst>
          </p:cNvPr>
          <p:cNvSpPr>
            <a:spLocks noGrp="1"/>
          </p:cNvSpPr>
          <p:nvPr/>
        </p:nvSpPr>
        <p:spPr>
          <a:xfrm>
            <a:off x="8410575" y="1724025"/>
            <a:ext cx="3095625" cy="323850"/>
          </a:xfrm>
          <a:prstGeom prst="rect">
            <a:avLst/>
          </a:prstGeom>
          <a:noFill/>
          <a:ln w="0">
            <a:noFill/>
          </a:ln>
        </p:spPr>
        <p:txBody>
          <a:bodyPr wrap="none" lIns="0" tIns="0" rIns="0" bIns="0">
            <a:noAutofit/>
          </a:bodyPr>
          <a:lstStyle/>
          <a:p>
            <a:pPr algn="l">
              <a:buNone/>
              <a:defRPr sz="1950" b="1">
                <a:solidFill>
                  <a:srgbClr val="BE7F5E"/>
                </a:solidFill>
                <a:latin typeface="Cambria"/>
                <a:ea typeface="Cambria"/>
                <a:cs typeface="Cambria"/>
              </a:defRPr>
            </a:pPr>
            <a:r>
              <a:rPr sz="1950" b="1">
                <a:solidFill>
                  <a:srgbClr val="BE7F5E"/>
                </a:solidFill>
                <a:latin typeface="Cambria"/>
                <a:ea typeface="Cambria"/>
                <a:cs typeface="Cambria"/>
              </a:rPr>
              <a:t>Surplus from each sale</a:t>
            </a:r>
          </a:p>
        </p:txBody>
      </p:sp>
      <p:sp>
        <p:nvSpPr>
          <p:cNvPr id="66" name="Guinness">
            <a:extLst>
              <a:ext uri="{FF2B5EF4-FFF2-40B4-BE49-F238E27FC236}">
                <a16:creationId xmlns:a16="http://schemas.microsoft.com/office/drawing/2014/main" id="{5C09ABB5-15C3-4E0F-AA32-E0B87D40616F}"/>
              </a:ext>
            </a:extLst>
          </p:cNvPr>
          <p:cNvSpPr>
            <a:spLocks noGrp="1"/>
          </p:cNvSpPr>
          <p:nvPr/>
        </p:nvSpPr>
        <p:spPr>
          <a:xfrm>
            <a:off x="8429625" y="2266950"/>
            <a:ext cx="3048000" cy="285750"/>
          </a:xfrm>
          <a:prstGeom prst="rect">
            <a:avLst/>
          </a:prstGeom>
          <a:noFill/>
          <a:ln w="0">
            <a:noFill/>
          </a:ln>
        </p:spPr>
        <p:txBody>
          <a:bodyPr wrap="none" lIns="0" tIns="0" rIns="0" bIns="0">
            <a:noAutofit/>
          </a:bodyPr>
          <a:lstStyle/>
          <a:p>
            <a:pPr algn="l">
              <a:buNone/>
              <a:defRPr sz="1800" b="1">
                <a:solidFill>
                  <a:srgbClr val="1C2321"/>
                </a:solidFill>
                <a:latin typeface="Cambria"/>
                <a:ea typeface="Cambria"/>
                <a:cs typeface="Cambria"/>
              </a:defRPr>
            </a:pPr>
            <a:r>
              <a:rPr sz="1800" b="1">
                <a:solidFill>
                  <a:srgbClr val="1C2321"/>
                </a:solidFill>
                <a:latin typeface="Cambria"/>
                <a:ea typeface="Cambria"/>
                <a:cs typeface="Cambria"/>
              </a:rPr>
              <a:t>Guinness</a:t>
            </a:r>
          </a:p>
        </p:txBody>
      </p:sp>
      <p:sp>
        <p:nvSpPr>
          <p:cNvPr id="67" name="$15 − $3 = $12">
            <a:extLst>
              <a:ext uri="{FF2B5EF4-FFF2-40B4-BE49-F238E27FC236}">
                <a16:creationId xmlns:a16="http://schemas.microsoft.com/office/drawing/2014/main" id="{8E9B40B2-6A0E-43B3-AE8F-8FAF6BCE2CF3}"/>
              </a:ext>
            </a:extLst>
          </p:cNvPr>
          <p:cNvSpPr>
            <a:spLocks noGrp="1"/>
          </p:cNvSpPr>
          <p:nvPr/>
        </p:nvSpPr>
        <p:spPr>
          <a:xfrm>
            <a:off x="8429625" y="2562225"/>
            <a:ext cx="3048000" cy="276225"/>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$24 − $12 = $12</a:t>
            </a:r>
          </a:p>
        </p:txBody>
      </p:sp>
      <p:sp>
        <p:nvSpPr>
          <p:cNvPr id="68" name="Heineken">
            <a:extLst>
              <a:ext uri="{FF2B5EF4-FFF2-40B4-BE49-F238E27FC236}">
                <a16:creationId xmlns:a16="http://schemas.microsoft.com/office/drawing/2014/main" id="{5FA06CB8-A589-418E-A073-17C351E35556}"/>
              </a:ext>
            </a:extLst>
          </p:cNvPr>
          <p:cNvSpPr>
            <a:spLocks noGrp="1"/>
          </p:cNvSpPr>
          <p:nvPr/>
        </p:nvSpPr>
        <p:spPr>
          <a:xfrm>
            <a:off x="8429625" y="2886075"/>
            <a:ext cx="3048000" cy="285750"/>
          </a:xfrm>
          <a:prstGeom prst="rect">
            <a:avLst/>
          </a:prstGeom>
          <a:noFill/>
          <a:ln w="0">
            <a:noFill/>
          </a:ln>
        </p:spPr>
        <p:txBody>
          <a:bodyPr wrap="none" lIns="0" tIns="0" rIns="0" bIns="0">
            <a:noAutofit/>
          </a:bodyPr>
          <a:lstStyle/>
          <a:p>
            <a:pPr algn="l">
              <a:buNone/>
              <a:defRPr sz="1800" b="1">
                <a:solidFill>
                  <a:srgbClr val="1C2321"/>
                </a:solidFill>
                <a:latin typeface="Cambria"/>
                <a:ea typeface="Cambria"/>
                <a:cs typeface="Cambria"/>
              </a:defRPr>
            </a:pPr>
            <a:r>
              <a:rPr sz="1800" b="1">
                <a:solidFill>
                  <a:srgbClr val="1C2321"/>
                </a:solidFill>
                <a:latin typeface="Cambria"/>
                <a:ea typeface="Cambria"/>
                <a:cs typeface="Cambria"/>
              </a:rPr>
              <a:t>Heineken</a:t>
            </a:r>
          </a:p>
        </p:txBody>
      </p:sp>
      <p:sp>
        <p:nvSpPr>
          <p:cNvPr id="69" name="$15 − $8 = $7">
            <a:extLst>
              <a:ext uri="{FF2B5EF4-FFF2-40B4-BE49-F238E27FC236}">
                <a16:creationId xmlns:a16="http://schemas.microsoft.com/office/drawing/2014/main" id="{430315D3-BA06-450D-A4F9-C2297FDABDFB}"/>
              </a:ext>
            </a:extLst>
          </p:cNvPr>
          <p:cNvSpPr>
            <a:spLocks noGrp="1"/>
          </p:cNvSpPr>
          <p:nvPr/>
        </p:nvSpPr>
        <p:spPr>
          <a:xfrm>
            <a:off x="8429625" y="3181350"/>
            <a:ext cx="3048000" cy="276225"/>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$24 − $17 = $7</a:t>
            </a:r>
          </a:p>
        </p:txBody>
      </p:sp>
      <p:sp>
        <p:nvSpPr>
          <p:cNvPr id="70" name="Coors">
            <a:extLst>
              <a:ext uri="{FF2B5EF4-FFF2-40B4-BE49-F238E27FC236}">
                <a16:creationId xmlns:a16="http://schemas.microsoft.com/office/drawing/2014/main" id="{5A71DF28-E240-41C7-9D7C-316C21FEC1D8}"/>
              </a:ext>
            </a:extLst>
          </p:cNvPr>
          <p:cNvSpPr>
            <a:spLocks noGrp="1"/>
          </p:cNvSpPr>
          <p:nvPr/>
        </p:nvSpPr>
        <p:spPr>
          <a:xfrm>
            <a:off x="8429625" y="3505200"/>
            <a:ext cx="3048000" cy="285750"/>
          </a:xfrm>
          <a:prstGeom prst="rect">
            <a:avLst/>
          </a:prstGeom>
          <a:noFill/>
          <a:ln w="0">
            <a:noFill/>
          </a:ln>
        </p:spPr>
        <p:txBody>
          <a:bodyPr wrap="none" lIns="0" tIns="0" rIns="0" bIns="0">
            <a:noAutofit/>
          </a:bodyPr>
          <a:lstStyle/>
          <a:p>
            <a:pPr algn="l">
              <a:buNone/>
              <a:defRPr sz="1800" b="1">
                <a:solidFill>
                  <a:srgbClr val="1C2321"/>
                </a:solidFill>
                <a:latin typeface="Cambria"/>
                <a:ea typeface="Cambria"/>
                <a:cs typeface="Cambria"/>
              </a:defRPr>
            </a:pPr>
            <a:r>
              <a:rPr sz="1800" b="1">
                <a:solidFill>
                  <a:srgbClr val="1C2321"/>
                </a:solidFill>
                <a:latin typeface="Cambria"/>
                <a:ea typeface="Cambria"/>
                <a:cs typeface="Cambria"/>
              </a:rPr>
              <a:t>Coors</a:t>
            </a:r>
          </a:p>
        </p:txBody>
      </p:sp>
      <p:sp>
        <p:nvSpPr>
          <p:cNvPr id="71" name="$15 − $13 = $2">
            <a:extLst>
              <a:ext uri="{FF2B5EF4-FFF2-40B4-BE49-F238E27FC236}">
                <a16:creationId xmlns:a16="http://schemas.microsoft.com/office/drawing/2014/main" id="{BBBD0AF9-C21B-41C8-AD4F-BEFE7BC26F0A}"/>
              </a:ext>
            </a:extLst>
          </p:cNvPr>
          <p:cNvSpPr>
            <a:spLocks noGrp="1"/>
          </p:cNvSpPr>
          <p:nvPr/>
        </p:nvSpPr>
        <p:spPr>
          <a:xfrm>
            <a:off x="8429625" y="3800475"/>
            <a:ext cx="3048000" cy="276225"/>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$24 − $22 = $2</a:t>
            </a:r>
          </a:p>
        </p:txBody>
      </p:sp>
      <p:sp>
        <p:nvSpPr>
          <p:cNvPr id="72" name="Miller">
            <a:extLst>
              <a:ext uri="{FF2B5EF4-FFF2-40B4-BE49-F238E27FC236}">
                <a16:creationId xmlns:a16="http://schemas.microsoft.com/office/drawing/2014/main" id="{13D824DF-7D2F-48BB-B3FB-1A974FD40B83}"/>
              </a:ext>
            </a:extLst>
          </p:cNvPr>
          <p:cNvSpPr>
            <a:spLocks noGrp="1"/>
          </p:cNvSpPr>
          <p:nvPr/>
        </p:nvSpPr>
        <p:spPr>
          <a:xfrm>
            <a:off x="8429625" y="4124325"/>
            <a:ext cx="3048000" cy="285750"/>
          </a:xfrm>
          <a:prstGeom prst="rect">
            <a:avLst/>
          </a:prstGeom>
          <a:noFill/>
          <a:ln w="0">
            <a:noFill/>
          </a:ln>
        </p:spPr>
        <p:txBody>
          <a:bodyPr wrap="none" lIns="0" tIns="0" rIns="0" bIns="0">
            <a:noAutofit/>
          </a:bodyPr>
          <a:lstStyle/>
          <a:p>
            <a:pPr algn="l">
              <a:buNone/>
              <a:defRPr sz="1800" b="1">
                <a:solidFill>
                  <a:srgbClr val="1C2321"/>
                </a:solidFill>
                <a:latin typeface="Cambria"/>
                <a:ea typeface="Cambria"/>
                <a:cs typeface="Cambria"/>
              </a:defRPr>
            </a:pPr>
            <a:r>
              <a:rPr sz="1800" b="1">
                <a:solidFill>
                  <a:srgbClr val="1C2321"/>
                </a:solidFill>
                <a:latin typeface="Cambria"/>
                <a:ea typeface="Cambria"/>
                <a:cs typeface="Cambria"/>
              </a:rPr>
              <a:t>Miller</a:t>
            </a:r>
          </a:p>
        </p:txBody>
      </p:sp>
      <p:sp>
        <p:nvSpPr>
          <p:cNvPr id="73" name="$15 − $15 = $0">
            <a:extLst>
              <a:ext uri="{FF2B5EF4-FFF2-40B4-BE49-F238E27FC236}">
                <a16:creationId xmlns:a16="http://schemas.microsoft.com/office/drawing/2014/main" id="{9707D14E-A116-4973-BB98-0ED0716366DD}"/>
              </a:ext>
            </a:extLst>
          </p:cNvPr>
          <p:cNvSpPr>
            <a:spLocks noGrp="1"/>
          </p:cNvSpPr>
          <p:nvPr/>
        </p:nvSpPr>
        <p:spPr>
          <a:xfrm>
            <a:off x="8429625" y="4419600"/>
            <a:ext cx="3048000" cy="276225"/>
          </a:xfrm>
          <a:prstGeom prst="rect">
            <a:avLst/>
          </a:prstGeom>
          <a:noFill/>
          <a:ln w="0">
            <a:noFill/>
          </a:ln>
        </p:spPr>
        <p:txBody>
          <a:bodyPr wrap="none" lIns="0" tIns="0" rIns="0" bIns="0">
            <a:noAutofit/>
          </a:bodyPr>
          <a:lstStyle/>
          <a:p>
            <a:pPr algn="l">
              <a:buNone/>
              <a:defRPr sz="1725" b="0">
                <a:solidFill>
                  <a:srgbClr val="1C2321"/>
                </a:solidFill>
                <a:latin typeface="Cambria"/>
                <a:ea typeface="Cambria"/>
                <a:cs typeface="Cambria"/>
              </a:defRPr>
            </a:pPr>
            <a:r>
              <a:rPr sz="1725" b="0">
                <a:solidFill>
                  <a:srgbClr val="1C2321"/>
                </a:solidFill>
                <a:latin typeface="Cambria"/>
                <a:ea typeface="Cambria"/>
                <a:cs typeface="Cambria"/>
              </a:rPr>
              <a:t>$24 − $24 = $0</a:t>
            </a:r>
          </a:p>
        </p:txBody>
      </p:sp>
      <p:sp>
        <p:nvSpPr>
          <p:cNvPr id="74" name="Yuengling: no sale">
            <a:extLst>
              <a:ext uri="{FF2B5EF4-FFF2-40B4-BE49-F238E27FC236}">
                <a16:creationId xmlns:a16="http://schemas.microsoft.com/office/drawing/2014/main" id="{24A25B31-A955-4371-858A-9E07248105FD}"/>
              </a:ext>
            </a:extLst>
          </p:cNvPr>
          <p:cNvSpPr>
            <a:spLocks noGrp="1"/>
          </p:cNvSpPr>
          <p:nvPr/>
        </p:nvSpPr>
        <p:spPr>
          <a:xfrm>
            <a:off x="8429625" y="4857750"/>
            <a:ext cx="3048000" cy="285750"/>
          </a:xfrm>
          <a:prstGeom prst="rect">
            <a:avLst/>
          </a:prstGeom>
          <a:noFill/>
          <a:ln w="0">
            <a:noFill/>
          </a:ln>
        </p:spPr>
        <p:txBody>
          <a:bodyPr wrap="none" lIns="0" tIns="0" rIns="0" bIns="0">
            <a:noAutofit/>
          </a:bodyPr>
          <a:lstStyle/>
          <a:p>
            <a:pPr algn="l">
              <a:buNone/>
              <a:defRPr sz="1800" b="1">
                <a:solidFill>
                  <a:srgbClr val="1C2321"/>
                </a:solidFill>
                <a:latin typeface="Cambria"/>
                <a:ea typeface="Cambria"/>
                <a:cs typeface="Cambria"/>
              </a:defRPr>
            </a:pPr>
            <a:r>
              <a:rPr sz="1800" b="1">
                <a:solidFill>
                  <a:srgbClr val="1C2321"/>
                </a:solidFill>
                <a:latin typeface="Cambria"/>
                <a:ea typeface="Cambria"/>
                <a:cs typeface="Cambria"/>
              </a:rPr>
              <a:t>Yuengling: no sale</a:t>
            </a:r>
          </a:p>
        </p:txBody>
      </p:sp>
      <p:sp>
        <p:nvSpPr>
          <p:cNvPr id="75" name="Minimum $18 &gt; price $15">
            <a:extLst>
              <a:ext uri="{FF2B5EF4-FFF2-40B4-BE49-F238E27FC236}">
                <a16:creationId xmlns:a16="http://schemas.microsoft.com/office/drawing/2014/main" id="{91435CA1-FF2D-4D66-8364-B544AEC13645}"/>
              </a:ext>
            </a:extLst>
          </p:cNvPr>
          <p:cNvSpPr>
            <a:spLocks noGrp="1"/>
          </p:cNvSpPr>
          <p:nvPr/>
        </p:nvSpPr>
        <p:spPr>
          <a:xfrm>
            <a:off x="8429625" y="5200650"/>
            <a:ext cx="3190875" cy="285750"/>
          </a:xfrm>
          <a:prstGeom prst="rect">
            <a:avLst/>
          </a:prstGeom>
          <a:noFill/>
          <a:ln w="0">
            <a:noFill/>
          </a:ln>
        </p:spPr>
        <p:txBody>
          <a:bodyPr wrap="none" lIns="0" tIns="0" rIns="0" bIns="0">
            <a:noAutofit/>
          </a:bodyPr>
          <a:lstStyle/>
          <a:p>
            <a:pPr algn="l">
              <a:buNone/>
              <a:defRPr sz="1650" b="0">
                <a:solidFill>
                  <a:srgbClr val="51605E"/>
                </a:solidFill>
                <a:latin typeface="Cambria"/>
                <a:ea typeface="Cambria"/>
                <a:cs typeface="Cambria"/>
              </a:defRPr>
            </a:pPr>
            <a:r>
              <a:rPr sz="1650" b="0">
                <a:solidFill>
                  <a:srgbClr val="51605E"/>
                </a:solidFill>
                <a:latin typeface="Cambria"/>
                <a:ea typeface="Cambria"/>
                <a:cs typeface="Cambria"/>
              </a:rPr>
              <a:t>Minimum $27 &gt; price $24</a:t>
            </a:r>
          </a:p>
        </p:txBody>
      </p:sp>
      <p:sp>
        <p:nvSpPr>
          <p:cNvPr id="76" name="$0 producer surplus">
            <a:extLst>
              <a:ext uri="{FF2B5EF4-FFF2-40B4-BE49-F238E27FC236}">
                <a16:creationId xmlns:a16="http://schemas.microsoft.com/office/drawing/2014/main" id="{BB318EB9-0E8C-4AE8-BDC1-3BAEE0818590}"/>
              </a:ext>
            </a:extLst>
          </p:cNvPr>
          <p:cNvSpPr>
            <a:spLocks noGrp="1"/>
          </p:cNvSpPr>
          <p:nvPr/>
        </p:nvSpPr>
        <p:spPr>
          <a:xfrm>
            <a:off x="8429625" y="5524500"/>
            <a:ext cx="3095625" cy="266700"/>
          </a:xfrm>
          <a:prstGeom prst="rect">
            <a:avLst/>
          </a:prstGeom>
          <a:noFill/>
          <a:ln w="0">
            <a:noFill/>
          </a:ln>
        </p:spPr>
        <p:txBody>
          <a:bodyPr wrap="none" lIns="0" tIns="0" rIns="0" bIns="0">
            <a:noAutofit/>
          </a:bodyPr>
          <a:lstStyle/>
          <a:p>
            <a:pPr algn="l">
              <a:buNone/>
              <a:defRPr sz="1650" b="0">
                <a:solidFill>
                  <a:srgbClr val="51605E"/>
                </a:solidFill>
                <a:latin typeface="Cambria"/>
                <a:ea typeface="Cambria"/>
                <a:cs typeface="Cambria"/>
              </a:defRPr>
            </a:pPr>
            <a:r>
              <a:rPr sz="1650" b="0">
                <a:solidFill>
                  <a:srgbClr val="51605E"/>
                </a:solidFill>
                <a:latin typeface="Cambria"/>
                <a:ea typeface="Cambria"/>
                <a:cs typeface="Cambria"/>
              </a:rPr>
              <a:t>$0 producer surplus</a:t>
            </a:r>
          </a:p>
        </p:txBody>
      </p:sp>
      <p:sp>
        <p:nvSpPr>
          <p:cNvPr id="77" name="Total producer surplus = $12 + $7 + $2 +">
            <a:extLst>
              <a:ext uri="{FF2B5EF4-FFF2-40B4-BE49-F238E27FC236}">
                <a16:creationId xmlns:a16="http://schemas.microsoft.com/office/drawing/2014/main" id="{70B9C4E9-DFD0-4E7C-9D20-7F5A324F1F9D}"/>
              </a:ext>
            </a:extLst>
          </p:cNvPr>
          <p:cNvSpPr>
            <a:spLocks noGrp="1"/>
          </p:cNvSpPr>
          <p:nvPr/>
        </p:nvSpPr>
        <p:spPr>
          <a:xfrm>
            <a:off x="552450" y="6162675"/>
            <a:ext cx="11087100" cy="314325"/>
          </a:xfrm>
          <a:prstGeom prst="rect">
            <a:avLst/>
          </a:prstGeom>
          <a:noFill/>
          <a:ln w="0">
            <a:noFill/>
          </a:ln>
        </p:spPr>
        <p:txBody>
          <a:bodyPr wrap="none" lIns="0" tIns="0" rIns="0" bIns="0">
            <a:noAutofit/>
          </a:bodyPr>
          <a:lstStyle/>
          <a:p>
            <a:pPr algn="ctr">
              <a:buNone/>
              <a:defRPr sz="1950" b="1">
                <a:solidFill>
                  <a:srgbClr val="BE7F5E"/>
                </a:solidFill>
                <a:latin typeface="Cambria"/>
                <a:ea typeface="Cambria"/>
                <a:cs typeface="Cambria"/>
              </a:defRPr>
            </a:pPr>
            <a:r>
              <a:rPr sz="1950" b="1">
                <a:solidFill>
                  <a:srgbClr val="BE7F5E"/>
                </a:solidFill>
                <a:latin typeface="Cambria"/>
                <a:ea typeface="Cambria"/>
                <a:cs typeface="Cambria"/>
              </a:rPr>
              <a:t>Total producer surplus = $12 + $7 + $2 + $0 = $21</a:t>
            </a:r>
          </a:p>
        </p:txBody>
      </p:sp>
    </p:spTree>
    <p:extLst>
      <p:ext uri="{BB962C8B-B14F-4D97-AF65-F5344CB8AC3E}">
        <p14:creationId xmlns:p14="http://schemas.microsoft.com/office/powerpoint/2010/main" val="1755725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291E8F4-2AED-482B-B73C-58B72F1AE255}"/>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DEC045FA-AE47-4A5C-BD7C-CDD519DD7253}"/>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PRODUCER SURPLUS  ·  ANSWER</a:t>
            </a:r>
            <a:endParaRPr sz="1300"/>
          </a:p>
        </p:txBody>
      </p:sp>
      <p:sp>
        <p:nvSpPr>
          <p:cNvPr id="4" name="Text 2">
            <a:extLst>
              <a:ext uri="{FF2B5EF4-FFF2-40B4-BE49-F238E27FC236}">
                <a16:creationId xmlns:a16="http://schemas.microsoft.com/office/drawing/2014/main" id="{3378AE37-0DEF-4E24-B1AD-54BF78EB27F4}"/>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96B3CD12-F21E-4506-8D9B-9FBB528C3499}"/>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23</a:t>
            </a:r>
            <a:endParaRPr sz="1000"/>
          </a:p>
        </p:txBody>
      </p:sp>
      <p:sp>
        <p:nvSpPr>
          <p:cNvPr id="6" name="Text 4">
            <a:extLst>
              <a:ext uri="{FF2B5EF4-FFF2-40B4-BE49-F238E27FC236}">
                <a16:creationId xmlns:a16="http://schemas.microsoft.com/office/drawing/2014/main" id="{22B6EB5E-444B-4090-A8D7-C4CDF3E2E18B}"/>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Let’s Do This for Producer Surplus</a:t>
            </a:r>
            <a:endParaRPr sz="3200"/>
          </a:p>
        </p:txBody>
      </p:sp>
      <p:sp>
        <p:nvSpPr>
          <p:cNvPr id="7" name="Text 5">
            <a:extLst>
              <a:ext uri="{FF2B5EF4-FFF2-40B4-BE49-F238E27FC236}">
                <a16:creationId xmlns:a16="http://schemas.microsoft.com/office/drawing/2014/main" id="{D57BEFEB-0728-4934-9FBF-FD467FEBF80A}"/>
              </a:ext>
            </a:extLst>
          </p:cNvPr>
          <p:cNvSpPr>
            <a:spLocks noGrp="1"/>
          </p:cNvSpPr>
          <p:nvPr/>
        </p:nvSpPr>
        <p:spPr>
          <a:xfrm>
            <a:off x="548640" y="1783080"/>
            <a:ext cx="10881360" cy="448056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Producer surplus is the gap between the price a seller receives and the least they would have accepted.</a:t>
            </a:r>
            <a:endParaRPr sz="1800"/>
          </a:p>
          <a:p>
            <a:pPr marL="508000" lvl="1" indent="-254000">
              <a:spcAft>
                <a:spcPts val="1000"/>
              </a:spcAft>
              <a:buSzPct val="100000"/>
              <a:buChar char="–"/>
            </a:pPr>
            <a:r>
              <a:rPr sz="1700" i="1">
                <a:solidFill>
                  <a:srgbClr val="3E7C79"/>
                </a:solidFill>
                <a:latin typeface="Cambria"/>
                <a:ea typeface="Cambria"/>
                <a:cs typeface="Cambria"/>
              </a:rPr>
              <a:t>The market price minus willingness to sell, for each seller who makes the sale.</a:t>
            </a:r>
            <a:endParaRPr sz="1800"/>
          </a:p>
          <a:p>
            <a:pPr marL="279400" indent="-279400">
              <a:spcAft>
                <a:spcPts val="800"/>
              </a:spcAft>
              <a:buSzPct val="100000"/>
              <a:buChar char="●"/>
            </a:pPr>
            <a:r>
              <a:rPr sz="1800" b="1">
                <a:solidFill>
                  <a:srgbClr val="1C2321"/>
                </a:solidFill>
                <a:latin typeface="Cambria"/>
                <a:ea typeface="Cambria"/>
                <a:cs typeface="Cambria"/>
              </a:rPr>
              <a:t>Total producer surplus is every individual seller’s producer surplus added together.</a:t>
            </a:r>
            <a:endParaRPr sz="1800"/>
          </a:p>
          <a:p>
            <a:pPr marL="508000" lvl="1" indent="-254000">
              <a:spcAft>
                <a:spcPts val="1000"/>
              </a:spcAft>
              <a:buSzPct val="100000"/>
              <a:buChar char="–"/>
            </a:pPr>
            <a:r>
              <a:rPr sz="1700" i="1">
                <a:solidFill>
                  <a:srgbClr val="3E7C79"/>
                </a:solidFill>
                <a:latin typeface="Cambria"/>
                <a:ea typeface="Cambria"/>
                <a:cs typeface="Cambria"/>
              </a:rPr>
              <a:t>Add up the surplus of everyone who actually sells at the market price.</a:t>
            </a:r>
            <a:endParaRPr sz="1800"/>
          </a:p>
          <a:p>
            <a:pPr marL="279400" indent="-279400">
              <a:spcAft>
                <a:spcPts val="800"/>
              </a:spcAft>
              <a:buSzPct val="100000"/>
              <a:buChar char="●"/>
            </a:pPr>
            <a:r>
              <a:rPr sz="1800" b="1">
                <a:solidFill>
                  <a:srgbClr val="1C2321"/>
                </a:solidFill>
                <a:latin typeface="Cambria"/>
                <a:ea typeface="Cambria"/>
                <a:cs typeface="Cambria"/>
              </a:rPr>
              <a:t>So why wouldn’t a seller whose willingness to sell is above the market price be included?</a:t>
            </a:r>
            <a:endParaRPr sz="1800"/>
          </a:p>
          <a:p>
            <a:pPr marL="508000" lvl="1" indent="-254000">
              <a:spcAft>
                <a:spcPts val="1000"/>
              </a:spcAft>
              <a:buSzPct val="100000"/>
              <a:buChar char="–"/>
            </a:pPr>
            <a:r>
              <a:rPr sz="1700" i="1">
                <a:solidFill>
                  <a:srgbClr val="3E7C79"/>
                </a:solidFill>
                <a:latin typeface="Cambria"/>
                <a:ea typeface="Cambria"/>
                <a:cs typeface="Cambria"/>
              </a:rPr>
              <a:t>The same logic, from the other side of the market: a seller trades only when they expect to be better off for it.</a:t>
            </a:r>
            <a:endParaRPr sz="1800"/>
          </a:p>
          <a:p>
            <a:pPr marL="508000" lvl="1" indent="-254000">
              <a:spcAft>
                <a:spcPts val="1000"/>
              </a:spcAft>
              <a:buSzPct val="100000"/>
              <a:buChar char="–"/>
            </a:pPr>
            <a:r>
              <a:rPr sz="1700" i="1">
                <a:solidFill>
                  <a:srgbClr val="3E7C79"/>
                </a:solidFill>
                <a:latin typeface="Cambria"/>
                <a:ea typeface="Cambria"/>
                <a:cs typeface="Cambria"/>
              </a:rPr>
              <a:t>Willingness to sell is the least a seller will accept. If the market price sits below that price, the sale would leave them worse off than keeping the good.</a:t>
            </a:r>
            <a:endParaRPr sz="1800"/>
          </a:p>
          <a:p>
            <a:pPr marL="508000" lvl="1" indent="-254000">
              <a:spcAft>
                <a:spcPts val="1000"/>
              </a:spcAft>
              <a:buSzPct val="100000"/>
              <a:buChar char="–"/>
            </a:pPr>
            <a:r>
              <a:rPr sz="1700" i="1">
                <a:solidFill>
                  <a:srgbClr val="3E7C79"/>
                </a:solidFill>
                <a:latin typeface="Cambria"/>
                <a:ea typeface="Cambria"/>
                <a:cs typeface="Cambria"/>
              </a:rPr>
              <a:t>So they never enter the trade, and they gain no surplus. They aren’t left out of the calculation; they simply aren’t a seller.</a:t>
            </a:r>
            <a:endParaRPr sz="1800"/>
          </a:p>
        </p:txBody>
      </p:sp>
    </p:spTree>
    <p:extLst>
      <p:ext uri="{BB962C8B-B14F-4D97-AF65-F5344CB8AC3E}">
        <p14:creationId xmlns:p14="http://schemas.microsoft.com/office/powerpoint/2010/main" val="1706975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230F211-646C-467D-A161-8F5A20A26603}"/>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F4154CCC-0A33-4790-B14A-A2CA07EAFB01}"/>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24</a:t>
            </a:r>
            <a:endParaRPr sz="1000"/>
          </a:p>
        </p:txBody>
      </p:sp>
      <p:sp>
        <p:nvSpPr>
          <p:cNvPr id="4" name="Shape 2">
            <a:extLst>
              <a:ext uri="{FF2B5EF4-FFF2-40B4-BE49-F238E27FC236}">
                <a16:creationId xmlns:a16="http://schemas.microsoft.com/office/drawing/2014/main" id="{4204602C-886C-4521-85BE-758A22B97D7D}"/>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D51AAF92-C42F-4A8D-B566-D2C6C5026AE1}"/>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D45F471C-41E0-4E43-9ECC-54136B3374E2}"/>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QUIZ REVIEW</a:t>
            </a:r>
            <a:endParaRPr sz="1300"/>
          </a:p>
        </p:txBody>
      </p:sp>
      <p:sp>
        <p:nvSpPr>
          <p:cNvPr id="7" name="Text 5">
            <a:extLst>
              <a:ext uri="{FF2B5EF4-FFF2-40B4-BE49-F238E27FC236}">
                <a16:creationId xmlns:a16="http://schemas.microsoft.com/office/drawing/2014/main" id="{FE4B5DEF-D618-4C98-BCCC-AAF11A062952}"/>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Any Questions on the Quiz?</a:t>
            </a:r>
            <a:endParaRPr sz="4000"/>
          </a:p>
        </p:txBody>
      </p:sp>
    </p:spTree>
    <p:extLst>
      <p:ext uri="{BB962C8B-B14F-4D97-AF65-F5344CB8AC3E}">
        <p14:creationId xmlns:p14="http://schemas.microsoft.com/office/powerpoint/2010/main" val="2060124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2E9EE73-3D90-4ED3-8CCD-6EE93262772A}"/>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0C65986C-E46F-4C89-B8AE-8A1E65241649}"/>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25</a:t>
            </a:r>
            <a:endParaRPr sz="1000"/>
          </a:p>
        </p:txBody>
      </p:sp>
      <p:sp>
        <p:nvSpPr>
          <p:cNvPr id="4" name="Shape 2">
            <a:extLst>
              <a:ext uri="{FF2B5EF4-FFF2-40B4-BE49-F238E27FC236}">
                <a16:creationId xmlns:a16="http://schemas.microsoft.com/office/drawing/2014/main" id="{E0149E59-8F0E-4C04-95E9-1E4370C95FB6}"/>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9358F5DC-40E3-4530-BAB1-4D691C45D8BE}"/>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0913C5FF-BB05-476A-9EAE-62572DA63910}"/>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EXAM 1  ·  THURSDAY, SEPTEMBER 24</a:t>
            </a:r>
            <a:endParaRPr sz="1300"/>
          </a:p>
        </p:txBody>
      </p:sp>
      <p:sp>
        <p:nvSpPr>
          <p:cNvPr id="7" name="Text 5">
            <a:extLst>
              <a:ext uri="{FF2B5EF4-FFF2-40B4-BE49-F238E27FC236}">
                <a16:creationId xmlns:a16="http://schemas.microsoft.com/office/drawing/2014/main" id="{0E4251D5-F384-4477-9042-46235562194C}"/>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Exam Overview</a:t>
            </a:r>
            <a:endParaRPr sz="4000"/>
          </a:p>
        </p:txBody>
      </p:sp>
      <p:sp>
        <p:nvSpPr>
          <p:cNvPr id="8" name="Text 6">
            <a:extLst>
              <a:ext uri="{FF2B5EF4-FFF2-40B4-BE49-F238E27FC236}">
                <a16:creationId xmlns:a16="http://schemas.microsoft.com/office/drawing/2014/main" id="{4ABEFFB6-0664-47B3-933A-C4FC552FA42A}"/>
              </a:ext>
            </a:extLst>
          </p:cNvPr>
          <p:cNvSpPr>
            <a:spLocks noGrp="1"/>
          </p:cNvSpPr>
          <p:nvPr/>
        </p:nvSpPr>
        <p:spPr>
          <a:xfrm>
            <a:off x="1188720" y="5349240"/>
            <a:ext cx="9811512" cy="640080"/>
          </a:xfrm>
          <a:prstGeom prst="rect">
            <a:avLst/>
          </a:prstGeom>
          <a:noFill/>
        </p:spPr>
        <p:txBody>
          <a:bodyPr wrap="square" lIns="0" tIns="0" rIns="0" bIns="0" anchor="ctr"/>
          <a:lstStyle/>
          <a:p>
            <a:pPr marL="0" indent="0" algn="ctr">
              <a:buNone/>
            </a:pPr>
            <a:r>
              <a:rPr sz="1800">
                <a:solidFill>
                  <a:srgbClr val="51605E"/>
                </a:solidFill>
                <a:latin typeface="Cambria"/>
                <a:ea typeface="Cambria"/>
                <a:cs typeface="Cambria"/>
              </a:rPr>
              <a:t>Format, grading, and what to bring.</a:t>
            </a:r>
            <a:endParaRPr sz="1800"/>
          </a:p>
        </p:txBody>
      </p:sp>
    </p:spTree>
    <p:extLst>
      <p:ext uri="{BB962C8B-B14F-4D97-AF65-F5344CB8AC3E}">
        <p14:creationId xmlns:p14="http://schemas.microsoft.com/office/powerpoint/2010/main" val="1603037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B39A1B4-3E41-45DD-B428-762FD0185526}"/>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78F3FCA2-7506-4864-A2E7-E2DD6FBBA6DB}"/>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EXAM 1</a:t>
            </a:r>
            <a:endParaRPr sz="1300"/>
          </a:p>
        </p:txBody>
      </p:sp>
      <p:sp>
        <p:nvSpPr>
          <p:cNvPr id="4" name="Text 2">
            <a:extLst>
              <a:ext uri="{FF2B5EF4-FFF2-40B4-BE49-F238E27FC236}">
                <a16:creationId xmlns:a16="http://schemas.microsoft.com/office/drawing/2014/main" id="{F679BDA1-A548-430B-8CFF-DC629E652E5D}"/>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E3F2302-6A92-4194-9FD7-D52E18C484DC}"/>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26</a:t>
            </a:r>
            <a:endParaRPr sz="1000"/>
          </a:p>
        </p:txBody>
      </p:sp>
      <p:sp>
        <p:nvSpPr>
          <p:cNvPr id="6" name="Text 4">
            <a:extLst>
              <a:ext uri="{FF2B5EF4-FFF2-40B4-BE49-F238E27FC236}">
                <a16:creationId xmlns:a16="http://schemas.microsoft.com/office/drawing/2014/main" id="{62EE25CC-EED2-42D1-857F-D02B48187388}"/>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Question Format</a:t>
            </a:r>
            <a:endParaRPr sz="3200"/>
          </a:p>
        </p:txBody>
      </p:sp>
      <p:sp>
        <p:nvSpPr>
          <p:cNvPr id="7" name="Shape 5">
            <a:extLst>
              <a:ext uri="{FF2B5EF4-FFF2-40B4-BE49-F238E27FC236}">
                <a16:creationId xmlns:a16="http://schemas.microsoft.com/office/drawing/2014/main" id="{9A54B98E-F44F-4E2D-85CC-4C5A293645DB}"/>
              </a:ext>
            </a:extLst>
          </p:cNvPr>
          <p:cNvSpPr>
            <a:spLocks noGrp="1"/>
          </p:cNvSpPr>
          <p:nvPr/>
        </p:nvSpPr>
        <p:spPr>
          <a:xfrm>
            <a:off x="548640" y="1920240"/>
            <a:ext cx="5449824" cy="1783080"/>
          </a:xfrm>
          <a:prstGeom prst="roundRect">
            <a:avLst>
              <a:gd name="adj" fmla="val 2051"/>
            </a:avLst>
          </a:prstGeom>
          <a:solidFill>
            <a:srgbClr val="FAF6F3"/>
          </a:solidFill>
        </p:spPr>
        <p:txBody>
          <a:bodyPr/>
          <a:lstStyle/>
          <a:p>
            <a:endParaRPr/>
          </a:p>
        </p:txBody>
      </p:sp>
      <p:sp>
        <p:nvSpPr>
          <p:cNvPr id="8" name="Text 6">
            <a:extLst>
              <a:ext uri="{FF2B5EF4-FFF2-40B4-BE49-F238E27FC236}">
                <a16:creationId xmlns:a16="http://schemas.microsoft.com/office/drawing/2014/main" id="{3212025B-FFE0-468B-90B2-9139EE39F282}"/>
              </a:ext>
            </a:extLst>
          </p:cNvPr>
          <p:cNvSpPr>
            <a:spLocks noGrp="1"/>
          </p:cNvSpPr>
          <p:nvPr/>
        </p:nvSpPr>
        <p:spPr>
          <a:xfrm>
            <a:off x="822960" y="2176272"/>
            <a:ext cx="4901184" cy="731520"/>
          </a:xfrm>
          <a:prstGeom prst="rect">
            <a:avLst/>
          </a:prstGeom>
          <a:noFill/>
        </p:spPr>
        <p:txBody>
          <a:bodyPr wrap="square" lIns="0" tIns="0" rIns="0" bIns="0" anchor="ctr"/>
          <a:lstStyle/>
          <a:p>
            <a:pPr marL="0" indent="0" algn="ctr">
              <a:buNone/>
            </a:pPr>
            <a:r>
              <a:rPr sz="3400" b="1">
                <a:solidFill>
                  <a:srgbClr val="1C2321"/>
                </a:solidFill>
                <a:latin typeface="Cambria"/>
                <a:ea typeface="Cambria"/>
                <a:cs typeface="Cambria"/>
              </a:rPr>
              <a:t>25</a:t>
            </a:r>
            <a:endParaRPr sz="3400"/>
          </a:p>
        </p:txBody>
      </p:sp>
      <p:sp>
        <p:nvSpPr>
          <p:cNvPr id="9" name="Text 7">
            <a:extLst>
              <a:ext uri="{FF2B5EF4-FFF2-40B4-BE49-F238E27FC236}">
                <a16:creationId xmlns:a16="http://schemas.microsoft.com/office/drawing/2014/main" id="{F4274E79-F59A-40DD-832A-37820D600540}"/>
              </a:ext>
            </a:extLst>
          </p:cNvPr>
          <p:cNvSpPr>
            <a:spLocks noGrp="1"/>
          </p:cNvSpPr>
          <p:nvPr/>
        </p:nvSpPr>
        <p:spPr>
          <a:xfrm>
            <a:off x="822960" y="2944368"/>
            <a:ext cx="4901184" cy="457200"/>
          </a:xfrm>
          <a:prstGeom prst="rect">
            <a:avLst/>
          </a:prstGeom>
          <a:noFill/>
        </p:spPr>
        <p:txBody>
          <a:bodyPr wrap="square" lIns="0" tIns="0" rIns="0" bIns="0" anchor="ctr"/>
          <a:lstStyle/>
          <a:p>
            <a:pPr marL="0" indent="0" algn="ctr">
              <a:buNone/>
            </a:pPr>
            <a:r>
              <a:rPr sz="1900" b="1" spc="100">
                <a:solidFill>
                  <a:srgbClr val="51605E"/>
                </a:solidFill>
                <a:latin typeface="Cambria"/>
                <a:ea typeface="Cambria"/>
                <a:cs typeface="Cambria"/>
              </a:rPr>
              <a:t>Multiple Choice</a:t>
            </a:r>
            <a:endParaRPr sz="1900"/>
          </a:p>
        </p:txBody>
      </p:sp>
      <p:sp>
        <p:nvSpPr>
          <p:cNvPr id="10" name="Shape 8">
            <a:extLst>
              <a:ext uri="{FF2B5EF4-FFF2-40B4-BE49-F238E27FC236}">
                <a16:creationId xmlns:a16="http://schemas.microsoft.com/office/drawing/2014/main" id="{132AD524-6851-46CF-B3DF-59508D4F439A}"/>
              </a:ext>
            </a:extLst>
          </p:cNvPr>
          <p:cNvSpPr>
            <a:spLocks noGrp="1"/>
          </p:cNvSpPr>
          <p:nvPr/>
        </p:nvSpPr>
        <p:spPr>
          <a:xfrm>
            <a:off x="6190488" y="1920240"/>
            <a:ext cx="5449824" cy="1783080"/>
          </a:xfrm>
          <a:prstGeom prst="roundRect">
            <a:avLst>
              <a:gd name="adj" fmla="val 2051"/>
            </a:avLst>
          </a:prstGeom>
          <a:solidFill>
            <a:srgbClr val="FAF6F3"/>
          </a:solidFill>
        </p:spPr>
        <p:txBody>
          <a:bodyPr/>
          <a:lstStyle/>
          <a:p>
            <a:endParaRPr/>
          </a:p>
        </p:txBody>
      </p:sp>
      <p:sp>
        <p:nvSpPr>
          <p:cNvPr id="11" name="Text 9">
            <a:extLst>
              <a:ext uri="{FF2B5EF4-FFF2-40B4-BE49-F238E27FC236}">
                <a16:creationId xmlns:a16="http://schemas.microsoft.com/office/drawing/2014/main" id="{DEDE4F34-CE73-4375-BABF-3A56793089C0}"/>
              </a:ext>
            </a:extLst>
          </p:cNvPr>
          <p:cNvSpPr>
            <a:spLocks noGrp="1"/>
          </p:cNvSpPr>
          <p:nvPr/>
        </p:nvSpPr>
        <p:spPr>
          <a:xfrm>
            <a:off x="6464808" y="2176272"/>
            <a:ext cx="4901184" cy="731520"/>
          </a:xfrm>
          <a:prstGeom prst="rect">
            <a:avLst/>
          </a:prstGeom>
          <a:noFill/>
        </p:spPr>
        <p:txBody>
          <a:bodyPr wrap="square" lIns="0" tIns="0" rIns="0" bIns="0" anchor="ctr"/>
          <a:lstStyle/>
          <a:p>
            <a:pPr marL="0" indent="0" algn="ctr">
              <a:buNone/>
            </a:pPr>
            <a:r>
              <a:rPr sz="3400" b="1">
                <a:solidFill>
                  <a:srgbClr val="1C2321"/>
                </a:solidFill>
                <a:latin typeface="Cambria"/>
                <a:ea typeface="Cambria"/>
                <a:cs typeface="Cambria"/>
              </a:rPr>
              <a:t>8</a:t>
            </a:r>
            <a:endParaRPr sz="3400"/>
          </a:p>
        </p:txBody>
      </p:sp>
      <p:sp>
        <p:nvSpPr>
          <p:cNvPr id="12" name="Text 10">
            <a:extLst>
              <a:ext uri="{FF2B5EF4-FFF2-40B4-BE49-F238E27FC236}">
                <a16:creationId xmlns:a16="http://schemas.microsoft.com/office/drawing/2014/main" id="{66737564-9C07-4B9D-A8F3-16122D7BBFB5}"/>
              </a:ext>
            </a:extLst>
          </p:cNvPr>
          <p:cNvSpPr>
            <a:spLocks noGrp="1"/>
          </p:cNvSpPr>
          <p:nvPr/>
        </p:nvSpPr>
        <p:spPr>
          <a:xfrm>
            <a:off x="6464808" y="2944368"/>
            <a:ext cx="4901184" cy="457200"/>
          </a:xfrm>
          <a:prstGeom prst="rect">
            <a:avLst/>
          </a:prstGeom>
          <a:noFill/>
        </p:spPr>
        <p:txBody>
          <a:bodyPr wrap="square" lIns="0" tIns="0" rIns="0" bIns="0" anchor="ctr"/>
          <a:lstStyle/>
          <a:p>
            <a:pPr marL="0" indent="0" algn="ctr">
              <a:buNone/>
            </a:pPr>
            <a:r>
              <a:rPr sz="1900" b="1" spc="100">
                <a:solidFill>
                  <a:srgbClr val="51605E"/>
                </a:solidFill>
                <a:latin typeface="Cambria"/>
                <a:ea typeface="Cambria"/>
                <a:cs typeface="Cambria"/>
              </a:rPr>
              <a:t>Short Answer</a:t>
            </a:r>
            <a:endParaRPr sz="1900"/>
          </a:p>
        </p:txBody>
      </p:sp>
      <p:sp>
        <p:nvSpPr>
          <p:cNvPr id="13" name="Shape 11">
            <a:extLst>
              <a:ext uri="{FF2B5EF4-FFF2-40B4-BE49-F238E27FC236}">
                <a16:creationId xmlns:a16="http://schemas.microsoft.com/office/drawing/2014/main" id="{540BF1C4-EECD-4543-B3E4-74538A6DDAAC}"/>
              </a:ext>
            </a:extLst>
          </p:cNvPr>
          <p:cNvSpPr>
            <a:spLocks noGrp="1"/>
          </p:cNvSpPr>
          <p:nvPr/>
        </p:nvSpPr>
        <p:spPr>
          <a:xfrm>
            <a:off x="548640" y="3931920"/>
            <a:ext cx="5449824" cy="1783080"/>
          </a:xfrm>
          <a:prstGeom prst="roundRect">
            <a:avLst>
              <a:gd name="adj" fmla="val 2051"/>
            </a:avLst>
          </a:prstGeom>
          <a:solidFill>
            <a:srgbClr val="FAF6F3"/>
          </a:solidFill>
        </p:spPr>
        <p:txBody>
          <a:bodyPr/>
          <a:lstStyle/>
          <a:p>
            <a:endParaRPr/>
          </a:p>
        </p:txBody>
      </p:sp>
      <p:sp>
        <p:nvSpPr>
          <p:cNvPr id="14" name="Text 12">
            <a:extLst>
              <a:ext uri="{FF2B5EF4-FFF2-40B4-BE49-F238E27FC236}">
                <a16:creationId xmlns:a16="http://schemas.microsoft.com/office/drawing/2014/main" id="{C3CA585D-76D2-4349-ADC1-62AD7A52C2E1}"/>
              </a:ext>
            </a:extLst>
          </p:cNvPr>
          <p:cNvSpPr>
            <a:spLocks noGrp="1"/>
          </p:cNvSpPr>
          <p:nvPr/>
        </p:nvSpPr>
        <p:spPr>
          <a:xfrm>
            <a:off x="822960" y="4187952"/>
            <a:ext cx="4901184" cy="731520"/>
          </a:xfrm>
          <a:prstGeom prst="rect">
            <a:avLst/>
          </a:prstGeom>
          <a:noFill/>
        </p:spPr>
        <p:txBody>
          <a:bodyPr wrap="square" lIns="0" tIns="0" rIns="0" bIns="0" anchor="ctr"/>
          <a:lstStyle/>
          <a:p>
            <a:pPr marL="0" indent="0" algn="ctr">
              <a:buNone/>
            </a:pPr>
            <a:r>
              <a:rPr sz="3400" b="1">
                <a:solidFill>
                  <a:srgbClr val="1C2321"/>
                </a:solidFill>
                <a:latin typeface="Cambria"/>
                <a:ea typeface="Cambria"/>
                <a:cs typeface="Cambria"/>
              </a:rPr>
              <a:t>1</a:t>
            </a:r>
            <a:endParaRPr sz="3400"/>
          </a:p>
        </p:txBody>
      </p:sp>
      <p:sp>
        <p:nvSpPr>
          <p:cNvPr id="15" name="Text 13">
            <a:extLst>
              <a:ext uri="{FF2B5EF4-FFF2-40B4-BE49-F238E27FC236}">
                <a16:creationId xmlns:a16="http://schemas.microsoft.com/office/drawing/2014/main" id="{C2A6D44F-4D79-4847-B2A9-5C060A1B6043}"/>
              </a:ext>
            </a:extLst>
          </p:cNvPr>
          <p:cNvSpPr>
            <a:spLocks noGrp="1"/>
          </p:cNvSpPr>
          <p:nvPr/>
        </p:nvSpPr>
        <p:spPr>
          <a:xfrm>
            <a:off x="822960" y="4956048"/>
            <a:ext cx="4901184" cy="457200"/>
          </a:xfrm>
          <a:prstGeom prst="rect">
            <a:avLst/>
          </a:prstGeom>
          <a:noFill/>
        </p:spPr>
        <p:txBody>
          <a:bodyPr wrap="square" lIns="0" tIns="0" rIns="0" bIns="0" anchor="ctr"/>
          <a:lstStyle/>
          <a:p>
            <a:pPr marL="0" indent="0" algn="ctr">
              <a:buNone/>
            </a:pPr>
            <a:r>
              <a:rPr sz="1900" b="1" spc="100">
                <a:solidFill>
                  <a:srgbClr val="51605E"/>
                </a:solidFill>
                <a:latin typeface="Cambria"/>
                <a:ea typeface="Cambria"/>
                <a:cs typeface="Cambria"/>
              </a:rPr>
              <a:t>Long Answer</a:t>
            </a:r>
            <a:endParaRPr sz="1900"/>
          </a:p>
        </p:txBody>
      </p:sp>
      <p:sp>
        <p:nvSpPr>
          <p:cNvPr id="16" name="Shape 14">
            <a:extLst>
              <a:ext uri="{FF2B5EF4-FFF2-40B4-BE49-F238E27FC236}">
                <a16:creationId xmlns:a16="http://schemas.microsoft.com/office/drawing/2014/main" id="{41A586CA-A521-4CA4-8B6C-CAFF9DDF58C6}"/>
              </a:ext>
            </a:extLst>
          </p:cNvPr>
          <p:cNvSpPr>
            <a:spLocks noGrp="1"/>
          </p:cNvSpPr>
          <p:nvPr/>
        </p:nvSpPr>
        <p:spPr>
          <a:xfrm>
            <a:off x="6190488" y="3931920"/>
            <a:ext cx="5449824" cy="1783080"/>
          </a:xfrm>
          <a:prstGeom prst="roundRect">
            <a:avLst>
              <a:gd name="adj" fmla="val 2051"/>
            </a:avLst>
          </a:prstGeom>
          <a:solidFill>
            <a:srgbClr val="FAF6F3"/>
          </a:solidFill>
        </p:spPr>
        <p:txBody>
          <a:bodyPr/>
          <a:lstStyle/>
          <a:p>
            <a:endParaRPr/>
          </a:p>
        </p:txBody>
      </p:sp>
      <p:sp>
        <p:nvSpPr>
          <p:cNvPr id="17" name="Text 15">
            <a:extLst>
              <a:ext uri="{FF2B5EF4-FFF2-40B4-BE49-F238E27FC236}">
                <a16:creationId xmlns:a16="http://schemas.microsoft.com/office/drawing/2014/main" id="{5FDDF23C-2E1C-4895-984A-CD89F446C5BE}"/>
              </a:ext>
            </a:extLst>
          </p:cNvPr>
          <p:cNvSpPr>
            <a:spLocks noGrp="1"/>
          </p:cNvSpPr>
          <p:nvPr/>
        </p:nvSpPr>
        <p:spPr>
          <a:xfrm>
            <a:off x="6464808" y="4187952"/>
            <a:ext cx="4901184" cy="731520"/>
          </a:xfrm>
          <a:prstGeom prst="rect">
            <a:avLst/>
          </a:prstGeom>
          <a:noFill/>
        </p:spPr>
        <p:txBody>
          <a:bodyPr wrap="square" lIns="0" tIns="0" rIns="0" bIns="0" anchor="ctr"/>
          <a:lstStyle/>
          <a:p>
            <a:pPr marL="0" indent="0" algn="ctr">
              <a:buNone/>
            </a:pPr>
            <a:r>
              <a:rPr sz="3400" b="1">
                <a:solidFill>
                  <a:srgbClr val="1C2321"/>
                </a:solidFill>
                <a:latin typeface="Cambria"/>
                <a:ea typeface="Cambria"/>
                <a:cs typeface="Cambria"/>
              </a:rPr>
              <a:t>1</a:t>
            </a:r>
            <a:endParaRPr sz="3400"/>
          </a:p>
        </p:txBody>
      </p:sp>
      <p:sp>
        <p:nvSpPr>
          <p:cNvPr id="18" name="Text 16">
            <a:extLst>
              <a:ext uri="{FF2B5EF4-FFF2-40B4-BE49-F238E27FC236}">
                <a16:creationId xmlns:a16="http://schemas.microsoft.com/office/drawing/2014/main" id="{20B4855A-C906-4802-86A4-90C211F46E69}"/>
              </a:ext>
            </a:extLst>
          </p:cNvPr>
          <p:cNvSpPr>
            <a:spLocks noGrp="1"/>
          </p:cNvSpPr>
          <p:nvPr/>
        </p:nvSpPr>
        <p:spPr>
          <a:xfrm>
            <a:off x="6464808" y="4956048"/>
            <a:ext cx="4901184" cy="457200"/>
          </a:xfrm>
          <a:prstGeom prst="rect">
            <a:avLst/>
          </a:prstGeom>
          <a:noFill/>
        </p:spPr>
        <p:txBody>
          <a:bodyPr wrap="square" lIns="0" tIns="0" rIns="0" bIns="0" anchor="ctr"/>
          <a:lstStyle/>
          <a:p>
            <a:pPr marL="0" indent="0" algn="ctr">
              <a:buNone/>
            </a:pPr>
            <a:r>
              <a:rPr sz="1900" b="1" spc="100">
                <a:solidFill>
                  <a:srgbClr val="51605E"/>
                </a:solidFill>
                <a:latin typeface="Cambria"/>
                <a:ea typeface="Cambria"/>
                <a:cs typeface="Cambria"/>
              </a:rPr>
              <a:t>Bonus</a:t>
            </a:r>
            <a:endParaRPr sz="1900"/>
          </a:p>
        </p:txBody>
      </p:sp>
    </p:spTree>
    <p:extLst>
      <p:ext uri="{BB962C8B-B14F-4D97-AF65-F5344CB8AC3E}">
        <p14:creationId xmlns:p14="http://schemas.microsoft.com/office/powerpoint/2010/main" val="1804656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3DB09A9-760F-4D3D-AD10-695F85364DB7}"/>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4DE99FE0-AD9F-416A-9384-39BAD2E93424}"/>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EXAM 1</a:t>
            </a:r>
            <a:endParaRPr sz="1300"/>
          </a:p>
        </p:txBody>
      </p:sp>
      <p:sp>
        <p:nvSpPr>
          <p:cNvPr id="4" name="Text 2">
            <a:extLst>
              <a:ext uri="{FF2B5EF4-FFF2-40B4-BE49-F238E27FC236}">
                <a16:creationId xmlns:a16="http://schemas.microsoft.com/office/drawing/2014/main" id="{91E35A73-283A-449A-9385-74D5FDF44481}"/>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9AB6B177-A6AC-45A3-B4D3-17DE05510B03}"/>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27</a:t>
            </a:r>
            <a:endParaRPr sz="1000"/>
          </a:p>
        </p:txBody>
      </p:sp>
      <p:sp>
        <p:nvSpPr>
          <p:cNvPr id="6" name="Text 4">
            <a:extLst>
              <a:ext uri="{FF2B5EF4-FFF2-40B4-BE49-F238E27FC236}">
                <a16:creationId xmlns:a16="http://schemas.microsoft.com/office/drawing/2014/main" id="{35FE2DEF-9E67-4A2A-B08A-4EF82B9344F7}"/>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Exam Grading</a:t>
            </a:r>
            <a:endParaRPr sz="3200"/>
          </a:p>
        </p:txBody>
      </p:sp>
      <p:sp>
        <p:nvSpPr>
          <p:cNvPr id="7" name="Text 5">
            <a:extLst>
              <a:ext uri="{FF2B5EF4-FFF2-40B4-BE49-F238E27FC236}">
                <a16:creationId xmlns:a16="http://schemas.microsoft.com/office/drawing/2014/main" id="{88E6D3A5-4973-4A3A-BAEC-B2443901057F}"/>
              </a:ext>
            </a:extLst>
          </p:cNvPr>
          <p:cNvSpPr>
            <a:spLocks noGrp="1"/>
          </p:cNvSpPr>
          <p:nvPr/>
        </p:nvSpPr>
        <p:spPr>
          <a:xfrm>
            <a:off x="548640" y="1828800"/>
            <a:ext cx="10881360" cy="438912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There are 106 points available on a 100-point exam.</a:t>
            </a:r>
            <a:endParaRPr sz="1800"/>
          </a:p>
          <a:p>
            <a:pPr marL="508000" lvl="1" indent="-254000">
              <a:spcAft>
                <a:spcPts val="1000"/>
              </a:spcAft>
              <a:buSzPct val="100000"/>
              <a:buChar char="–"/>
            </a:pPr>
            <a:r>
              <a:rPr sz="1700" i="1">
                <a:solidFill>
                  <a:srgbClr val="3E7C79"/>
                </a:solidFill>
                <a:latin typeface="Cambria"/>
                <a:ea typeface="Cambria"/>
                <a:cs typeface="Cambria"/>
              </a:rPr>
              <a:t>The bonus can only help you. It can never pull your score down.</a:t>
            </a:r>
            <a:endParaRPr sz="1800"/>
          </a:p>
          <a:p>
            <a:pPr marL="279400" indent="-279400">
              <a:spcAft>
                <a:spcPts val="800"/>
              </a:spcAft>
              <a:buSzPct val="100000"/>
              <a:buChar char="●"/>
            </a:pPr>
            <a:r>
              <a:rPr sz="1800" b="1">
                <a:solidFill>
                  <a:srgbClr val="1C2321"/>
                </a:solidFill>
                <a:latin typeface="Cambria"/>
                <a:ea typeface="Cambria"/>
                <a:cs typeface="Cambria"/>
              </a:rPr>
              <a:t>Multiple choice is all or nothing.</a:t>
            </a:r>
            <a:endParaRPr sz="1800"/>
          </a:p>
          <a:p>
            <a:pPr marL="508000" lvl="1" indent="-254000">
              <a:spcAft>
                <a:spcPts val="1000"/>
              </a:spcAft>
              <a:buSzPct val="100000"/>
              <a:buChar char="–"/>
            </a:pPr>
            <a:r>
              <a:rPr sz="1700" i="1">
                <a:solidFill>
                  <a:srgbClr val="3E7C79"/>
                </a:solidFill>
                <a:latin typeface="Cambria"/>
                <a:ea typeface="Cambria"/>
                <a:cs typeface="Cambria"/>
              </a:rPr>
              <a:t>I will not read notes or work written in the margins on those questions.</a:t>
            </a:r>
            <a:endParaRPr sz="1800"/>
          </a:p>
          <a:p>
            <a:pPr marL="279400" indent="-279400">
              <a:spcAft>
                <a:spcPts val="800"/>
              </a:spcAft>
              <a:buSzPct val="100000"/>
              <a:buChar char="●"/>
            </a:pPr>
            <a:r>
              <a:rPr sz="1800" b="1">
                <a:solidFill>
                  <a:srgbClr val="1C2321"/>
                </a:solidFill>
                <a:latin typeface="Cambria"/>
                <a:ea typeface="Cambria"/>
                <a:cs typeface="Cambria"/>
              </a:rPr>
              <a:t>On short answer, long answer, and the bonus, show me as much work as you can.</a:t>
            </a:r>
            <a:endParaRPr sz="1800"/>
          </a:p>
          <a:p>
            <a:pPr marL="508000" lvl="1" indent="-254000">
              <a:spcAft>
                <a:spcPts val="1000"/>
              </a:spcAft>
              <a:buSzPct val="100000"/>
              <a:buChar char="–"/>
            </a:pPr>
            <a:r>
              <a:rPr sz="1700" i="1">
                <a:solidFill>
                  <a:srgbClr val="3E7C79"/>
                </a:solidFill>
                <a:latin typeface="Cambria"/>
                <a:ea typeface="Cambria"/>
                <a:cs typeface="Cambria"/>
              </a:rPr>
              <a:t>Partial credit is real. If you miss a step, I can trace where it went wrong and still give you credit for the parts that you got right.</a:t>
            </a:r>
            <a:endParaRPr sz="1800"/>
          </a:p>
          <a:p>
            <a:pPr marL="508000" lvl="1" indent="-254000">
              <a:spcAft>
                <a:spcPts val="1000"/>
              </a:spcAft>
              <a:buSzPct val="100000"/>
              <a:buChar char="–"/>
            </a:pPr>
            <a:r>
              <a:rPr sz="1700" i="1">
                <a:solidFill>
                  <a:srgbClr val="3E7C79"/>
                </a:solidFill>
                <a:latin typeface="Cambria"/>
                <a:ea typeface="Cambria"/>
                <a:cs typeface="Cambria"/>
              </a:rPr>
              <a:t>If you want to draw a graph, draw it — I take graphs into account on the short and long answer questions.</a:t>
            </a:r>
            <a:endParaRPr sz="1800"/>
          </a:p>
        </p:txBody>
      </p:sp>
    </p:spTree>
    <p:extLst>
      <p:ext uri="{BB962C8B-B14F-4D97-AF65-F5344CB8AC3E}">
        <p14:creationId xmlns:p14="http://schemas.microsoft.com/office/powerpoint/2010/main" val="534785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A3D9B9D-FA3D-4793-AA3D-818AC7579337}"/>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BECF56A8-7A7F-44E3-8C21-C899F7A1AEF9}"/>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EXAM 1</a:t>
            </a:r>
            <a:endParaRPr sz="1300"/>
          </a:p>
        </p:txBody>
      </p:sp>
      <p:sp>
        <p:nvSpPr>
          <p:cNvPr id="4" name="Text 2">
            <a:extLst>
              <a:ext uri="{FF2B5EF4-FFF2-40B4-BE49-F238E27FC236}">
                <a16:creationId xmlns:a16="http://schemas.microsoft.com/office/drawing/2014/main" id="{FC6FFFE5-156E-4AF2-9B1D-C7E72561BA86}"/>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9DB9D86-B09A-4876-AD60-6973A003BD8B}"/>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28</a:t>
            </a:r>
            <a:endParaRPr sz="1000"/>
          </a:p>
        </p:txBody>
      </p:sp>
      <p:sp>
        <p:nvSpPr>
          <p:cNvPr id="6" name="Text 4">
            <a:extLst>
              <a:ext uri="{FF2B5EF4-FFF2-40B4-BE49-F238E27FC236}">
                <a16:creationId xmlns:a16="http://schemas.microsoft.com/office/drawing/2014/main" id="{080E3446-C0BD-41D2-9785-45D1B35176E3}"/>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Exam Materials</a:t>
            </a:r>
            <a:endParaRPr sz="3200"/>
          </a:p>
        </p:txBody>
      </p:sp>
      <p:sp>
        <p:nvSpPr>
          <p:cNvPr id="7" name="Text 5">
            <a:extLst>
              <a:ext uri="{FF2B5EF4-FFF2-40B4-BE49-F238E27FC236}">
                <a16:creationId xmlns:a16="http://schemas.microsoft.com/office/drawing/2014/main" id="{0F189488-0711-44EA-935C-C6CB5403A316}"/>
              </a:ext>
            </a:extLst>
          </p:cNvPr>
          <p:cNvSpPr>
            <a:spLocks noGrp="1"/>
          </p:cNvSpPr>
          <p:nvPr/>
        </p:nvSpPr>
        <p:spPr>
          <a:xfrm>
            <a:off x="548640" y="1783080"/>
            <a:ext cx="10881360" cy="2103120"/>
          </a:xfrm>
          <a:prstGeom prst="rect">
            <a:avLst/>
          </a:prstGeom>
          <a:noFill/>
        </p:spPr>
        <p:txBody>
          <a:bodyPr wrap="square" lIns="0" tIns="0" rIns="0" bIns="0" anchor="t"/>
          <a:lstStyle/>
          <a:p>
            <a:pPr marL="279400" indent="-279400">
              <a:spcAft>
                <a:spcPts val="800"/>
              </a:spcAft>
              <a:buSzPct val="100000"/>
              <a:buChar char="●"/>
            </a:pPr>
            <a:r>
              <a:rPr sz="1800" b="1">
                <a:solidFill>
                  <a:srgbClr val="1C2321"/>
                </a:solidFill>
                <a:latin typeface="Cambria"/>
                <a:ea typeface="Cambria"/>
                <a:cs typeface="Cambria"/>
              </a:rPr>
              <a:t>Bring a pen or a pencil.</a:t>
            </a:r>
          </a:p>
          <a:p>
            <a:pPr marL="279400" indent="-279400">
              <a:spcAft>
                <a:spcPts val="800"/>
              </a:spcAft>
              <a:buSzPct val="100000"/>
              <a:buChar char="●"/>
            </a:pPr>
            <a:r>
              <a:rPr b="1">
                <a:solidFill>
                  <a:srgbClr val="1C2321"/>
                </a:solidFill>
                <a:latin typeface="Cambria"/>
                <a:ea typeface="Cambria"/>
                <a:cs typeface="Cambria"/>
              </a:rPr>
              <a:t>You can bring</a:t>
            </a:r>
            <a:r>
              <a:rPr sz="1800" b="1">
                <a:solidFill>
                  <a:srgbClr val="1C2321"/>
                </a:solidFill>
                <a:latin typeface="Cambria"/>
                <a:ea typeface="Cambria"/>
                <a:cs typeface="Cambria"/>
              </a:rPr>
              <a:t> a ruler if you’d like one.</a:t>
            </a:r>
            <a:endParaRPr sz="1800"/>
          </a:p>
          <a:p>
            <a:pPr marL="279400" indent="-279400">
              <a:spcAft>
                <a:spcPts val="800"/>
              </a:spcAft>
              <a:buSzPct val="100000"/>
              <a:buChar char="●"/>
            </a:pPr>
            <a:r>
              <a:rPr sz="1800" b="1">
                <a:solidFill>
                  <a:srgbClr val="1C2321"/>
                </a:solidFill>
                <a:latin typeface="Cambria"/>
                <a:ea typeface="Cambria"/>
                <a:cs typeface="Cambria"/>
              </a:rPr>
              <a:t>A calculator is allowed. I am not particular about what kind. You cannot share them. </a:t>
            </a:r>
            <a:endParaRPr sz="1800"/>
          </a:p>
          <a:p>
            <a:pPr marL="279400" indent="-279400">
              <a:spcAft>
                <a:spcPts val="800"/>
              </a:spcAft>
              <a:buSzPct val="100000"/>
              <a:buChar char="●"/>
            </a:pPr>
            <a:r>
              <a:rPr sz="1800" b="1">
                <a:solidFill>
                  <a:srgbClr val="1C2321"/>
                </a:solidFill>
                <a:latin typeface="Cambria"/>
                <a:ea typeface="Cambria"/>
                <a:cs typeface="Cambria"/>
              </a:rPr>
              <a:t>Phones stay put away for the entire exam. No exceptions. They cannot be used for calculations. </a:t>
            </a:r>
            <a:endParaRPr sz="1800"/>
          </a:p>
          <a:p>
            <a:pPr marL="279400" indent="-279400">
              <a:spcAft>
                <a:spcPts val="800"/>
              </a:spcAft>
              <a:buSzPct val="100000"/>
              <a:buChar char="●"/>
            </a:pPr>
            <a:r>
              <a:rPr b="1">
                <a:solidFill>
                  <a:srgbClr val="1C2321"/>
                </a:solidFill>
                <a:latin typeface="Cambria"/>
                <a:ea typeface="Cambria"/>
                <a:cs typeface="Cambria"/>
              </a:rPr>
              <a:t>The exam is closed book and closed note. </a:t>
            </a:r>
          </a:p>
          <a:p>
            <a:pPr marL="279400" indent="-279400">
              <a:spcAft>
                <a:spcPts val="800"/>
              </a:spcAft>
              <a:buSzPct val="100000"/>
              <a:buChar char="●"/>
            </a:pPr>
            <a:r>
              <a:rPr sz="1800" b="1">
                <a:solidFill>
                  <a:srgbClr val="1C2321"/>
                </a:solidFill>
                <a:latin typeface="Cambria"/>
                <a:ea typeface="Cambria"/>
                <a:cs typeface="Cambria"/>
              </a:rPr>
              <a:t>No shared materials, and no looking at anyone else’s paper.</a:t>
            </a:r>
            <a:endParaRPr sz="1800"/>
          </a:p>
        </p:txBody>
      </p:sp>
      <p:sp>
        <p:nvSpPr>
          <p:cNvPr id="8" name="Shape 6">
            <a:extLst>
              <a:ext uri="{FF2B5EF4-FFF2-40B4-BE49-F238E27FC236}">
                <a16:creationId xmlns:a16="http://schemas.microsoft.com/office/drawing/2014/main" id="{765381D7-4DD6-4916-B311-B495A54A006F}"/>
              </a:ext>
            </a:extLst>
          </p:cNvPr>
          <p:cNvSpPr>
            <a:spLocks noGrp="1"/>
          </p:cNvSpPr>
          <p:nvPr/>
        </p:nvSpPr>
        <p:spPr>
          <a:xfrm>
            <a:off x="548640" y="4114800"/>
            <a:ext cx="11091672" cy="1783080"/>
          </a:xfrm>
          <a:prstGeom prst="roundRect">
            <a:avLst>
              <a:gd name="adj" fmla="val 4103"/>
            </a:avLst>
          </a:prstGeom>
          <a:solidFill>
            <a:srgbClr val="F1E3DA"/>
          </a:solidFill>
        </p:spPr>
        <p:txBody>
          <a:bodyPr/>
          <a:lstStyle/>
          <a:p>
            <a:endParaRPr/>
          </a:p>
        </p:txBody>
      </p:sp>
      <p:sp>
        <p:nvSpPr>
          <p:cNvPr id="9" name="Text 7">
            <a:extLst>
              <a:ext uri="{FF2B5EF4-FFF2-40B4-BE49-F238E27FC236}">
                <a16:creationId xmlns:a16="http://schemas.microsoft.com/office/drawing/2014/main" id="{CFDF4646-0995-41AA-8CE2-777F756D492A}"/>
              </a:ext>
            </a:extLst>
          </p:cNvPr>
          <p:cNvSpPr>
            <a:spLocks noGrp="1"/>
          </p:cNvSpPr>
          <p:nvPr/>
        </p:nvSpPr>
        <p:spPr>
          <a:xfrm>
            <a:off x="868680" y="4114800"/>
            <a:ext cx="10451592" cy="1783080"/>
          </a:xfrm>
          <a:prstGeom prst="rect">
            <a:avLst/>
          </a:prstGeom>
          <a:noFill/>
        </p:spPr>
        <p:txBody>
          <a:bodyPr wrap="square" lIns="0" tIns="0" rIns="0" bIns="0" anchor="ctr"/>
          <a:lstStyle/>
          <a:p>
            <a:pPr marL="0" indent="0" algn="l">
              <a:buNone/>
            </a:pPr>
            <a:r>
              <a:rPr sz="1700">
                <a:solidFill>
                  <a:srgbClr val="1C2321"/>
                </a:solidFill>
                <a:latin typeface="Cambria"/>
                <a:ea typeface="Cambria"/>
                <a:cs typeface="Cambria"/>
              </a:rPr>
              <a:t>Proctors will be monitoring the room, and I will act on what they report — including a suspicion of cheating. I have already had to address students looking at each other’s work during quizzes, so take this as your warning: </a:t>
            </a:r>
          </a:p>
          <a:p>
            <a:pPr marL="0" indent="0" algn="ctr">
              <a:buNone/>
            </a:pPr>
            <a:endParaRPr sz="1700" b="1">
              <a:solidFill>
                <a:srgbClr val="1C2321"/>
              </a:solidFill>
              <a:latin typeface="Cambria"/>
              <a:ea typeface="Cambria"/>
              <a:cs typeface="Cambria"/>
            </a:endParaRPr>
          </a:p>
          <a:p>
            <a:pPr marL="0" indent="0" algn="ctr">
              <a:buNone/>
            </a:pPr>
            <a:r>
              <a:rPr sz="1600" b="1">
                <a:solidFill>
                  <a:srgbClr val="1C2321"/>
                </a:solidFill>
                <a:latin typeface="Cambria"/>
                <a:ea typeface="Cambria"/>
                <a:cs typeface="Cambria"/>
              </a:rPr>
              <a:t>I will give you a zero &amp; refer the matter to the academic review board if necessary. Let’s not end up there.</a:t>
            </a:r>
            <a:endParaRPr sz="1600" b="1"/>
          </a:p>
        </p:txBody>
      </p:sp>
    </p:spTree>
    <p:extLst>
      <p:ext uri="{BB962C8B-B14F-4D97-AF65-F5344CB8AC3E}">
        <p14:creationId xmlns:p14="http://schemas.microsoft.com/office/powerpoint/2010/main" val="481482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D9A57D3-84A8-4C71-A0AA-FC3009660DE7}"/>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3A227081-5200-45BA-B622-A0A1D0B24F0E}"/>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29</a:t>
            </a:r>
            <a:endParaRPr sz="1000"/>
          </a:p>
        </p:txBody>
      </p:sp>
      <p:sp>
        <p:nvSpPr>
          <p:cNvPr id="4" name="Shape 2">
            <a:extLst>
              <a:ext uri="{FF2B5EF4-FFF2-40B4-BE49-F238E27FC236}">
                <a16:creationId xmlns:a16="http://schemas.microsoft.com/office/drawing/2014/main" id="{02918F54-E4CD-45DA-94CF-8B34D96C206E}"/>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93C2665A-EB35-4D05-987E-F1BC6D2F2824}"/>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1396B35E-7D67-4662-A2BE-12C8A27D2212}"/>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EXAM 1</a:t>
            </a:r>
            <a:endParaRPr sz="1300"/>
          </a:p>
        </p:txBody>
      </p:sp>
      <p:sp>
        <p:nvSpPr>
          <p:cNvPr id="7" name="Text 5">
            <a:extLst>
              <a:ext uri="{FF2B5EF4-FFF2-40B4-BE49-F238E27FC236}">
                <a16:creationId xmlns:a16="http://schemas.microsoft.com/office/drawing/2014/main" id="{AC50F417-4661-47FF-8F5F-0693F89F3C8E}"/>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Any Questions on the Exam?</a:t>
            </a:r>
            <a:endParaRPr sz="4000"/>
          </a:p>
        </p:txBody>
      </p:sp>
    </p:spTree>
    <p:extLst>
      <p:ext uri="{BB962C8B-B14F-4D97-AF65-F5344CB8AC3E}">
        <p14:creationId xmlns:p14="http://schemas.microsoft.com/office/powerpoint/2010/main" val="1043366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217F93-1AA0-453F-B321-C68469A91E26}"/>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C44E46A4-8C75-46C1-9337-41E6C3ADA9F6}"/>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30</a:t>
            </a:r>
            <a:endParaRPr sz="1000"/>
          </a:p>
        </p:txBody>
      </p:sp>
      <p:sp>
        <p:nvSpPr>
          <p:cNvPr id="4" name="Shape 2">
            <a:extLst>
              <a:ext uri="{FF2B5EF4-FFF2-40B4-BE49-F238E27FC236}">
                <a16:creationId xmlns:a16="http://schemas.microsoft.com/office/drawing/2014/main" id="{A3DD9202-D6F1-4FE4-94E3-04ED12D04061}"/>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8800C812-3CC9-4326-A387-BCEB75B7F94A}"/>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401089D2-0E01-4EE8-922A-15AA3411DAFE}"/>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REVIEW</a:t>
            </a:r>
            <a:endParaRPr sz="1300"/>
          </a:p>
        </p:txBody>
      </p:sp>
      <p:sp>
        <p:nvSpPr>
          <p:cNvPr id="7" name="Text 5">
            <a:extLst>
              <a:ext uri="{FF2B5EF4-FFF2-40B4-BE49-F238E27FC236}">
                <a16:creationId xmlns:a16="http://schemas.microsoft.com/office/drawing/2014/main" id="{E23690E5-46FC-4BA0-AF63-ACF76525D5BB}"/>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Reviewing Our Concepts</a:t>
            </a:r>
            <a:endParaRPr sz="4000"/>
          </a:p>
        </p:txBody>
      </p:sp>
      <p:sp>
        <p:nvSpPr>
          <p:cNvPr id="8" name="Text 6">
            <a:extLst>
              <a:ext uri="{FF2B5EF4-FFF2-40B4-BE49-F238E27FC236}">
                <a16:creationId xmlns:a16="http://schemas.microsoft.com/office/drawing/2014/main" id="{2AB7BC4C-B692-4991-8651-8CA9EB394970}"/>
              </a:ext>
            </a:extLst>
          </p:cNvPr>
          <p:cNvSpPr>
            <a:spLocks noGrp="1"/>
          </p:cNvSpPr>
          <p:nvPr/>
        </p:nvSpPr>
        <p:spPr>
          <a:xfrm>
            <a:off x="1188720" y="5349240"/>
            <a:ext cx="9811512" cy="640080"/>
          </a:xfrm>
          <a:prstGeom prst="rect">
            <a:avLst/>
          </a:prstGeom>
          <a:noFill/>
        </p:spPr>
        <p:txBody>
          <a:bodyPr wrap="square" lIns="0" tIns="0" rIns="0" bIns="0" anchor="ctr"/>
          <a:lstStyle/>
          <a:p>
            <a:pPr marL="0" indent="0" algn="ctr">
              <a:buNone/>
            </a:pPr>
            <a:r>
              <a:rPr sz="1800">
                <a:solidFill>
                  <a:srgbClr val="51605E"/>
                </a:solidFill>
                <a:latin typeface="Cambria"/>
                <a:ea typeface="Cambria"/>
                <a:cs typeface="Cambria"/>
              </a:rPr>
              <a:t>The economic toolkit on the big screen.</a:t>
            </a:r>
            <a:endParaRPr sz="1800"/>
          </a:p>
        </p:txBody>
      </p:sp>
    </p:spTree>
    <p:extLst>
      <p:ext uri="{BB962C8B-B14F-4D97-AF65-F5344CB8AC3E}">
        <p14:creationId xmlns:p14="http://schemas.microsoft.com/office/powerpoint/2010/main" val="1500385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B773421-3175-468F-9807-50EB921C29D9}"/>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F01F4F2C-BDFB-448B-9683-9AB6214CDCFC}"/>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1</a:t>
            </a:r>
            <a:endParaRPr sz="1300"/>
          </a:p>
        </p:txBody>
      </p:sp>
      <p:sp>
        <p:nvSpPr>
          <p:cNvPr id="4" name="Text 2">
            <a:extLst>
              <a:ext uri="{FF2B5EF4-FFF2-40B4-BE49-F238E27FC236}">
                <a16:creationId xmlns:a16="http://schemas.microsoft.com/office/drawing/2014/main" id="{4150E453-A240-4118-AD06-9925E5030F58}"/>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C69675A3-19B1-4CE3-B07F-4E923E138533}"/>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31</a:t>
            </a:r>
            <a:endParaRPr sz="1000"/>
          </a:p>
        </p:txBody>
      </p:sp>
      <p:sp>
        <p:nvSpPr>
          <p:cNvPr id="6" name="Text 4">
            <a:extLst>
              <a:ext uri="{FF2B5EF4-FFF2-40B4-BE49-F238E27FC236}">
                <a16:creationId xmlns:a16="http://schemas.microsoft.com/office/drawing/2014/main" id="{5FEC72E3-6EFD-4230-B0B4-5192F808916F}"/>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Moneyball</a:t>
            </a:r>
            <a:endParaRPr sz="3200"/>
          </a:p>
        </p:txBody>
      </p:sp>
      <p:pic>
        <p:nvPicPr>
          <p:cNvPr id="11" name="Online Media 10" descr="Moneyball (2011) | Flashback to Billy's Mets Offer | Brad Pitt">
            <a:hlinkClick r:id="" action="ppaction://media"/>
            <a:extLst>
              <a:ext uri="{FF2B5EF4-FFF2-40B4-BE49-F238E27FC236}">
                <a16:creationId xmlns:a16="http://schemas.microsoft.com/office/drawing/2014/main" id="{97FFFAFD-25E4-3F0D-487F-0C61A3F088B9}"/>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128951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0065ABF-02E3-455F-B558-611267CDB055}"/>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1D6F2682-16D6-4A89-B0F2-1D0CE03FB109}"/>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2</a:t>
            </a:r>
            <a:endParaRPr sz="1300"/>
          </a:p>
        </p:txBody>
      </p:sp>
      <p:sp>
        <p:nvSpPr>
          <p:cNvPr id="4" name="Text 2">
            <a:extLst>
              <a:ext uri="{FF2B5EF4-FFF2-40B4-BE49-F238E27FC236}">
                <a16:creationId xmlns:a16="http://schemas.microsoft.com/office/drawing/2014/main" id="{1FD57227-CDC1-47C5-B56D-386928266014}"/>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784BEB52-4AB7-41FB-8223-C59BFA9ACE5E}"/>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32</a:t>
            </a:r>
            <a:endParaRPr sz="1000"/>
          </a:p>
        </p:txBody>
      </p:sp>
      <p:sp>
        <p:nvSpPr>
          <p:cNvPr id="6" name="Text 4">
            <a:extLst>
              <a:ext uri="{FF2B5EF4-FFF2-40B4-BE49-F238E27FC236}">
                <a16:creationId xmlns:a16="http://schemas.microsoft.com/office/drawing/2014/main" id="{F01C696B-ACAA-4DEF-8F15-1B0282F24D2C}"/>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Friends</a:t>
            </a:r>
            <a:endParaRPr sz="3200"/>
          </a:p>
        </p:txBody>
      </p:sp>
      <p:pic>
        <p:nvPicPr>
          <p:cNvPr id="11" name="Online Media 10" descr="Friends: Phoebe Hates PBS (Season 5 Clip) | TBS">
            <a:hlinkClick r:id="" action="ppaction://media"/>
            <a:extLst>
              <a:ext uri="{FF2B5EF4-FFF2-40B4-BE49-F238E27FC236}">
                <a16:creationId xmlns:a16="http://schemas.microsoft.com/office/drawing/2014/main" id="{4517EA86-E1A5-C06F-A2FC-77CDE10926FD}"/>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131841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BFDF39-5A31-48B7-A611-7F397B668202}"/>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A636847F-52C8-4DB3-A301-944FD0F759C7}"/>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3</a:t>
            </a:r>
            <a:endParaRPr sz="1300"/>
          </a:p>
        </p:txBody>
      </p:sp>
      <p:sp>
        <p:nvSpPr>
          <p:cNvPr id="4" name="Text 2">
            <a:extLst>
              <a:ext uri="{FF2B5EF4-FFF2-40B4-BE49-F238E27FC236}">
                <a16:creationId xmlns:a16="http://schemas.microsoft.com/office/drawing/2014/main" id="{F66A0A65-2ED4-4FA7-BAFC-CEDCC2513B93}"/>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D3B67CB3-6C44-44A6-AD29-D41B4B13ED6D}"/>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33</a:t>
            </a:r>
            <a:endParaRPr sz="1000"/>
          </a:p>
        </p:txBody>
      </p:sp>
      <p:sp>
        <p:nvSpPr>
          <p:cNvPr id="6" name="Text 4">
            <a:extLst>
              <a:ext uri="{FF2B5EF4-FFF2-40B4-BE49-F238E27FC236}">
                <a16:creationId xmlns:a16="http://schemas.microsoft.com/office/drawing/2014/main" id="{24DCF610-27B2-4EDA-8F78-CA25C73C32C2}"/>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lang="en-US" sz="3200" b="1" dirty="0">
                <a:solidFill>
                  <a:srgbClr val="1C2321"/>
                </a:solidFill>
                <a:latin typeface="Cambria"/>
              </a:rPr>
              <a:t>The Simpsons</a:t>
            </a:r>
            <a:endParaRPr sz="3200" dirty="0"/>
          </a:p>
        </p:txBody>
      </p:sp>
      <p:pic>
        <p:nvPicPr>
          <p:cNvPr id="11" name="Online Media 10" descr="The Simpsons - Homer the Thief and the Ten Commandments">
            <a:hlinkClick r:id="" action="ppaction://media"/>
            <a:extLst>
              <a:ext uri="{FF2B5EF4-FFF2-40B4-BE49-F238E27FC236}">
                <a16:creationId xmlns:a16="http://schemas.microsoft.com/office/drawing/2014/main" id="{CEE72209-8988-85B6-8852-CF3AC4FDDAE2}"/>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84378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3B2195-05C6-4851-A9B2-A8A4C547FA98}"/>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E5AEAD73-F2A9-48A6-9C9D-B53869FA4426}"/>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4</a:t>
            </a:r>
            <a:endParaRPr sz="1300"/>
          </a:p>
        </p:txBody>
      </p:sp>
      <p:sp>
        <p:nvSpPr>
          <p:cNvPr id="4" name="Text 2">
            <a:extLst>
              <a:ext uri="{FF2B5EF4-FFF2-40B4-BE49-F238E27FC236}">
                <a16:creationId xmlns:a16="http://schemas.microsoft.com/office/drawing/2014/main" id="{34C861C6-AC70-45AD-AC21-0C05BE2485B7}"/>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B93775A-49CC-4258-A731-98B78C3744B9}"/>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34</a:t>
            </a:r>
            <a:endParaRPr sz="1000"/>
          </a:p>
        </p:txBody>
      </p:sp>
      <p:sp>
        <p:nvSpPr>
          <p:cNvPr id="6" name="Text 4">
            <a:extLst>
              <a:ext uri="{FF2B5EF4-FFF2-40B4-BE49-F238E27FC236}">
                <a16:creationId xmlns:a16="http://schemas.microsoft.com/office/drawing/2014/main" id="{896FB842-78D0-4119-B8EA-ED0DF19101C6}"/>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sz="3200" b="1">
                <a:solidFill>
                  <a:srgbClr val="1C2321"/>
                </a:solidFill>
                <a:latin typeface="Cambria"/>
                <a:ea typeface="Cambria"/>
                <a:cs typeface="Cambria"/>
              </a:rPr>
              <a:t>Futurama</a:t>
            </a:r>
            <a:endParaRPr sz="3200"/>
          </a:p>
        </p:txBody>
      </p:sp>
      <p:pic>
        <p:nvPicPr>
          <p:cNvPr id="11" name="Online Media 10" descr="Are you crazy? Its a can of old fish!">
            <a:hlinkClick r:id="" action="ppaction://media"/>
            <a:extLst>
              <a:ext uri="{FF2B5EF4-FFF2-40B4-BE49-F238E27FC236}">
                <a16:creationId xmlns:a16="http://schemas.microsoft.com/office/drawing/2014/main" id="{A2D3A351-BA47-1BB5-9619-EDDFFE376C95}"/>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72240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E6A1B75-D36A-48B6-B8FB-F37D23B783C3}"/>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5867BEB5-9FAE-4314-B72D-D29BA05E53E5}"/>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5</a:t>
            </a:r>
            <a:endParaRPr sz="1300"/>
          </a:p>
        </p:txBody>
      </p:sp>
      <p:sp>
        <p:nvSpPr>
          <p:cNvPr id="4" name="Text 2">
            <a:extLst>
              <a:ext uri="{FF2B5EF4-FFF2-40B4-BE49-F238E27FC236}">
                <a16:creationId xmlns:a16="http://schemas.microsoft.com/office/drawing/2014/main" id="{127CB0C7-148F-409B-AB87-9F6E151512E7}"/>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3800B089-C7DA-4B5A-A040-DD7CDCB56653}"/>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35</a:t>
            </a:r>
            <a:endParaRPr sz="1000"/>
          </a:p>
        </p:txBody>
      </p:sp>
      <p:sp>
        <p:nvSpPr>
          <p:cNvPr id="6" name="Text 4">
            <a:extLst>
              <a:ext uri="{FF2B5EF4-FFF2-40B4-BE49-F238E27FC236}">
                <a16:creationId xmlns:a16="http://schemas.microsoft.com/office/drawing/2014/main" id="{08A5CEF1-FE41-40E6-998B-8B0D6A8020B6}"/>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lang="en-US" sz="3200" b="1" dirty="0">
                <a:solidFill>
                  <a:srgbClr val="1C2321"/>
                </a:solidFill>
                <a:latin typeface="Cambria"/>
                <a:ea typeface="Cambria"/>
                <a:cs typeface="Cambria"/>
              </a:rPr>
              <a:t>Seinfeld</a:t>
            </a:r>
            <a:endParaRPr sz="3200" dirty="0"/>
          </a:p>
        </p:txBody>
      </p:sp>
      <p:pic>
        <p:nvPicPr>
          <p:cNvPr id="12" name="Online Media 11" descr="The Illegal Cable - Seinfeld">
            <a:hlinkClick r:id="" action="ppaction://media"/>
            <a:extLst>
              <a:ext uri="{FF2B5EF4-FFF2-40B4-BE49-F238E27FC236}">
                <a16:creationId xmlns:a16="http://schemas.microsoft.com/office/drawing/2014/main" id="{BFB97BC5-114C-E4ED-1AEA-0868CEF30D8A}"/>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102340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E81F814-5F08-41F1-830B-08236BC6E880}"/>
              </a:ext>
            </a:extLst>
          </p:cNvPr>
          <p:cNvSpPr>
            <a:spLocks noGrp="1"/>
          </p:cNvSpPr>
          <p:nvPr/>
        </p:nvSpPr>
        <p:spPr>
          <a:xfrm>
            <a:off x="548640" y="512064"/>
            <a:ext cx="128016" cy="128016"/>
          </a:xfrm>
          <a:prstGeom prst="rect">
            <a:avLst/>
          </a:prstGeom>
          <a:solidFill>
            <a:srgbClr val="BE7F5E"/>
          </a:solidFill>
        </p:spPr>
        <p:txBody>
          <a:bodyPr/>
          <a:lstStyle/>
          <a:p>
            <a:endParaRPr/>
          </a:p>
        </p:txBody>
      </p:sp>
      <p:sp>
        <p:nvSpPr>
          <p:cNvPr id="3" name="Text 1">
            <a:extLst>
              <a:ext uri="{FF2B5EF4-FFF2-40B4-BE49-F238E27FC236}">
                <a16:creationId xmlns:a16="http://schemas.microsoft.com/office/drawing/2014/main" id="{95BF0C0D-BF35-4342-8AFB-71F6C5B5BEF7}"/>
              </a:ext>
            </a:extLst>
          </p:cNvPr>
          <p:cNvSpPr>
            <a:spLocks noGrp="1"/>
          </p:cNvSpPr>
          <p:nvPr/>
        </p:nvSpPr>
        <p:spPr>
          <a:xfrm>
            <a:off x="777240" y="438912"/>
            <a:ext cx="10789920" cy="292608"/>
          </a:xfrm>
          <a:prstGeom prst="rect">
            <a:avLst/>
          </a:prstGeom>
          <a:noFill/>
        </p:spPr>
        <p:txBody>
          <a:bodyPr wrap="square" lIns="0" tIns="0" rIns="0" bIns="0" anchor="ctr"/>
          <a:lstStyle/>
          <a:p>
            <a:pPr marL="0" indent="0">
              <a:buNone/>
            </a:pPr>
            <a:r>
              <a:rPr sz="1300" b="1" spc="200">
                <a:solidFill>
                  <a:srgbClr val="1C2321"/>
                </a:solidFill>
                <a:latin typeface="Cambria"/>
                <a:ea typeface="Cambria"/>
                <a:cs typeface="Cambria"/>
              </a:rPr>
              <a:t>ON THE BIG SCREEN  ·  CLIP 6</a:t>
            </a:r>
            <a:endParaRPr sz="1300"/>
          </a:p>
        </p:txBody>
      </p:sp>
      <p:sp>
        <p:nvSpPr>
          <p:cNvPr id="4" name="Text 2">
            <a:extLst>
              <a:ext uri="{FF2B5EF4-FFF2-40B4-BE49-F238E27FC236}">
                <a16:creationId xmlns:a16="http://schemas.microsoft.com/office/drawing/2014/main" id="{3D19BD2A-409E-47BA-97B9-AD5B786D96B8}"/>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6BFF6BE6-77EC-4AB9-A32D-2109C92A7060}"/>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36</a:t>
            </a:r>
            <a:endParaRPr sz="1000"/>
          </a:p>
        </p:txBody>
      </p:sp>
      <p:sp>
        <p:nvSpPr>
          <p:cNvPr id="6" name="Text 4">
            <a:extLst>
              <a:ext uri="{FF2B5EF4-FFF2-40B4-BE49-F238E27FC236}">
                <a16:creationId xmlns:a16="http://schemas.microsoft.com/office/drawing/2014/main" id="{9586D127-3F88-4669-AA3B-0574E703F27E}"/>
              </a:ext>
            </a:extLst>
          </p:cNvPr>
          <p:cNvSpPr>
            <a:spLocks noGrp="1"/>
          </p:cNvSpPr>
          <p:nvPr>
            <p:ph type="title"/>
          </p:nvPr>
        </p:nvSpPr>
        <p:spPr>
          <a:xfrm>
            <a:off x="548640" y="786384"/>
            <a:ext cx="11091672" cy="822960"/>
          </a:xfrm>
          <a:prstGeom prst="rect">
            <a:avLst/>
          </a:prstGeom>
          <a:noFill/>
        </p:spPr>
        <p:txBody>
          <a:bodyPr wrap="square" lIns="0" tIns="0" rIns="0" bIns="0" anchor="t"/>
          <a:lstStyle/>
          <a:p>
            <a:pPr marL="0" indent="0" algn="l">
              <a:buNone/>
            </a:pPr>
            <a:r>
              <a:rPr lang="en-US" sz="3200" b="1" dirty="0">
                <a:solidFill>
                  <a:srgbClr val="1C2321"/>
                </a:solidFill>
                <a:latin typeface="Cambria"/>
              </a:rPr>
              <a:t>Elf</a:t>
            </a:r>
            <a:endParaRPr sz="3200" dirty="0"/>
          </a:p>
        </p:txBody>
      </p:sp>
      <p:pic>
        <p:nvPicPr>
          <p:cNvPr id="7" name="Online Media 6" descr="Elf (2003) - Cottonheaded Ninnymuggins Scene | Movieclips">
            <a:hlinkClick r:id="" action="ppaction://media"/>
            <a:extLst>
              <a:ext uri="{FF2B5EF4-FFF2-40B4-BE49-F238E27FC236}">
                <a16:creationId xmlns:a16="http://schemas.microsoft.com/office/drawing/2014/main" id="{A506A229-3D5B-7DD4-A9A8-2D7A815BDFCC}"/>
              </a:ext>
            </a:extLst>
          </p:cNvPr>
          <p:cNvPicPr>
            <a:picLocks noRot="1" noChangeAspect="1"/>
          </p:cNvPicPr>
          <p:nvPr>
            <a:videoFile r:link="rId1"/>
          </p:nvPr>
        </p:nvPicPr>
        <p:blipFill>
          <a:blip r:embed="rId4"/>
          <a:stretch>
            <a:fillRect/>
          </a:stretch>
        </p:blipFill>
        <p:spPr>
          <a:xfrm>
            <a:off x="1950567" y="1691640"/>
            <a:ext cx="8290560" cy="4663440"/>
          </a:xfrm>
          <a:prstGeom prst="rect">
            <a:avLst/>
          </a:prstGeom>
        </p:spPr>
      </p:pic>
    </p:spTree>
    <p:extLst>
      <p:ext uri="{BB962C8B-B14F-4D97-AF65-F5344CB8AC3E}">
        <p14:creationId xmlns:p14="http://schemas.microsoft.com/office/powerpoint/2010/main" val="10070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82117396-F372-41F4-BBD5-825AFAA49F96}"/>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5" name="Text 3">
            <a:extLst>
              <a:ext uri="{FF2B5EF4-FFF2-40B4-BE49-F238E27FC236}">
                <a16:creationId xmlns:a16="http://schemas.microsoft.com/office/drawing/2014/main" id="{D236EB2D-D4AB-412A-9EBA-A2ACF50D7072}"/>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37</a:t>
            </a:r>
            <a:endParaRPr sz="1000"/>
          </a:p>
        </p:txBody>
      </p:sp>
      <p:sp>
        <p:nvSpPr>
          <p:cNvPr id="2" name="Shape 2">
            <a:extLst>
              <a:ext uri="{FF2B5EF4-FFF2-40B4-BE49-F238E27FC236}">
                <a16:creationId xmlns:a16="http://schemas.microsoft.com/office/drawing/2014/main" id="{E0149E59-8F0E-4C04-95E9-1E4370C95FB6}"/>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3" name="Shape 3">
            <a:extLst>
              <a:ext uri="{FF2B5EF4-FFF2-40B4-BE49-F238E27FC236}">
                <a16:creationId xmlns:a16="http://schemas.microsoft.com/office/drawing/2014/main" id="{9358F5DC-40E3-4530-BAB1-4D691C45D8BE}"/>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0913C5FF-BB05-476A-9EAE-62572DA63910}"/>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PROBLEM SETS</a:t>
            </a:r>
            <a:endParaRPr sz="1300"/>
          </a:p>
        </p:txBody>
      </p:sp>
      <p:sp>
        <p:nvSpPr>
          <p:cNvPr id="7" name="Text 5">
            <a:extLst>
              <a:ext uri="{FF2B5EF4-FFF2-40B4-BE49-F238E27FC236}">
                <a16:creationId xmlns:a16="http://schemas.microsoft.com/office/drawing/2014/main" id="{0E4251D5-F384-4477-9042-46235562194C}"/>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Your Turn</a:t>
            </a:r>
            <a:endParaRPr sz="4000"/>
          </a:p>
        </p:txBody>
      </p:sp>
      <p:sp>
        <p:nvSpPr>
          <p:cNvPr id="8" name="Text 6">
            <a:extLst>
              <a:ext uri="{FF2B5EF4-FFF2-40B4-BE49-F238E27FC236}">
                <a16:creationId xmlns:a16="http://schemas.microsoft.com/office/drawing/2014/main" id="{4ABEFFB6-0664-47B3-933A-C4FC552FA42A}"/>
              </a:ext>
            </a:extLst>
          </p:cNvPr>
          <p:cNvSpPr>
            <a:spLocks noGrp="1"/>
          </p:cNvSpPr>
          <p:nvPr/>
        </p:nvSpPr>
        <p:spPr>
          <a:xfrm>
            <a:off x="1188720" y="5349240"/>
            <a:ext cx="9811512" cy="640080"/>
          </a:xfrm>
          <a:prstGeom prst="rect">
            <a:avLst/>
          </a:prstGeom>
          <a:noFill/>
        </p:spPr>
        <p:txBody>
          <a:bodyPr wrap="square" lIns="0" tIns="0" rIns="0" bIns="0" anchor="ctr"/>
          <a:lstStyle/>
          <a:p>
            <a:pPr marL="0" indent="0" algn="ctr">
              <a:buNone/>
            </a:pPr>
            <a:r>
              <a:rPr sz="1800">
                <a:solidFill>
                  <a:srgbClr val="51605E"/>
                </a:solidFill>
                <a:latin typeface="Cambria"/>
                <a:ea typeface="Cambria"/>
                <a:cs typeface="Cambria"/>
              </a:rPr>
              <a:t>Any questions on the posted problem sets?</a:t>
            </a:r>
            <a:endParaRPr sz="1800"/>
          </a:p>
        </p:txBody>
      </p:sp>
    </p:spTree>
    <p:extLst>
      <p:ext uri="{BB962C8B-B14F-4D97-AF65-F5344CB8AC3E}">
        <p14:creationId xmlns:p14="http://schemas.microsoft.com/office/powerpoint/2010/main" val="605965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B591502-967D-4CA5-BCFC-2615DFD75B46}"/>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DC5AB005-F94C-44F1-818C-09CF4CAF86C4}"/>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38</a:t>
            </a:r>
            <a:endParaRPr sz="1000"/>
          </a:p>
        </p:txBody>
      </p:sp>
      <p:sp>
        <p:nvSpPr>
          <p:cNvPr id="4" name="Shape 2">
            <a:extLst>
              <a:ext uri="{FF2B5EF4-FFF2-40B4-BE49-F238E27FC236}">
                <a16:creationId xmlns:a16="http://schemas.microsoft.com/office/drawing/2014/main" id="{F84331FB-12C2-4966-820C-EB96CA04CCBF}"/>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D25CB933-7B44-4CAF-9938-FA3FF2245E0E}"/>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BE5439D3-2EDA-4A1D-B08B-8DC47F4C71FB}"/>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LOOKING AHEAD</a:t>
            </a:r>
            <a:endParaRPr sz="1300"/>
          </a:p>
        </p:txBody>
      </p:sp>
      <p:sp>
        <p:nvSpPr>
          <p:cNvPr id="7" name="Text 5">
            <a:extLst>
              <a:ext uri="{FF2B5EF4-FFF2-40B4-BE49-F238E27FC236}">
                <a16:creationId xmlns:a16="http://schemas.microsoft.com/office/drawing/2014/main" id="{1709878B-3D7B-46C4-9703-01485F4CD513}"/>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3600" b="1">
                <a:solidFill>
                  <a:srgbClr val="1C2321"/>
                </a:solidFill>
                <a:latin typeface="Cambria"/>
                <a:ea typeface="Cambria"/>
                <a:cs typeface="Cambria"/>
              </a:rPr>
              <a:t>From This Point Forward,</a:t>
            </a:r>
            <a:endParaRPr sz="3600"/>
          </a:p>
          <a:p>
            <a:pPr marL="0" indent="0" algn="ctr">
              <a:buNone/>
            </a:pPr>
            <a:r>
              <a:rPr sz="3600" b="1">
                <a:solidFill>
                  <a:srgbClr val="1C2321"/>
                </a:solidFill>
                <a:latin typeface="Cambria"/>
                <a:ea typeface="Cambria"/>
                <a:cs typeface="Cambria"/>
              </a:rPr>
              <a:t>We Are Discussing Exam 2 Content</a:t>
            </a:r>
            <a:endParaRPr sz="3600"/>
          </a:p>
        </p:txBody>
      </p:sp>
    </p:spTree>
    <p:extLst>
      <p:ext uri="{BB962C8B-B14F-4D97-AF65-F5344CB8AC3E}">
        <p14:creationId xmlns:p14="http://schemas.microsoft.com/office/powerpoint/2010/main" val="581799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848F570-7368-49B4-B4B5-7ED3DE964B98}"/>
              </a:ext>
            </a:extLst>
          </p:cNvPr>
          <p:cNvSpPr>
            <a:spLocks noGrp="1"/>
          </p:cNvSpPr>
          <p:nvPr/>
        </p:nvSpPr>
        <p:spPr>
          <a:xfrm>
            <a:off x="548640" y="6528816"/>
            <a:ext cx="8229600" cy="274320"/>
          </a:xfrm>
          <a:prstGeom prst="rect">
            <a:avLst/>
          </a:prstGeom>
          <a:noFill/>
        </p:spPr>
        <p:txBody>
          <a:bodyPr wrap="square" lIns="0" tIns="0" rIns="0" bIns="0" anchor="ctr"/>
          <a:lstStyle/>
          <a:p>
            <a:pPr marL="0" indent="0">
              <a:buNone/>
            </a:pPr>
            <a:r>
              <a:rPr sz="1000" spc="100">
                <a:solidFill>
                  <a:srgbClr val="51605E"/>
                </a:solidFill>
                <a:latin typeface="Cambria"/>
                <a:ea typeface="Cambria"/>
                <a:cs typeface="Cambria"/>
              </a:rPr>
              <a:t>ECON 103  ·  CONTEMPORARY MICROECONOMIC PRINCIPLES</a:t>
            </a:r>
            <a:endParaRPr sz="1000"/>
          </a:p>
        </p:txBody>
      </p:sp>
      <p:sp>
        <p:nvSpPr>
          <p:cNvPr id="3" name="Text 1">
            <a:extLst>
              <a:ext uri="{FF2B5EF4-FFF2-40B4-BE49-F238E27FC236}">
                <a16:creationId xmlns:a16="http://schemas.microsoft.com/office/drawing/2014/main" id="{A2600676-6BFA-4545-A38C-1994BF1A5705}"/>
              </a:ext>
            </a:extLst>
          </p:cNvPr>
          <p:cNvSpPr>
            <a:spLocks noGrp="1"/>
          </p:cNvSpPr>
          <p:nvPr/>
        </p:nvSpPr>
        <p:spPr>
          <a:xfrm>
            <a:off x="11155680" y="6528816"/>
            <a:ext cx="548640" cy="274320"/>
          </a:xfrm>
          <a:prstGeom prst="rect">
            <a:avLst/>
          </a:prstGeom>
          <a:noFill/>
        </p:spPr>
        <p:txBody>
          <a:bodyPr wrap="square" lIns="0" tIns="0" rIns="0" bIns="0" anchor="ctr"/>
          <a:lstStyle/>
          <a:p>
            <a:pPr marL="0" indent="0" algn="r">
              <a:buNone/>
            </a:pPr>
            <a:r>
              <a:rPr sz="1000">
                <a:solidFill>
                  <a:srgbClr val="51605E"/>
                </a:solidFill>
                <a:latin typeface="Cambria"/>
                <a:ea typeface="Cambria"/>
                <a:cs typeface="Cambria"/>
              </a:rPr>
              <a:t>39</a:t>
            </a:r>
            <a:endParaRPr sz="1000"/>
          </a:p>
        </p:txBody>
      </p:sp>
      <p:sp>
        <p:nvSpPr>
          <p:cNvPr id="4" name="Shape 2">
            <a:extLst>
              <a:ext uri="{FF2B5EF4-FFF2-40B4-BE49-F238E27FC236}">
                <a16:creationId xmlns:a16="http://schemas.microsoft.com/office/drawing/2014/main" id="{4344A5A4-5044-498C-866C-131D9D875B43}"/>
              </a:ext>
            </a:extLst>
          </p:cNvPr>
          <p:cNvSpPr>
            <a:spLocks noGrp="1"/>
          </p:cNvSpPr>
          <p:nvPr/>
        </p:nvSpPr>
        <p:spPr>
          <a:xfrm>
            <a:off x="914400" y="1554480"/>
            <a:ext cx="10360152" cy="3383280"/>
          </a:xfrm>
          <a:prstGeom prst="roundRect">
            <a:avLst>
              <a:gd name="adj" fmla="val 811"/>
            </a:avLst>
          </a:prstGeom>
          <a:solidFill>
            <a:srgbClr val="DCEAE8"/>
          </a:solidFill>
        </p:spPr>
        <p:txBody>
          <a:bodyPr/>
          <a:lstStyle/>
          <a:p>
            <a:endParaRPr/>
          </a:p>
        </p:txBody>
      </p:sp>
      <p:sp>
        <p:nvSpPr>
          <p:cNvPr id="5" name="Shape 3">
            <a:extLst>
              <a:ext uri="{FF2B5EF4-FFF2-40B4-BE49-F238E27FC236}">
                <a16:creationId xmlns:a16="http://schemas.microsoft.com/office/drawing/2014/main" id="{B794FA35-4AB1-490D-8AD3-613375332E5C}"/>
              </a:ext>
            </a:extLst>
          </p:cNvPr>
          <p:cNvSpPr>
            <a:spLocks noGrp="1"/>
          </p:cNvSpPr>
          <p:nvPr/>
        </p:nvSpPr>
        <p:spPr>
          <a:xfrm>
            <a:off x="6028639" y="1874520"/>
            <a:ext cx="128016" cy="128016"/>
          </a:xfrm>
          <a:prstGeom prst="rect">
            <a:avLst/>
          </a:prstGeom>
          <a:solidFill>
            <a:srgbClr val="BE7F5E"/>
          </a:solidFill>
        </p:spPr>
        <p:txBody>
          <a:bodyPr/>
          <a:lstStyle/>
          <a:p>
            <a:endParaRPr/>
          </a:p>
        </p:txBody>
      </p:sp>
      <p:sp>
        <p:nvSpPr>
          <p:cNvPr id="6" name="Text 4">
            <a:extLst>
              <a:ext uri="{FF2B5EF4-FFF2-40B4-BE49-F238E27FC236}">
                <a16:creationId xmlns:a16="http://schemas.microsoft.com/office/drawing/2014/main" id="{98189BCE-78F4-43CF-9835-4C42A10A2BC6}"/>
              </a:ext>
            </a:extLst>
          </p:cNvPr>
          <p:cNvSpPr>
            <a:spLocks noGrp="1"/>
          </p:cNvSpPr>
          <p:nvPr/>
        </p:nvSpPr>
        <p:spPr>
          <a:xfrm>
            <a:off x="914400" y="2084832"/>
            <a:ext cx="10360152" cy="320040"/>
          </a:xfrm>
          <a:prstGeom prst="rect">
            <a:avLst/>
          </a:prstGeom>
          <a:noFill/>
        </p:spPr>
        <p:txBody>
          <a:bodyPr wrap="square" lIns="0" tIns="0" rIns="0" bIns="0" anchor="ctr"/>
          <a:lstStyle/>
          <a:p>
            <a:pPr marL="0" indent="0" algn="ctr">
              <a:buNone/>
            </a:pPr>
            <a:r>
              <a:rPr sz="1300" b="1" spc="200">
                <a:solidFill>
                  <a:srgbClr val="1C2321"/>
                </a:solidFill>
                <a:latin typeface="Cambria"/>
                <a:ea typeface="Cambria"/>
                <a:cs typeface="Cambria"/>
              </a:rPr>
              <a:t>NEW MATERIAL</a:t>
            </a:r>
            <a:endParaRPr sz="1300"/>
          </a:p>
        </p:txBody>
      </p:sp>
      <p:sp>
        <p:nvSpPr>
          <p:cNvPr id="7" name="Text 5">
            <a:extLst>
              <a:ext uri="{FF2B5EF4-FFF2-40B4-BE49-F238E27FC236}">
                <a16:creationId xmlns:a16="http://schemas.microsoft.com/office/drawing/2014/main" id="{A611D845-615F-4E74-8EBA-60FF3C24E655}"/>
              </a:ext>
            </a:extLst>
          </p:cNvPr>
          <p:cNvSpPr>
            <a:spLocks noGrp="1"/>
          </p:cNvSpPr>
          <p:nvPr>
            <p:ph type="title"/>
          </p:nvPr>
        </p:nvSpPr>
        <p:spPr>
          <a:xfrm>
            <a:off x="1188720" y="2560320"/>
            <a:ext cx="9811512" cy="2103120"/>
          </a:xfrm>
          <a:prstGeom prst="rect">
            <a:avLst/>
          </a:prstGeom>
          <a:noFill/>
        </p:spPr>
        <p:txBody>
          <a:bodyPr wrap="square" lIns="0" tIns="0" rIns="0" bIns="0" anchor="ctr"/>
          <a:lstStyle/>
          <a:p>
            <a:pPr marL="0" indent="0" algn="ctr">
              <a:buNone/>
            </a:pPr>
            <a:r>
              <a:rPr sz="4000" b="1">
                <a:solidFill>
                  <a:srgbClr val="1C2321"/>
                </a:solidFill>
                <a:latin typeface="Cambria"/>
                <a:ea typeface="Cambria"/>
                <a:cs typeface="Cambria"/>
              </a:rPr>
              <a:t>Equilibrium</a:t>
            </a:r>
            <a:endParaRPr sz="4000"/>
          </a:p>
        </p:txBody>
      </p:sp>
      <p:sp>
        <p:nvSpPr>
          <p:cNvPr id="8" name="Text 6">
            <a:extLst>
              <a:ext uri="{FF2B5EF4-FFF2-40B4-BE49-F238E27FC236}">
                <a16:creationId xmlns:a16="http://schemas.microsoft.com/office/drawing/2014/main" id="{B4F51821-2456-480D-858C-D7FBB73CE679}"/>
              </a:ext>
            </a:extLst>
          </p:cNvPr>
          <p:cNvSpPr>
            <a:spLocks noGrp="1"/>
          </p:cNvSpPr>
          <p:nvPr/>
        </p:nvSpPr>
        <p:spPr>
          <a:xfrm>
            <a:off x="1188720" y="5349240"/>
            <a:ext cx="9811512" cy="640080"/>
          </a:xfrm>
          <a:prstGeom prst="rect">
            <a:avLst/>
          </a:prstGeom>
          <a:noFill/>
        </p:spPr>
        <p:txBody>
          <a:bodyPr wrap="square" lIns="0" tIns="0" rIns="0" bIns="0" anchor="ctr"/>
          <a:lstStyle/>
          <a:p>
            <a:pPr marL="0" indent="0" algn="ctr">
              <a:buNone/>
            </a:pPr>
            <a:r>
              <a:rPr sz="1800">
                <a:solidFill>
                  <a:srgbClr val="51605E"/>
                </a:solidFill>
                <a:latin typeface="Cambria"/>
                <a:ea typeface="Cambria"/>
                <a:cs typeface="Cambria"/>
              </a:rPr>
              <a:t>Where supply and demand meet — more to come.</a:t>
            </a:r>
            <a:endParaRPr sz="1800"/>
          </a:p>
        </p:txBody>
      </p:sp>
    </p:spTree>
    <p:extLst>
      <p:ext uri="{BB962C8B-B14F-4D97-AF65-F5344CB8AC3E}">
        <p14:creationId xmlns:p14="http://schemas.microsoft.com/office/powerpoint/2010/main" val="1020124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40</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Introduction to Equilibrium</a:t>
            </a:r>
            <a:endParaRPr lang="en-US" sz="3200" dirty="0"/>
          </a:p>
        </p:txBody>
      </p:sp>
      <p:sp>
        <p:nvSpPr>
          <p:cNvPr id="7" name="Shape 5"/>
          <p:cNvSpPr/>
          <p:nvPr/>
        </p:nvSpPr>
        <p:spPr>
          <a:xfrm>
            <a:off x="548640" y="1874520"/>
            <a:ext cx="5449824" cy="2468880"/>
          </a:xfrm>
          <a:prstGeom prst="roundRect">
            <a:avLst>
              <a:gd name="adj" fmla="val 2222"/>
            </a:avLst>
          </a:prstGeom>
          <a:solidFill>
            <a:srgbClr val="FAF6F3"/>
          </a:solidFill>
          <a:ln/>
        </p:spPr>
        <p:txBody>
          <a:bodyPr/>
          <a:lstStyle/>
          <a:p>
            <a:endParaRPr/>
          </a:p>
        </p:txBody>
      </p:sp>
      <p:sp>
        <p:nvSpPr>
          <p:cNvPr id="8" name="Text 6"/>
          <p:cNvSpPr txBox="1"/>
          <p:nvPr/>
        </p:nvSpPr>
        <p:spPr>
          <a:xfrm>
            <a:off x="868680" y="214884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LAST CHAPTER</a:t>
            </a:r>
            <a:endParaRPr lang="en-US" sz="1300" dirty="0"/>
          </a:p>
        </p:txBody>
      </p:sp>
      <p:sp>
        <p:nvSpPr>
          <p:cNvPr id="9" name="Text 7"/>
          <p:cNvSpPr txBox="1"/>
          <p:nvPr/>
        </p:nvSpPr>
        <p:spPr>
          <a:xfrm>
            <a:off x="868680" y="2651760"/>
            <a:ext cx="4809744" cy="1463040"/>
          </a:xfrm>
          <a:prstGeom prst="rect">
            <a:avLst/>
          </a:prstGeom>
          <a:noFill/>
          <a:ln/>
        </p:spPr>
        <p:txBody>
          <a:bodyPr wrap="square" lIns="0" tIns="0" rIns="0" bIns="0" rtlCol="0" anchor="t"/>
          <a:lstStyle/>
          <a:p>
            <a:pPr marL="0" indent="0">
              <a:spcAft>
                <a:spcPts val="800"/>
              </a:spcAft>
              <a:buNone/>
            </a:pPr>
            <a:r>
              <a:rPr lang="en-US" sz="2200" dirty="0">
                <a:solidFill>
                  <a:srgbClr val="1C2321"/>
                </a:solidFill>
                <a:latin typeface="Cambria" pitchFamily="34" charset="0"/>
                <a:ea typeface="Cambria" pitchFamily="34" charset="-122"/>
                <a:cs typeface="Cambria" pitchFamily="34" charset="-120"/>
              </a:rPr>
              <a:t>We introduced supply and demand, and how to read each of them on a graph.</a:t>
            </a:r>
            <a:endParaRPr lang="en-US" sz="2200" dirty="0"/>
          </a:p>
        </p:txBody>
      </p:sp>
      <p:sp>
        <p:nvSpPr>
          <p:cNvPr id="10" name="Shape 8"/>
          <p:cNvSpPr/>
          <p:nvPr/>
        </p:nvSpPr>
        <p:spPr>
          <a:xfrm>
            <a:off x="6190488" y="1874520"/>
            <a:ext cx="5449824" cy="2468880"/>
          </a:xfrm>
          <a:prstGeom prst="roundRect">
            <a:avLst>
              <a:gd name="adj" fmla="val 2222"/>
            </a:avLst>
          </a:prstGeom>
          <a:solidFill>
            <a:srgbClr val="DCEAE8"/>
          </a:solidFill>
          <a:ln/>
        </p:spPr>
        <p:txBody>
          <a:bodyPr/>
          <a:lstStyle/>
          <a:p>
            <a:endParaRPr/>
          </a:p>
        </p:txBody>
      </p:sp>
      <p:sp>
        <p:nvSpPr>
          <p:cNvPr id="11" name="Text 9"/>
          <p:cNvSpPr txBox="1"/>
          <p:nvPr/>
        </p:nvSpPr>
        <p:spPr>
          <a:xfrm>
            <a:off x="6510528" y="214884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THIS CHAPTER</a:t>
            </a:r>
            <a:endParaRPr lang="en-US" sz="1300" dirty="0"/>
          </a:p>
        </p:txBody>
      </p:sp>
      <p:sp>
        <p:nvSpPr>
          <p:cNvPr id="12" name="Text 10"/>
          <p:cNvSpPr txBox="1"/>
          <p:nvPr/>
        </p:nvSpPr>
        <p:spPr>
          <a:xfrm>
            <a:off x="6510528" y="2651760"/>
            <a:ext cx="4809744" cy="1463040"/>
          </a:xfrm>
          <a:prstGeom prst="rect">
            <a:avLst/>
          </a:prstGeom>
          <a:noFill/>
          <a:ln/>
        </p:spPr>
        <p:txBody>
          <a:bodyPr wrap="square" lIns="0" tIns="0" rIns="0" bIns="0" rtlCol="0" anchor="t"/>
          <a:lstStyle/>
          <a:p>
            <a:pPr marL="0" indent="0">
              <a:spcAft>
                <a:spcPts val="800"/>
              </a:spcAft>
              <a:buNone/>
            </a:pPr>
            <a:r>
              <a:rPr lang="en-US" sz="2200" dirty="0">
                <a:solidFill>
                  <a:srgbClr val="1C2321"/>
                </a:solidFill>
                <a:latin typeface="Cambria" pitchFamily="34" charset="0"/>
                <a:ea typeface="Cambria" pitchFamily="34" charset="-122"/>
                <a:cs typeface="Cambria" pitchFamily="34" charset="-120"/>
              </a:rPr>
              <a:t>We discuss equilibrium — how supply and demand are coordinated.</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41</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Bringing Supply and Demand Together</a:t>
            </a:r>
            <a:endParaRPr lang="en-US" sz="3200" dirty="0"/>
          </a:p>
        </p:txBody>
      </p:sp>
      <p:sp>
        <p:nvSpPr>
          <p:cNvPr id="7" name="Shape 5"/>
          <p:cNvSpPr/>
          <p:nvPr/>
        </p:nvSpPr>
        <p:spPr>
          <a:xfrm>
            <a:off x="548640" y="1783080"/>
            <a:ext cx="5449824" cy="2468880"/>
          </a:xfrm>
          <a:prstGeom prst="roundRect">
            <a:avLst>
              <a:gd name="adj" fmla="val 2222"/>
            </a:avLst>
          </a:prstGeom>
          <a:solidFill>
            <a:srgbClr val="FAF6F3"/>
          </a:solidFill>
          <a:ln/>
        </p:spPr>
        <p:txBody>
          <a:bodyPr/>
          <a:lstStyle/>
          <a:p>
            <a:endParaRPr/>
          </a:p>
        </p:txBody>
      </p:sp>
      <p:sp>
        <p:nvSpPr>
          <p:cNvPr id="8" name="Text 6"/>
          <p:cNvSpPr txBox="1"/>
          <p:nvPr/>
        </p:nvSpPr>
        <p:spPr>
          <a:xfrm>
            <a:off x="868680" y="205740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RECALL DEMAND</a:t>
            </a:r>
            <a:endParaRPr lang="en-US" sz="1300" dirty="0"/>
          </a:p>
        </p:txBody>
      </p:sp>
      <p:sp>
        <p:nvSpPr>
          <p:cNvPr id="9" name="Text 7"/>
          <p:cNvSpPr txBox="1"/>
          <p:nvPr/>
        </p:nvSpPr>
        <p:spPr>
          <a:xfrm>
            <a:off x="868680" y="2560320"/>
            <a:ext cx="4809744" cy="1463040"/>
          </a:xfrm>
          <a:prstGeom prst="rect">
            <a:avLst/>
          </a:prstGeom>
          <a:noFill/>
          <a:ln/>
        </p:spPr>
        <p:txBody>
          <a:bodyPr wrap="square" lIns="0" tIns="0" rIns="0" bIns="0" rtlCol="0" anchor="t"/>
          <a:lstStyle/>
          <a:p>
            <a:pPr marL="0" indent="0">
              <a:spcAft>
                <a:spcPts val="800"/>
              </a:spcAft>
              <a:buNone/>
            </a:pPr>
            <a:r>
              <a:rPr lang="en-US" sz="2000" dirty="0">
                <a:solidFill>
                  <a:srgbClr val="1C2321"/>
                </a:solidFill>
                <a:latin typeface="Cambria" pitchFamily="34" charset="0"/>
                <a:ea typeface="Cambria" pitchFamily="34" charset="-122"/>
                <a:cs typeface="Cambria" pitchFamily="34" charset="-120"/>
              </a:rPr>
              <a:t>At some price, we saw a quantity demanded of </a:t>
            </a:r>
            <a:r>
              <a:rPr lang="en-US" sz="2000" b="1" i="1" dirty="0">
                <a:solidFill>
                  <a:srgbClr val="1C2321"/>
                </a:solidFill>
                <a:latin typeface="Cambria" pitchFamily="34" charset="0"/>
                <a:ea typeface="Cambria" pitchFamily="34" charset="-122"/>
                <a:cs typeface="Cambria" pitchFamily="34" charset="-120"/>
              </a:rPr>
              <a:t>X</a:t>
            </a:r>
            <a:r>
              <a:rPr lang="en-US" sz="2000" dirty="0">
                <a:solidFill>
                  <a:srgbClr val="1C2321"/>
                </a:solidFill>
                <a:latin typeface="Cambria" pitchFamily="34" charset="0"/>
                <a:ea typeface="Cambria" pitchFamily="34" charset="-122"/>
                <a:cs typeface="Cambria" pitchFamily="34" charset="-120"/>
              </a:rPr>
              <a:t>.</a:t>
            </a:r>
            <a:endParaRPr lang="en-US" sz="2000" dirty="0"/>
          </a:p>
        </p:txBody>
      </p:sp>
      <p:sp>
        <p:nvSpPr>
          <p:cNvPr id="10" name="Shape 8"/>
          <p:cNvSpPr/>
          <p:nvPr/>
        </p:nvSpPr>
        <p:spPr>
          <a:xfrm>
            <a:off x="6190488" y="1783080"/>
            <a:ext cx="5449824" cy="2468880"/>
          </a:xfrm>
          <a:prstGeom prst="roundRect">
            <a:avLst>
              <a:gd name="adj" fmla="val 2222"/>
            </a:avLst>
          </a:prstGeom>
          <a:solidFill>
            <a:srgbClr val="FAF6F3"/>
          </a:solidFill>
          <a:ln/>
        </p:spPr>
        <p:txBody>
          <a:bodyPr/>
          <a:lstStyle/>
          <a:p>
            <a:endParaRPr/>
          </a:p>
        </p:txBody>
      </p:sp>
      <p:sp>
        <p:nvSpPr>
          <p:cNvPr id="11" name="Text 9"/>
          <p:cNvSpPr txBox="1"/>
          <p:nvPr/>
        </p:nvSpPr>
        <p:spPr>
          <a:xfrm>
            <a:off x="6510528" y="205740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RECALL SUPPLY</a:t>
            </a:r>
            <a:endParaRPr lang="en-US" sz="1300" dirty="0"/>
          </a:p>
        </p:txBody>
      </p:sp>
      <p:sp>
        <p:nvSpPr>
          <p:cNvPr id="12" name="Text 10"/>
          <p:cNvSpPr txBox="1"/>
          <p:nvPr/>
        </p:nvSpPr>
        <p:spPr>
          <a:xfrm>
            <a:off x="6510528" y="2560320"/>
            <a:ext cx="4809744" cy="1463040"/>
          </a:xfrm>
          <a:prstGeom prst="rect">
            <a:avLst/>
          </a:prstGeom>
          <a:noFill/>
          <a:ln/>
        </p:spPr>
        <p:txBody>
          <a:bodyPr wrap="square" lIns="0" tIns="0" rIns="0" bIns="0" rtlCol="0" anchor="t"/>
          <a:lstStyle/>
          <a:p>
            <a:pPr marL="0" indent="0">
              <a:spcAft>
                <a:spcPts val="800"/>
              </a:spcAft>
              <a:buNone/>
            </a:pPr>
            <a:r>
              <a:rPr lang="en-US" sz="2000" dirty="0">
                <a:solidFill>
                  <a:srgbClr val="1C2321"/>
                </a:solidFill>
                <a:latin typeface="Cambria" pitchFamily="34" charset="0"/>
                <a:ea typeface="Cambria" pitchFamily="34" charset="-122"/>
                <a:cs typeface="Cambria" pitchFamily="34" charset="-120"/>
              </a:rPr>
              <a:t>At some price, we saw a quantity supplied of </a:t>
            </a:r>
            <a:r>
              <a:rPr lang="en-US" sz="2000" b="1" i="1" dirty="0">
                <a:solidFill>
                  <a:srgbClr val="1C2321"/>
                </a:solidFill>
                <a:latin typeface="Cambria" pitchFamily="34" charset="0"/>
                <a:ea typeface="Cambria" pitchFamily="34" charset="-122"/>
                <a:cs typeface="Cambria" pitchFamily="34" charset="-120"/>
              </a:rPr>
              <a:t>Z</a:t>
            </a:r>
            <a:r>
              <a:rPr lang="en-US" sz="2000" dirty="0">
                <a:solidFill>
                  <a:srgbClr val="1C2321"/>
                </a:solidFill>
                <a:latin typeface="Cambria" pitchFamily="34" charset="0"/>
                <a:ea typeface="Cambria" pitchFamily="34" charset="-122"/>
                <a:cs typeface="Cambria" pitchFamily="34" charset="-120"/>
              </a:rPr>
              <a:t>.</a:t>
            </a:r>
            <a:endParaRPr lang="en-US" sz="2000" dirty="0"/>
          </a:p>
        </p:txBody>
      </p:sp>
      <p:sp>
        <p:nvSpPr>
          <p:cNvPr id="13" name="Shape 11"/>
          <p:cNvSpPr/>
          <p:nvPr/>
        </p:nvSpPr>
        <p:spPr>
          <a:xfrm>
            <a:off x="548640" y="4572000"/>
            <a:ext cx="11091672" cy="1188720"/>
          </a:xfrm>
          <a:prstGeom prst="roundRect">
            <a:avLst>
              <a:gd name="adj" fmla="val 6154"/>
            </a:avLst>
          </a:prstGeom>
          <a:solidFill>
            <a:srgbClr val="DCEAE8"/>
          </a:solidFill>
          <a:ln/>
        </p:spPr>
        <p:txBody>
          <a:bodyPr/>
          <a:lstStyle/>
          <a:p>
            <a:endParaRPr/>
          </a:p>
        </p:txBody>
      </p:sp>
      <p:sp>
        <p:nvSpPr>
          <p:cNvPr id="14" name="Text 12"/>
          <p:cNvSpPr txBox="1"/>
          <p:nvPr/>
        </p:nvSpPr>
        <p:spPr>
          <a:xfrm>
            <a:off x="868680" y="4572000"/>
            <a:ext cx="10451592" cy="1188720"/>
          </a:xfrm>
          <a:prstGeom prst="rect">
            <a:avLst/>
          </a:prstGeom>
          <a:noFill/>
          <a:ln/>
        </p:spPr>
        <p:txBody>
          <a:bodyPr wrap="square" lIns="0" tIns="0" rIns="0" bIns="0" rtlCol="0" anchor="ctr"/>
          <a:lstStyle/>
          <a:p>
            <a:pPr marL="0" indent="0" algn="ctr">
              <a:buNone/>
            </a:pPr>
            <a:r>
              <a:rPr lang="en-US" sz="2000" b="1" dirty="0">
                <a:solidFill>
                  <a:srgbClr val="1C2321"/>
                </a:solidFill>
                <a:latin typeface="Cambria" pitchFamily="34" charset="0"/>
                <a:ea typeface="Cambria" pitchFamily="34" charset="-122"/>
                <a:cs typeface="Cambria" pitchFamily="34" charset="-120"/>
              </a:rPr>
              <a:t>We’ve been discussing these separately — now we join them and find our equilibrium.</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42</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Equilibrium Point</a:t>
            </a:r>
            <a:endParaRPr lang="en-US" sz="3200" dirty="0"/>
          </a:p>
        </p:txBody>
      </p:sp>
      <p:sp>
        <p:nvSpPr>
          <p:cNvPr id="7" name="Shape 5"/>
          <p:cNvSpPr/>
          <p:nvPr/>
        </p:nvSpPr>
        <p:spPr>
          <a:xfrm>
            <a:off x="548640" y="1874520"/>
            <a:ext cx="5394960" cy="1371600"/>
          </a:xfrm>
          <a:prstGeom prst="roundRect">
            <a:avLst>
              <a:gd name="adj" fmla="val 5333"/>
            </a:avLst>
          </a:prstGeom>
          <a:solidFill>
            <a:srgbClr val="DCEAE8"/>
          </a:solidFill>
          <a:ln/>
        </p:spPr>
        <p:txBody>
          <a:bodyPr/>
          <a:lstStyle/>
          <a:p>
            <a:endParaRPr/>
          </a:p>
        </p:txBody>
      </p:sp>
      <p:sp>
        <p:nvSpPr>
          <p:cNvPr id="8" name="Text 6"/>
          <p:cNvSpPr txBox="1"/>
          <p:nvPr/>
        </p:nvSpPr>
        <p:spPr>
          <a:xfrm>
            <a:off x="868680" y="1874520"/>
            <a:ext cx="4754880" cy="1371600"/>
          </a:xfrm>
          <a:prstGeom prst="rect">
            <a:avLst/>
          </a:prstGeom>
          <a:noFill/>
          <a:ln/>
        </p:spPr>
        <p:txBody>
          <a:bodyPr wrap="square" lIns="0" tIns="0" rIns="0" bIns="0" rtlCol="0" anchor="ctr"/>
          <a:lstStyle/>
          <a:p>
            <a:pPr marL="0" indent="0" algn="l">
              <a:buNone/>
            </a:pPr>
            <a:r>
              <a:rPr lang="en-US" sz="2000" b="1" dirty="0">
                <a:solidFill>
                  <a:srgbClr val="1C2321"/>
                </a:solidFill>
                <a:latin typeface="Cambria" pitchFamily="34" charset="0"/>
                <a:ea typeface="Cambria" pitchFamily="34" charset="-122"/>
                <a:cs typeface="Cambria" pitchFamily="34" charset="-120"/>
              </a:rPr>
              <a:t>Equilibrium: the price at which quantity demanded equals quantity supplied.</a:t>
            </a:r>
            <a:endParaRPr lang="en-US" sz="2000" dirty="0"/>
          </a:p>
        </p:txBody>
      </p:sp>
      <p:sp>
        <p:nvSpPr>
          <p:cNvPr id="9" name="Text 7"/>
          <p:cNvSpPr txBox="1"/>
          <p:nvPr/>
        </p:nvSpPr>
        <p:spPr>
          <a:xfrm>
            <a:off x="548640" y="3474720"/>
            <a:ext cx="5394960" cy="2651760"/>
          </a:xfrm>
          <a:prstGeom prst="rect">
            <a:avLst/>
          </a:prstGeom>
          <a:noFill/>
          <a:ln/>
        </p:spPr>
        <p:txBody>
          <a:bodyPr wrap="square" lIns="0" tIns="0" rIns="0" bIns="0" rtlCol="0" anchor="t"/>
          <a:lstStyle/>
          <a:p>
            <a:pPr marL="279400" indent="-279400">
              <a:spcAft>
                <a:spcPts val="800"/>
              </a:spcAft>
              <a:buSzPct val="100000"/>
              <a:buChar char="●"/>
            </a:pPr>
            <a:r>
              <a:rPr lang="en-US" sz="1800" b="1" dirty="0">
                <a:solidFill>
                  <a:srgbClr val="1C2321"/>
                </a:solidFill>
                <a:latin typeface="Cambria" pitchFamily="34" charset="0"/>
                <a:ea typeface="Cambria" pitchFamily="34" charset="-122"/>
                <a:cs typeface="Cambria" pitchFamily="34" charset="-120"/>
              </a:rPr>
              <a:t>Qd = Qs</a:t>
            </a:r>
            <a:endParaRPr lang="en-US" sz="1800" dirty="0"/>
          </a:p>
          <a:p>
            <a:pPr marL="508000" lvl="1" indent="-254000">
              <a:spcAft>
                <a:spcPts val="1000"/>
              </a:spcAft>
              <a:buSzPct val="100000"/>
              <a:buChar char="–"/>
            </a:pPr>
            <a:r>
              <a:rPr lang="en-US" sz="1700" i="1" dirty="0">
                <a:solidFill>
                  <a:srgbClr val="3E7C79"/>
                </a:solidFill>
                <a:latin typeface="Cambria" pitchFamily="34" charset="0"/>
                <a:ea typeface="Cambria" pitchFamily="34" charset="-122"/>
                <a:cs typeface="Cambria" pitchFamily="34" charset="-120"/>
              </a:rPr>
              <a:t>Buyers want to purchase exactly the amount sellers want to sell.</a:t>
            </a:r>
            <a:endParaRPr lang="en-US" sz="1800" dirty="0"/>
          </a:p>
          <a:p>
            <a:pPr marL="279400" indent="-279400">
              <a:spcAft>
                <a:spcPts val="800"/>
              </a:spcAft>
              <a:buSzPct val="100000"/>
              <a:buChar char="●"/>
            </a:pPr>
            <a:r>
              <a:rPr lang="en-US" sz="1800" b="1" dirty="0">
                <a:solidFill>
                  <a:srgbClr val="1C2321"/>
                </a:solidFill>
                <a:latin typeface="Cambria" pitchFamily="34" charset="0"/>
                <a:ea typeface="Cambria" pitchFamily="34" charset="-122"/>
                <a:cs typeface="Cambria" pitchFamily="34" charset="-120"/>
              </a:rPr>
              <a:t>We call this the “market-clearing” price.</a:t>
            </a:r>
            <a:endParaRPr lang="en-US" sz="1800" dirty="0"/>
          </a:p>
        </p:txBody>
      </p:sp>
      <p:cxnSp>
        <p:nvCxnSpPr>
          <p:cNvPr id="10" name="Connector 9"/>
          <p:cNvCxnSpPr/>
          <p:nvPr/>
        </p:nvCxnSpPr>
        <p:spPr>
          <a:xfrm>
            <a:off x="7040880" y="2103120"/>
            <a:ext cx="0" cy="3474720"/>
          </a:xfrm>
          <a:prstGeom prst="line">
            <a:avLst/>
          </a:prstGeom>
          <a:ln w="19050">
            <a:solidFill>
              <a:srgbClr val="1C232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040880" y="5577840"/>
            <a:ext cx="4297680" cy="0"/>
          </a:xfrm>
          <a:prstGeom prst="line">
            <a:avLst/>
          </a:prstGeom>
          <a:ln w="19050">
            <a:solidFill>
              <a:srgbClr val="1C232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29400" y="1737360"/>
            <a:ext cx="822960" cy="274320"/>
          </a:xfrm>
          <a:prstGeom prst="rect">
            <a:avLst/>
          </a:prstGeom>
          <a:noFill/>
        </p:spPr>
        <p:txBody>
          <a:bodyPr wrap="none" lIns="0" tIns="0" rIns="0" bIns="0" anchor="ctr">
            <a:spAutoFit/>
          </a:bodyPr>
          <a:lstStyle/>
          <a:p>
            <a:pPr algn="ctr"/>
            <a:r>
              <a:rPr sz="1500" b="0">
                <a:solidFill>
                  <a:srgbClr val="1C2321"/>
                </a:solidFill>
                <a:latin typeface="Cambria"/>
              </a:rPr>
              <a:t>Price</a:t>
            </a:r>
          </a:p>
        </p:txBody>
      </p:sp>
      <p:sp>
        <p:nvSpPr>
          <p:cNvPr id="13" name="TextBox 12"/>
          <p:cNvSpPr txBox="1"/>
          <p:nvPr/>
        </p:nvSpPr>
        <p:spPr>
          <a:xfrm>
            <a:off x="8595360" y="5925312"/>
            <a:ext cx="1097280" cy="274320"/>
          </a:xfrm>
          <a:prstGeom prst="rect">
            <a:avLst/>
          </a:prstGeom>
          <a:noFill/>
        </p:spPr>
        <p:txBody>
          <a:bodyPr wrap="none" lIns="0" tIns="0" rIns="0" bIns="0" anchor="ctr">
            <a:spAutoFit/>
          </a:bodyPr>
          <a:lstStyle/>
          <a:p>
            <a:pPr algn="ctr"/>
            <a:r>
              <a:rPr sz="1500" b="0">
                <a:solidFill>
                  <a:srgbClr val="1C2321"/>
                </a:solidFill>
                <a:latin typeface="Cambria"/>
              </a:rPr>
              <a:t>Quantity</a:t>
            </a:r>
          </a:p>
        </p:txBody>
      </p:sp>
      <p:cxnSp>
        <p:nvCxnSpPr>
          <p:cNvPr id="14" name="Connector 13"/>
          <p:cNvCxnSpPr/>
          <p:nvPr/>
        </p:nvCxnSpPr>
        <p:spPr>
          <a:xfrm>
            <a:off x="7545628" y="2857682"/>
            <a:ext cx="3196743" cy="2057035"/>
          </a:xfrm>
          <a:prstGeom prst="line">
            <a:avLst/>
          </a:prstGeom>
          <a:ln w="31750">
            <a:solidFill>
              <a:srgbClr val="3E7C7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545628" y="2857682"/>
            <a:ext cx="3196743" cy="2057035"/>
          </a:xfrm>
          <a:prstGeom prst="line">
            <a:avLst/>
          </a:prstGeom>
          <a:ln w="31750">
            <a:solidFill>
              <a:srgbClr val="BE7F5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05872" y="4987869"/>
            <a:ext cx="914400" cy="274320"/>
          </a:xfrm>
          <a:prstGeom prst="rect">
            <a:avLst/>
          </a:prstGeom>
          <a:noFill/>
        </p:spPr>
        <p:txBody>
          <a:bodyPr wrap="none" lIns="0" tIns="0" rIns="0" bIns="0" anchor="ctr">
            <a:spAutoFit/>
          </a:bodyPr>
          <a:lstStyle/>
          <a:p>
            <a:pPr algn="l"/>
            <a:r>
              <a:rPr sz="1500" b="0">
                <a:solidFill>
                  <a:srgbClr val="3E7C79"/>
                </a:solidFill>
                <a:latin typeface="Cambria"/>
              </a:rPr>
              <a:t>Demand</a:t>
            </a:r>
          </a:p>
        </p:txBody>
      </p:sp>
      <p:sp>
        <p:nvSpPr>
          <p:cNvPr id="17" name="TextBox 16"/>
          <p:cNvSpPr txBox="1"/>
          <p:nvPr/>
        </p:nvSpPr>
        <p:spPr>
          <a:xfrm>
            <a:off x="10405872" y="2473634"/>
            <a:ext cx="914400" cy="274320"/>
          </a:xfrm>
          <a:prstGeom prst="rect">
            <a:avLst/>
          </a:prstGeom>
          <a:noFill/>
        </p:spPr>
        <p:txBody>
          <a:bodyPr wrap="none" lIns="0" tIns="0" rIns="0" bIns="0" anchor="ctr">
            <a:spAutoFit/>
          </a:bodyPr>
          <a:lstStyle/>
          <a:p>
            <a:pPr algn="l"/>
            <a:r>
              <a:rPr sz="1500" b="0">
                <a:solidFill>
                  <a:srgbClr val="BE7F5E"/>
                </a:solidFill>
                <a:latin typeface="Cambria"/>
              </a:rPr>
              <a:t>Supply</a:t>
            </a:r>
          </a:p>
        </p:txBody>
      </p:sp>
      <p:cxnSp>
        <p:nvCxnSpPr>
          <p:cNvPr id="18" name="Connector 17"/>
          <p:cNvCxnSpPr/>
          <p:nvPr/>
        </p:nvCxnSpPr>
        <p:spPr>
          <a:xfrm>
            <a:off x="7040880" y="3886200"/>
            <a:ext cx="2103120" cy="0"/>
          </a:xfrm>
          <a:prstGeom prst="line">
            <a:avLst/>
          </a:prstGeom>
          <a:ln w="12700">
            <a:solidFill>
              <a:srgbClr val="65727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144000" y="3886200"/>
            <a:ext cx="0" cy="1691640"/>
          </a:xfrm>
          <a:prstGeom prst="line">
            <a:avLst/>
          </a:prstGeom>
          <a:ln w="12700">
            <a:solidFill>
              <a:srgbClr val="657278"/>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37960" y="3749039"/>
            <a:ext cx="411480" cy="274320"/>
          </a:xfrm>
          <a:prstGeom prst="rect">
            <a:avLst/>
          </a:prstGeom>
          <a:noFill/>
        </p:spPr>
        <p:txBody>
          <a:bodyPr wrap="none" lIns="0" tIns="0" rIns="0" bIns="0" anchor="ctr">
            <a:spAutoFit/>
          </a:bodyPr>
          <a:lstStyle/>
          <a:p>
            <a:pPr algn="r"/>
            <a:r>
              <a:rPr sz="1500" b="1">
                <a:solidFill>
                  <a:srgbClr val="1C2321"/>
                </a:solidFill>
                <a:latin typeface="Cambria"/>
              </a:rPr>
              <a:t>P*</a:t>
            </a:r>
          </a:p>
        </p:txBody>
      </p:sp>
      <p:sp>
        <p:nvSpPr>
          <p:cNvPr id="21" name="TextBox 20"/>
          <p:cNvSpPr txBox="1"/>
          <p:nvPr/>
        </p:nvSpPr>
        <p:spPr>
          <a:xfrm>
            <a:off x="8869680" y="5623559"/>
            <a:ext cx="548640" cy="274320"/>
          </a:xfrm>
          <a:prstGeom prst="rect">
            <a:avLst/>
          </a:prstGeom>
          <a:noFill/>
        </p:spPr>
        <p:txBody>
          <a:bodyPr wrap="none" lIns="0" tIns="0" rIns="0" bIns="0" anchor="ctr">
            <a:spAutoFit/>
          </a:bodyPr>
          <a:lstStyle/>
          <a:p>
            <a:pPr algn="ctr"/>
            <a:r>
              <a:rPr sz="1500" b="1">
                <a:solidFill>
                  <a:srgbClr val="1C2321"/>
                </a:solidFill>
                <a:latin typeface="Cambria"/>
              </a:rPr>
              <a:t>Q*</a:t>
            </a:r>
          </a:p>
        </p:txBody>
      </p:sp>
      <p:sp>
        <p:nvSpPr>
          <p:cNvPr id="22" name="Oval 21"/>
          <p:cNvSpPr/>
          <p:nvPr/>
        </p:nvSpPr>
        <p:spPr>
          <a:xfrm>
            <a:off x="9070848" y="3813048"/>
            <a:ext cx="146304" cy="146304"/>
          </a:xfrm>
          <a:prstGeom prst="ellipse">
            <a:avLst/>
          </a:prstGeom>
          <a:solidFill>
            <a:srgbClr val="1C2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28048" y="3749039"/>
            <a:ext cx="1188720" cy="274320"/>
          </a:xfrm>
          <a:prstGeom prst="rect">
            <a:avLst/>
          </a:prstGeom>
          <a:noFill/>
        </p:spPr>
        <p:txBody>
          <a:bodyPr wrap="none" lIns="0" tIns="0" rIns="0" bIns="0" anchor="ctr">
            <a:spAutoFit/>
          </a:bodyPr>
          <a:lstStyle/>
          <a:p>
            <a:pPr algn="l"/>
            <a:r>
              <a:rPr sz="1400" b="1">
                <a:solidFill>
                  <a:srgbClr val="1C2321"/>
                </a:solidFill>
                <a:latin typeface="Cambria"/>
              </a:rPr>
              <a:t>Equilibrium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43</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Deviations from Equilibrium</a:t>
            </a:r>
            <a:endParaRPr lang="en-US" sz="3200" dirty="0"/>
          </a:p>
        </p:txBody>
      </p:sp>
      <p:sp>
        <p:nvSpPr>
          <p:cNvPr id="7" name="Text 5"/>
          <p:cNvSpPr txBox="1"/>
          <p:nvPr/>
        </p:nvSpPr>
        <p:spPr>
          <a:xfrm>
            <a:off x="548640" y="1874520"/>
            <a:ext cx="10881360" cy="2926080"/>
          </a:xfrm>
          <a:prstGeom prst="rect">
            <a:avLst/>
          </a:prstGeom>
          <a:noFill/>
          <a:ln/>
        </p:spPr>
        <p:txBody>
          <a:bodyPr wrap="square" lIns="0" tIns="0" rIns="0" bIns="0" rtlCol="0" anchor="t"/>
          <a:lstStyle/>
          <a:p>
            <a:pPr marL="279400" indent="-279400">
              <a:spcAft>
                <a:spcPts val="800"/>
              </a:spcAft>
              <a:buSzPct val="100000"/>
              <a:buChar char="●"/>
            </a:pPr>
            <a:r>
              <a:rPr lang="en-US" sz="1800" b="1" dirty="0">
                <a:solidFill>
                  <a:srgbClr val="1C2321"/>
                </a:solidFill>
                <a:latin typeface="Cambria" pitchFamily="34" charset="0"/>
                <a:ea typeface="Cambria" pitchFamily="34" charset="-122"/>
                <a:cs typeface="Cambria" pitchFamily="34" charset="-120"/>
              </a:rPr>
              <a:t>Any point where quantity demanded does not equal quantity supplied is an “unstable” point.</a:t>
            </a:r>
            <a:endParaRPr lang="en-US" sz="1800" dirty="0"/>
          </a:p>
          <a:p>
            <a:pPr marL="508000" lvl="1" indent="-254000">
              <a:spcAft>
                <a:spcPts val="1000"/>
              </a:spcAft>
              <a:buSzPct val="100000"/>
              <a:buChar char="–"/>
            </a:pPr>
            <a:r>
              <a:rPr lang="en-US" sz="1700" i="1" dirty="0">
                <a:solidFill>
                  <a:srgbClr val="3E7C79"/>
                </a:solidFill>
                <a:latin typeface="Cambria" pitchFamily="34" charset="0"/>
                <a:ea typeface="Cambria" pitchFamily="34" charset="-122"/>
                <a:cs typeface="Cambria" pitchFamily="34" charset="-120"/>
              </a:rPr>
              <a:t>Qd ≠ Qs means the market has not cleared.</a:t>
            </a:r>
            <a:endParaRPr lang="en-US" sz="1800" dirty="0"/>
          </a:p>
          <a:p>
            <a:pPr marL="279400" indent="-279400">
              <a:spcAft>
                <a:spcPts val="800"/>
              </a:spcAft>
              <a:buSzPct val="100000"/>
              <a:buChar char="●"/>
            </a:pPr>
            <a:r>
              <a:rPr lang="en-US" sz="1800" b="1" dirty="0">
                <a:solidFill>
                  <a:srgbClr val="1C2321"/>
                </a:solidFill>
                <a:latin typeface="Cambria" pitchFamily="34" charset="0"/>
                <a:ea typeface="Cambria" pitchFamily="34" charset="-122"/>
                <a:cs typeface="Cambria" pitchFamily="34" charset="-120"/>
              </a:rPr>
              <a:t>Economic forces push prices and quantities toward the equilibrium point.</a:t>
            </a:r>
            <a:endParaRPr lang="en-US" sz="1800" dirty="0"/>
          </a:p>
          <a:p>
            <a:pPr marL="508000" lvl="1" indent="-254000">
              <a:spcAft>
                <a:spcPts val="1000"/>
              </a:spcAft>
              <a:buSzPct val="100000"/>
              <a:buChar char="–"/>
            </a:pPr>
            <a:r>
              <a:rPr lang="en-US" sz="1700" i="1" dirty="0">
                <a:solidFill>
                  <a:srgbClr val="3E7C79"/>
                </a:solidFill>
                <a:latin typeface="Cambria" pitchFamily="34" charset="0"/>
                <a:ea typeface="Cambria" pitchFamily="34" charset="-122"/>
                <a:cs typeface="Cambria" pitchFamily="34" charset="-120"/>
              </a:rPr>
              <a:t>The market doesn’t stay away from equilibrium for long — the next few slides show why.</a:t>
            </a:r>
            <a:endParaRPr lang="en-US" sz="1800" dirty="0"/>
          </a:p>
        </p:txBody>
      </p:sp>
      <p:sp>
        <p:nvSpPr>
          <p:cNvPr id="8" name="Shape 6"/>
          <p:cNvSpPr/>
          <p:nvPr/>
        </p:nvSpPr>
        <p:spPr>
          <a:xfrm>
            <a:off x="548640" y="4846320"/>
            <a:ext cx="11091672" cy="822960"/>
          </a:xfrm>
          <a:prstGeom prst="roundRect">
            <a:avLst>
              <a:gd name="adj" fmla="val 8889"/>
            </a:avLst>
          </a:prstGeom>
          <a:solidFill>
            <a:srgbClr val="DCEAE8"/>
          </a:solidFill>
          <a:ln/>
        </p:spPr>
        <p:txBody>
          <a:bodyPr/>
          <a:lstStyle/>
          <a:p>
            <a:endParaRPr/>
          </a:p>
        </p:txBody>
      </p:sp>
      <p:sp>
        <p:nvSpPr>
          <p:cNvPr id="9" name="Text 7"/>
          <p:cNvSpPr txBox="1"/>
          <p:nvPr/>
        </p:nvSpPr>
        <p:spPr>
          <a:xfrm>
            <a:off x="868680" y="4846320"/>
            <a:ext cx="10451592" cy="822960"/>
          </a:xfrm>
          <a:prstGeom prst="rect">
            <a:avLst/>
          </a:prstGeom>
          <a:noFill/>
          <a:ln/>
        </p:spPr>
        <p:txBody>
          <a:bodyPr wrap="square" lIns="0" tIns="0" rIns="0" bIns="0" rtlCol="0" anchor="ctr"/>
          <a:lstStyle/>
          <a:p>
            <a:pPr marL="0" indent="0" algn="ctr">
              <a:buNone/>
            </a:pPr>
            <a:r>
              <a:rPr lang="en-US" sz="1800" b="1" dirty="0">
                <a:solidFill>
                  <a:srgbClr val="1C2321"/>
                </a:solidFill>
                <a:latin typeface="Cambria" pitchFamily="34" charset="0"/>
                <a:ea typeface="Cambria" pitchFamily="34" charset="-122"/>
                <a:cs typeface="Cambria" pitchFamily="34" charset="-120"/>
              </a:rPr>
              <a:t>Unstable points don’t last. Equilibrium is where the market comes to rest.</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44</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Surplus &amp; Shortage</a:t>
            </a:r>
            <a:endParaRPr lang="en-US" sz="3200" dirty="0"/>
          </a:p>
        </p:txBody>
      </p:sp>
      <p:sp>
        <p:nvSpPr>
          <p:cNvPr id="7" name="Shape 5"/>
          <p:cNvSpPr/>
          <p:nvPr/>
        </p:nvSpPr>
        <p:spPr>
          <a:xfrm>
            <a:off x="548640" y="1874520"/>
            <a:ext cx="5449824" cy="2651760"/>
          </a:xfrm>
          <a:prstGeom prst="roundRect">
            <a:avLst>
              <a:gd name="adj" fmla="val 2069"/>
            </a:avLst>
          </a:prstGeom>
          <a:solidFill>
            <a:srgbClr val="F1E3DA"/>
          </a:solidFill>
          <a:ln/>
        </p:spPr>
        <p:txBody>
          <a:bodyPr/>
          <a:lstStyle/>
          <a:p>
            <a:endParaRPr/>
          </a:p>
        </p:txBody>
      </p:sp>
      <p:sp>
        <p:nvSpPr>
          <p:cNvPr id="8" name="Text 6"/>
          <p:cNvSpPr txBox="1"/>
          <p:nvPr/>
        </p:nvSpPr>
        <p:spPr>
          <a:xfrm>
            <a:off x="868680" y="214884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SURPLUS</a:t>
            </a:r>
            <a:endParaRPr lang="en-US" sz="1300" dirty="0"/>
          </a:p>
        </p:txBody>
      </p:sp>
      <p:sp>
        <p:nvSpPr>
          <p:cNvPr id="9" name="Text 7"/>
          <p:cNvSpPr txBox="1"/>
          <p:nvPr/>
        </p:nvSpPr>
        <p:spPr>
          <a:xfrm>
            <a:off x="868680" y="2651760"/>
            <a:ext cx="4809744" cy="1645920"/>
          </a:xfrm>
          <a:prstGeom prst="rect">
            <a:avLst/>
          </a:prstGeom>
          <a:noFill/>
          <a:ln/>
        </p:spPr>
        <p:txBody>
          <a:bodyPr wrap="square" lIns="0" tIns="0" rIns="0" bIns="0" rtlCol="0" anchor="t"/>
          <a:lstStyle/>
          <a:p>
            <a:pPr marL="0" indent="0">
              <a:spcAft>
                <a:spcPts val="800"/>
              </a:spcAft>
              <a:buNone/>
            </a:pPr>
            <a:r>
              <a:rPr lang="en-US" sz="3000" b="1" dirty="0">
                <a:solidFill>
                  <a:srgbClr val="1C2321"/>
                </a:solidFill>
                <a:latin typeface="Cambria" pitchFamily="34" charset="0"/>
                <a:ea typeface="Cambria" pitchFamily="34" charset="-122"/>
                <a:cs typeface="Cambria" pitchFamily="34" charset="-120"/>
              </a:rPr>
              <a:t>Qs &gt; Qd</a:t>
            </a:r>
            <a:endParaRPr lang="en-US" sz="2000" dirty="0"/>
          </a:p>
          <a:p>
            <a:pPr marL="0" indent="0">
              <a:spcAft>
                <a:spcPts val="800"/>
              </a:spcAft>
              <a:buNone/>
            </a:pPr>
            <a:r>
              <a:rPr lang="en-US" sz="2000" dirty="0">
                <a:solidFill>
                  <a:srgbClr val="1C2321"/>
                </a:solidFill>
                <a:latin typeface="Cambria" pitchFamily="34" charset="0"/>
                <a:ea typeface="Cambria" pitchFamily="34" charset="-122"/>
                <a:cs typeface="Cambria" pitchFamily="34" charset="-120"/>
              </a:rPr>
              <a:t>Quantity supplied is greater than quantity demanded.</a:t>
            </a:r>
            <a:endParaRPr lang="en-US" sz="2000" dirty="0"/>
          </a:p>
        </p:txBody>
      </p:sp>
      <p:sp>
        <p:nvSpPr>
          <p:cNvPr id="10" name="Shape 8"/>
          <p:cNvSpPr/>
          <p:nvPr/>
        </p:nvSpPr>
        <p:spPr>
          <a:xfrm>
            <a:off x="6190488" y="1874520"/>
            <a:ext cx="5449824" cy="2651760"/>
          </a:xfrm>
          <a:prstGeom prst="roundRect">
            <a:avLst>
              <a:gd name="adj" fmla="val 2069"/>
            </a:avLst>
          </a:prstGeom>
          <a:solidFill>
            <a:srgbClr val="DCEAE8"/>
          </a:solidFill>
          <a:ln/>
        </p:spPr>
        <p:txBody>
          <a:bodyPr/>
          <a:lstStyle/>
          <a:p>
            <a:endParaRPr/>
          </a:p>
        </p:txBody>
      </p:sp>
      <p:sp>
        <p:nvSpPr>
          <p:cNvPr id="11" name="Text 9"/>
          <p:cNvSpPr txBox="1"/>
          <p:nvPr/>
        </p:nvSpPr>
        <p:spPr>
          <a:xfrm>
            <a:off x="6510528" y="214884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SHORTAGE</a:t>
            </a:r>
            <a:endParaRPr lang="en-US" sz="1300" dirty="0"/>
          </a:p>
        </p:txBody>
      </p:sp>
      <p:sp>
        <p:nvSpPr>
          <p:cNvPr id="12" name="Text 10"/>
          <p:cNvSpPr txBox="1"/>
          <p:nvPr/>
        </p:nvSpPr>
        <p:spPr>
          <a:xfrm>
            <a:off x="6510528" y="2651760"/>
            <a:ext cx="4809744" cy="1645920"/>
          </a:xfrm>
          <a:prstGeom prst="rect">
            <a:avLst/>
          </a:prstGeom>
          <a:noFill/>
          <a:ln/>
        </p:spPr>
        <p:txBody>
          <a:bodyPr wrap="square" lIns="0" tIns="0" rIns="0" bIns="0" rtlCol="0" anchor="t"/>
          <a:lstStyle/>
          <a:p>
            <a:pPr marL="0" indent="0">
              <a:spcAft>
                <a:spcPts val="800"/>
              </a:spcAft>
              <a:buNone/>
            </a:pPr>
            <a:r>
              <a:rPr lang="en-US" sz="3000" b="1" dirty="0">
                <a:solidFill>
                  <a:srgbClr val="1C2321"/>
                </a:solidFill>
                <a:latin typeface="Cambria" pitchFamily="34" charset="0"/>
                <a:ea typeface="Cambria" pitchFamily="34" charset="-122"/>
                <a:cs typeface="Cambria" pitchFamily="34" charset="-120"/>
              </a:rPr>
              <a:t>Qd &gt; Qs</a:t>
            </a:r>
            <a:endParaRPr lang="en-US" sz="2000" dirty="0"/>
          </a:p>
          <a:p>
            <a:pPr marL="0" indent="0">
              <a:spcAft>
                <a:spcPts val="800"/>
              </a:spcAft>
              <a:buNone/>
            </a:pPr>
            <a:r>
              <a:rPr lang="en-US" sz="2000" dirty="0">
                <a:solidFill>
                  <a:srgbClr val="1C2321"/>
                </a:solidFill>
                <a:latin typeface="Cambria" pitchFamily="34" charset="0"/>
                <a:ea typeface="Cambria" pitchFamily="34" charset="-122"/>
                <a:cs typeface="Cambria" pitchFamily="34" charset="-120"/>
              </a:rPr>
              <a:t>Quantity demanded is greater than quantity supplied.</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45</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Surplus</a:t>
            </a:r>
            <a:endParaRPr lang="en-US" sz="3200" dirty="0"/>
          </a:p>
        </p:txBody>
      </p:sp>
      <p:sp>
        <p:nvSpPr>
          <p:cNvPr id="7" name="Shape 5"/>
          <p:cNvSpPr/>
          <p:nvPr/>
        </p:nvSpPr>
        <p:spPr>
          <a:xfrm>
            <a:off x="548640" y="1783080"/>
            <a:ext cx="5394960" cy="640080"/>
          </a:xfrm>
          <a:prstGeom prst="roundRect">
            <a:avLst>
              <a:gd name="adj" fmla="val 11429"/>
            </a:avLst>
          </a:prstGeom>
          <a:solidFill>
            <a:srgbClr val="DCEAE8"/>
          </a:solidFill>
          <a:ln/>
        </p:spPr>
        <p:txBody>
          <a:bodyPr/>
          <a:lstStyle/>
          <a:p>
            <a:endParaRPr/>
          </a:p>
        </p:txBody>
      </p:sp>
      <p:sp>
        <p:nvSpPr>
          <p:cNvPr id="8" name="Text 6"/>
          <p:cNvSpPr txBox="1"/>
          <p:nvPr/>
        </p:nvSpPr>
        <p:spPr>
          <a:xfrm>
            <a:off x="868680" y="1783080"/>
            <a:ext cx="4754880" cy="640080"/>
          </a:xfrm>
          <a:prstGeom prst="rect">
            <a:avLst/>
          </a:prstGeom>
          <a:noFill/>
          <a:ln/>
        </p:spPr>
        <p:txBody>
          <a:bodyPr wrap="square" lIns="0" tIns="0" rIns="0" bIns="0" rtlCol="0" anchor="ctr"/>
          <a:lstStyle/>
          <a:p>
            <a:pPr marL="0" indent="0" algn="ctr">
              <a:buNone/>
            </a:pPr>
            <a:r>
              <a:rPr lang="en-US" sz="1800" b="1" dirty="0">
                <a:solidFill>
                  <a:srgbClr val="1C2321"/>
                </a:solidFill>
                <a:latin typeface="Cambria" pitchFamily="34" charset="0"/>
                <a:ea typeface="Cambria" pitchFamily="34" charset="-122"/>
                <a:cs typeface="Cambria" pitchFamily="34" charset="-120"/>
              </a:rPr>
              <a:t>Equilibrium is where Qd = Qs.</a:t>
            </a:r>
            <a:endParaRPr lang="en-US" sz="1800" dirty="0"/>
          </a:p>
        </p:txBody>
      </p:sp>
      <p:sp>
        <p:nvSpPr>
          <p:cNvPr id="9" name="Text 7"/>
          <p:cNvSpPr txBox="1"/>
          <p:nvPr/>
        </p:nvSpPr>
        <p:spPr>
          <a:xfrm>
            <a:off x="548640" y="2697480"/>
            <a:ext cx="5394960" cy="3017520"/>
          </a:xfrm>
          <a:prstGeom prst="rect">
            <a:avLst/>
          </a:prstGeom>
          <a:noFill/>
          <a:ln/>
        </p:spPr>
        <p:txBody>
          <a:bodyPr wrap="square" lIns="0" tIns="0" rIns="0" bIns="0" rtlCol="0" anchor="t"/>
          <a:lstStyle/>
          <a:p>
            <a:pPr marL="0" indent="0">
              <a:spcAft>
                <a:spcPts val="1000"/>
              </a:spcAft>
              <a:buNone/>
            </a:pPr>
            <a:r>
              <a:rPr lang="en-US" sz="1900" b="1" dirty="0">
                <a:solidFill>
                  <a:srgbClr val="1C2321"/>
                </a:solidFill>
                <a:latin typeface="Cambria" pitchFamily="34" charset="0"/>
                <a:ea typeface="Cambria" pitchFamily="34" charset="-122"/>
                <a:cs typeface="Cambria" pitchFamily="34" charset="-120"/>
              </a:rPr>
              <a:t>If the price is above the equilibrium price…</a:t>
            </a:r>
            <a:endParaRPr lang="en-US" sz="1900" dirty="0"/>
          </a:p>
          <a:p>
            <a:pPr marL="0" indent="0">
              <a:spcAft>
                <a:spcPts val="1000"/>
              </a:spcAft>
              <a:buNone/>
            </a:pPr>
            <a:r>
              <a:rPr lang="en-US" sz="1900" i="1" dirty="0">
                <a:solidFill>
                  <a:srgbClr val="3E7C79"/>
                </a:solidFill>
                <a:latin typeface="Cambria" pitchFamily="34" charset="0"/>
                <a:ea typeface="Cambria" pitchFamily="34" charset="-122"/>
                <a:cs typeface="Cambria" pitchFamily="34" charset="-120"/>
              </a:rPr>
              <a:t>…then more is supplied than demanded: Qs &gt; Qd.</a:t>
            </a:r>
            <a:endParaRPr lang="en-US" sz="1900" dirty="0"/>
          </a:p>
          <a:p>
            <a:pPr marL="0" indent="0">
              <a:spcAft>
                <a:spcPts val="1000"/>
              </a:spcAft>
              <a:buNone/>
            </a:pPr>
            <a:r>
              <a:rPr lang="en-US" sz="1000" dirty="0">
                <a:solidFill>
                  <a:srgbClr val="1C2321"/>
                </a:solidFill>
                <a:latin typeface="Cambria" pitchFamily="34" charset="0"/>
                <a:ea typeface="Cambria" pitchFamily="34" charset="-122"/>
                <a:cs typeface="Cambria" pitchFamily="34" charset="-120"/>
              </a:rPr>
              <a:t> </a:t>
            </a:r>
            <a:endParaRPr lang="en-US" sz="1900" dirty="0"/>
          </a:p>
          <a:p>
            <a:pPr marL="0" indent="0">
              <a:spcAft>
                <a:spcPts val="1000"/>
              </a:spcAft>
              <a:buNone/>
            </a:pPr>
            <a:r>
              <a:rPr lang="en-US" sz="1900" b="1" dirty="0">
                <a:solidFill>
                  <a:srgbClr val="1C2321"/>
                </a:solidFill>
                <a:latin typeface="Cambria" pitchFamily="34" charset="0"/>
                <a:ea typeface="Cambria" pitchFamily="34" charset="-122"/>
                <a:cs typeface="Cambria" pitchFamily="34" charset="-120"/>
              </a:rPr>
              <a:t>Economic forces put downward pressure on price.</a:t>
            </a:r>
            <a:endParaRPr lang="en-US" sz="1900" dirty="0"/>
          </a:p>
        </p:txBody>
      </p:sp>
      <p:sp>
        <p:nvSpPr>
          <p:cNvPr id="10" name="Shape 8"/>
          <p:cNvSpPr/>
          <p:nvPr/>
        </p:nvSpPr>
        <p:spPr>
          <a:xfrm>
            <a:off x="6675120" y="1920240"/>
            <a:ext cx="914" cy="3657600"/>
          </a:xfrm>
          <a:prstGeom prst="line">
            <a:avLst/>
          </a:prstGeom>
          <a:noFill/>
          <a:ln w="19050">
            <a:solidFill>
              <a:srgbClr val="1C2321"/>
            </a:solidFill>
            <a:prstDash val="solid"/>
          </a:ln>
        </p:spPr>
        <p:txBody>
          <a:bodyPr/>
          <a:lstStyle/>
          <a:p>
            <a:endParaRPr/>
          </a:p>
        </p:txBody>
      </p:sp>
      <p:sp>
        <p:nvSpPr>
          <p:cNvPr id="11" name="Shape 9"/>
          <p:cNvSpPr/>
          <p:nvPr/>
        </p:nvSpPr>
        <p:spPr>
          <a:xfrm>
            <a:off x="6675120" y="5577840"/>
            <a:ext cx="4572000" cy="914"/>
          </a:xfrm>
          <a:prstGeom prst="line">
            <a:avLst/>
          </a:prstGeom>
          <a:noFill/>
          <a:ln w="19050">
            <a:solidFill>
              <a:srgbClr val="1C2321"/>
            </a:solidFill>
            <a:prstDash val="solid"/>
          </a:ln>
        </p:spPr>
        <p:txBody>
          <a:bodyPr/>
          <a:lstStyle/>
          <a:p>
            <a:endParaRPr/>
          </a:p>
        </p:txBody>
      </p:sp>
      <p:sp>
        <p:nvSpPr>
          <p:cNvPr id="12" name="Text 10"/>
          <p:cNvSpPr txBox="1"/>
          <p:nvPr/>
        </p:nvSpPr>
        <p:spPr>
          <a:xfrm>
            <a:off x="6263640" y="155448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13" name="Text 11"/>
          <p:cNvSpPr txBox="1"/>
          <p:nvPr/>
        </p:nvSpPr>
        <p:spPr>
          <a:xfrm>
            <a:off x="8366760" y="5925312"/>
            <a:ext cx="109728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a:t>
            </a:r>
            <a:endParaRPr lang="en-US" sz="1500" dirty="0"/>
          </a:p>
        </p:txBody>
      </p:sp>
      <p:sp>
        <p:nvSpPr>
          <p:cNvPr id="14" name="Shape 12"/>
          <p:cNvSpPr/>
          <p:nvPr/>
        </p:nvSpPr>
        <p:spPr>
          <a:xfrm>
            <a:off x="7212787" y="2710647"/>
            <a:ext cx="3405226" cy="2168225"/>
          </a:xfrm>
          <a:prstGeom prst="line">
            <a:avLst/>
          </a:prstGeom>
          <a:noFill/>
          <a:ln w="31750">
            <a:solidFill>
              <a:srgbClr val="3E7C79"/>
            </a:solidFill>
            <a:prstDash val="solid"/>
          </a:ln>
        </p:spPr>
        <p:txBody>
          <a:bodyPr/>
          <a:lstStyle/>
          <a:p>
            <a:endParaRPr/>
          </a:p>
        </p:txBody>
      </p:sp>
      <p:sp>
        <p:nvSpPr>
          <p:cNvPr id="15" name="Shape 13"/>
          <p:cNvSpPr/>
          <p:nvPr/>
        </p:nvSpPr>
        <p:spPr>
          <a:xfrm flipV="1">
            <a:off x="7212787" y="2710647"/>
            <a:ext cx="3405226" cy="2168225"/>
          </a:xfrm>
          <a:prstGeom prst="line">
            <a:avLst/>
          </a:prstGeom>
          <a:noFill/>
          <a:ln w="31750">
            <a:solidFill>
              <a:srgbClr val="BE7F5E"/>
            </a:solidFill>
            <a:prstDash val="solid"/>
          </a:ln>
        </p:spPr>
        <p:txBody>
          <a:bodyPr/>
          <a:lstStyle/>
          <a:p>
            <a:endParaRPr/>
          </a:p>
        </p:txBody>
      </p:sp>
      <p:sp>
        <p:nvSpPr>
          <p:cNvPr id="16" name="Text 14"/>
          <p:cNvSpPr txBox="1"/>
          <p:nvPr/>
        </p:nvSpPr>
        <p:spPr>
          <a:xfrm>
            <a:off x="10259568" y="4952025"/>
            <a:ext cx="914400" cy="274320"/>
          </a:xfrm>
          <a:prstGeom prst="rect">
            <a:avLst/>
          </a:prstGeom>
          <a:noFill/>
          <a:ln/>
        </p:spPr>
        <p:txBody>
          <a:bodyPr wrap="square" lIns="0" tIns="0" rIns="0" bIns="0" rtlCol="0" anchor="ctr"/>
          <a:lstStyle/>
          <a:p>
            <a:pPr marL="0" indent="0" algn="l">
              <a:buNone/>
            </a:pPr>
            <a:r>
              <a:rPr lang="en-US" sz="1500" dirty="0">
                <a:solidFill>
                  <a:srgbClr val="3E7C79"/>
                </a:solidFill>
                <a:latin typeface="Cambria" pitchFamily="34" charset="0"/>
                <a:ea typeface="Cambria" pitchFamily="34" charset="-122"/>
                <a:cs typeface="Cambria" pitchFamily="34" charset="-120"/>
              </a:rPr>
              <a:t>Demand</a:t>
            </a:r>
            <a:endParaRPr lang="en-US" sz="1500" dirty="0"/>
          </a:p>
        </p:txBody>
      </p:sp>
      <p:sp>
        <p:nvSpPr>
          <p:cNvPr id="17" name="Text 15"/>
          <p:cNvSpPr txBox="1"/>
          <p:nvPr/>
        </p:nvSpPr>
        <p:spPr>
          <a:xfrm>
            <a:off x="10259568" y="2326599"/>
            <a:ext cx="914400" cy="274320"/>
          </a:xfrm>
          <a:prstGeom prst="rect">
            <a:avLst/>
          </a:prstGeom>
          <a:noFill/>
          <a:ln/>
        </p:spPr>
        <p:txBody>
          <a:bodyPr wrap="square" lIns="0" tIns="0" rIns="0" bIns="0" rtlCol="0" anchor="ctr"/>
          <a:lstStyle/>
          <a:p>
            <a:pPr marL="0" indent="0" algn="l">
              <a:buNone/>
            </a:pPr>
            <a:r>
              <a:rPr lang="en-US" sz="1500" dirty="0">
                <a:solidFill>
                  <a:srgbClr val="BE7F5E"/>
                </a:solidFill>
                <a:latin typeface="Cambria" pitchFamily="34" charset="0"/>
                <a:ea typeface="Cambria" pitchFamily="34" charset="-122"/>
                <a:cs typeface="Cambria" pitchFamily="34" charset="-120"/>
              </a:rPr>
              <a:t>Supply</a:t>
            </a:r>
            <a:endParaRPr lang="en-US" sz="1500" dirty="0"/>
          </a:p>
        </p:txBody>
      </p:sp>
      <p:sp>
        <p:nvSpPr>
          <p:cNvPr id="18" name="Shape 16"/>
          <p:cNvSpPr/>
          <p:nvPr/>
        </p:nvSpPr>
        <p:spPr>
          <a:xfrm>
            <a:off x="6675120" y="3794760"/>
            <a:ext cx="2240280" cy="914"/>
          </a:xfrm>
          <a:prstGeom prst="line">
            <a:avLst/>
          </a:prstGeom>
          <a:noFill/>
          <a:ln w="9525">
            <a:solidFill>
              <a:srgbClr val="657278"/>
            </a:solidFill>
            <a:prstDash val="dash"/>
          </a:ln>
        </p:spPr>
        <p:txBody>
          <a:bodyPr/>
          <a:lstStyle/>
          <a:p>
            <a:endParaRPr/>
          </a:p>
        </p:txBody>
      </p:sp>
      <p:sp>
        <p:nvSpPr>
          <p:cNvPr id="19" name="Text 17"/>
          <p:cNvSpPr txBox="1"/>
          <p:nvPr/>
        </p:nvSpPr>
        <p:spPr>
          <a:xfrm>
            <a:off x="6172200" y="3657600"/>
            <a:ext cx="411480" cy="274320"/>
          </a:xfrm>
          <a:prstGeom prst="rect">
            <a:avLst/>
          </a:prstGeom>
          <a:noFill/>
          <a:ln/>
        </p:spPr>
        <p:txBody>
          <a:bodyPr wrap="square" lIns="0" tIns="0" rIns="0" bIns="0" rtlCol="0" anchor="ctr"/>
          <a:lstStyle/>
          <a:p>
            <a:pPr marL="0" indent="0" algn="r">
              <a:buNone/>
            </a:pPr>
            <a:r>
              <a:rPr lang="en-US" sz="1500" dirty="0">
                <a:solidFill>
                  <a:srgbClr val="657278"/>
                </a:solidFill>
                <a:latin typeface="Cambria" pitchFamily="34" charset="0"/>
                <a:ea typeface="Cambria" pitchFamily="34" charset="-122"/>
                <a:cs typeface="Cambria" pitchFamily="34" charset="-120"/>
              </a:rPr>
              <a:t>P*</a:t>
            </a:r>
            <a:endParaRPr lang="en-US" sz="1500" dirty="0"/>
          </a:p>
        </p:txBody>
      </p:sp>
      <p:sp>
        <p:nvSpPr>
          <p:cNvPr id="20" name="Shape 18"/>
          <p:cNvSpPr/>
          <p:nvPr/>
        </p:nvSpPr>
        <p:spPr>
          <a:xfrm>
            <a:off x="8860536" y="3739896"/>
            <a:ext cx="109728" cy="109728"/>
          </a:xfrm>
          <a:prstGeom prst="ellipse">
            <a:avLst/>
          </a:prstGeom>
          <a:solidFill>
            <a:srgbClr val="FFFFFF"/>
          </a:solidFill>
          <a:ln w="12700">
            <a:solidFill>
              <a:srgbClr val="657278"/>
            </a:solidFill>
            <a:prstDash val="solid"/>
          </a:ln>
        </p:spPr>
        <p:txBody>
          <a:bodyPr/>
          <a:lstStyle/>
          <a:p>
            <a:endParaRPr/>
          </a:p>
        </p:txBody>
      </p:sp>
      <p:sp>
        <p:nvSpPr>
          <p:cNvPr id="21" name="Shape 19"/>
          <p:cNvSpPr/>
          <p:nvPr/>
        </p:nvSpPr>
        <p:spPr>
          <a:xfrm>
            <a:off x="6675120" y="3010205"/>
            <a:ext cx="3472434" cy="914"/>
          </a:xfrm>
          <a:prstGeom prst="line">
            <a:avLst/>
          </a:prstGeom>
          <a:noFill/>
          <a:ln w="12700">
            <a:solidFill>
              <a:srgbClr val="1C2321"/>
            </a:solidFill>
            <a:prstDash val="dash"/>
          </a:ln>
        </p:spPr>
        <p:txBody>
          <a:bodyPr/>
          <a:lstStyle/>
          <a:p>
            <a:endParaRPr/>
          </a:p>
        </p:txBody>
      </p:sp>
      <p:sp>
        <p:nvSpPr>
          <p:cNvPr id="22" name="Text 20"/>
          <p:cNvSpPr txBox="1"/>
          <p:nvPr/>
        </p:nvSpPr>
        <p:spPr>
          <a:xfrm>
            <a:off x="5715000" y="2873045"/>
            <a:ext cx="868680" cy="274320"/>
          </a:xfrm>
          <a:prstGeom prst="rect">
            <a:avLst/>
          </a:prstGeom>
          <a:noFill/>
          <a:ln/>
        </p:spPr>
        <p:txBody>
          <a:bodyPr wrap="square" lIns="0" tIns="0" rIns="0" bIns="0" rtlCol="0" anchor="ctr"/>
          <a:lstStyle/>
          <a:p>
            <a:pPr marL="0" indent="0" algn="r">
              <a:buNone/>
            </a:pPr>
            <a:r>
              <a:rPr lang="en-US" sz="1500" b="1" dirty="0">
                <a:solidFill>
                  <a:srgbClr val="1C2321"/>
                </a:solidFill>
                <a:latin typeface="Cambria" pitchFamily="34" charset="0"/>
                <a:ea typeface="Cambria" pitchFamily="34" charset="-122"/>
                <a:cs typeface="Cambria" pitchFamily="34" charset="-120"/>
              </a:rPr>
              <a:t>P₁ &gt; P*</a:t>
            </a:r>
            <a:endParaRPr lang="en-US" sz="1500" dirty="0"/>
          </a:p>
        </p:txBody>
      </p:sp>
      <p:sp>
        <p:nvSpPr>
          <p:cNvPr id="23" name="Shape 21"/>
          <p:cNvSpPr/>
          <p:nvPr/>
        </p:nvSpPr>
        <p:spPr>
          <a:xfrm>
            <a:off x="7683246" y="3010205"/>
            <a:ext cx="914" cy="2567635"/>
          </a:xfrm>
          <a:prstGeom prst="line">
            <a:avLst/>
          </a:prstGeom>
          <a:noFill/>
          <a:ln w="9525">
            <a:solidFill>
              <a:srgbClr val="657278"/>
            </a:solidFill>
            <a:prstDash val="dash"/>
          </a:ln>
        </p:spPr>
        <p:txBody>
          <a:bodyPr/>
          <a:lstStyle/>
          <a:p>
            <a:endParaRPr/>
          </a:p>
        </p:txBody>
      </p:sp>
      <p:sp>
        <p:nvSpPr>
          <p:cNvPr id="24" name="Shape 22"/>
          <p:cNvSpPr/>
          <p:nvPr/>
        </p:nvSpPr>
        <p:spPr>
          <a:xfrm>
            <a:off x="10147554" y="3010205"/>
            <a:ext cx="914" cy="2567635"/>
          </a:xfrm>
          <a:prstGeom prst="line">
            <a:avLst/>
          </a:prstGeom>
          <a:noFill/>
          <a:ln w="9525">
            <a:solidFill>
              <a:srgbClr val="657278"/>
            </a:solidFill>
            <a:prstDash val="dash"/>
          </a:ln>
        </p:spPr>
        <p:txBody>
          <a:bodyPr/>
          <a:lstStyle/>
          <a:p>
            <a:endParaRPr/>
          </a:p>
        </p:txBody>
      </p:sp>
      <p:sp>
        <p:nvSpPr>
          <p:cNvPr id="25" name="Text 23"/>
          <p:cNvSpPr txBox="1"/>
          <p:nvPr/>
        </p:nvSpPr>
        <p:spPr>
          <a:xfrm>
            <a:off x="7408926" y="5623560"/>
            <a:ext cx="548640" cy="274320"/>
          </a:xfrm>
          <a:prstGeom prst="rect">
            <a:avLst/>
          </a:prstGeom>
          <a:noFill/>
          <a:ln/>
        </p:spPr>
        <p:txBody>
          <a:bodyPr wrap="square" lIns="0" tIns="0" rIns="0" bIns="0" rtlCol="0" anchor="ctr"/>
          <a:lstStyle/>
          <a:p>
            <a:pPr marL="0" indent="0" algn="ctr">
              <a:buNone/>
            </a:pPr>
            <a:r>
              <a:rPr lang="en-US" sz="1400" b="1" dirty="0">
                <a:solidFill>
                  <a:srgbClr val="1C2321"/>
                </a:solidFill>
                <a:latin typeface="Cambria" pitchFamily="34" charset="0"/>
                <a:ea typeface="Cambria" pitchFamily="34" charset="-122"/>
                <a:cs typeface="Cambria" pitchFamily="34" charset="-120"/>
              </a:rPr>
              <a:t>Qd</a:t>
            </a:r>
            <a:endParaRPr lang="en-US" sz="1400" dirty="0"/>
          </a:p>
        </p:txBody>
      </p:sp>
      <p:sp>
        <p:nvSpPr>
          <p:cNvPr id="26" name="Text 24"/>
          <p:cNvSpPr txBox="1"/>
          <p:nvPr/>
        </p:nvSpPr>
        <p:spPr>
          <a:xfrm>
            <a:off x="9873234" y="5623560"/>
            <a:ext cx="548640" cy="274320"/>
          </a:xfrm>
          <a:prstGeom prst="rect">
            <a:avLst/>
          </a:prstGeom>
          <a:noFill/>
          <a:ln/>
        </p:spPr>
        <p:txBody>
          <a:bodyPr wrap="square" lIns="0" tIns="0" rIns="0" bIns="0" rtlCol="0" anchor="ctr"/>
          <a:lstStyle/>
          <a:p>
            <a:pPr marL="0" indent="0" algn="ctr">
              <a:buNone/>
            </a:pPr>
            <a:r>
              <a:rPr lang="en-US" sz="1400" b="1" dirty="0">
                <a:solidFill>
                  <a:srgbClr val="1C2321"/>
                </a:solidFill>
                <a:latin typeface="Cambria" pitchFamily="34" charset="0"/>
                <a:ea typeface="Cambria" pitchFamily="34" charset="-122"/>
                <a:cs typeface="Cambria" pitchFamily="34" charset="-120"/>
              </a:rPr>
              <a:t>Qs</a:t>
            </a:r>
            <a:endParaRPr lang="en-US" sz="1400" dirty="0"/>
          </a:p>
        </p:txBody>
      </p:sp>
      <p:sp>
        <p:nvSpPr>
          <p:cNvPr id="27" name="Shape 25"/>
          <p:cNvSpPr/>
          <p:nvPr/>
        </p:nvSpPr>
        <p:spPr>
          <a:xfrm>
            <a:off x="7683246" y="2955341"/>
            <a:ext cx="2464308" cy="109728"/>
          </a:xfrm>
          <a:prstGeom prst="rect">
            <a:avLst/>
          </a:prstGeom>
          <a:solidFill>
            <a:srgbClr val="D58C72">
              <a:alpha val="55000"/>
            </a:srgbClr>
          </a:solidFill>
          <a:ln w="6350">
            <a:solidFill>
              <a:srgbClr val="D58C72"/>
            </a:solidFill>
            <a:prstDash val="solid"/>
          </a:ln>
        </p:spPr>
        <p:txBody>
          <a:bodyPr/>
          <a:lstStyle/>
          <a:p>
            <a:endParaRPr/>
          </a:p>
        </p:txBody>
      </p:sp>
      <p:sp>
        <p:nvSpPr>
          <p:cNvPr id="28" name="Text 26"/>
          <p:cNvSpPr txBox="1"/>
          <p:nvPr/>
        </p:nvSpPr>
        <p:spPr>
          <a:xfrm>
            <a:off x="8183880" y="2553005"/>
            <a:ext cx="1463040" cy="310896"/>
          </a:xfrm>
          <a:prstGeom prst="rect">
            <a:avLst/>
          </a:prstGeom>
          <a:noFill/>
          <a:ln/>
        </p:spPr>
        <p:txBody>
          <a:bodyPr wrap="square" lIns="0" tIns="0" rIns="0" bIns="0" rtlCol="0" anchor="ctr"/>
          <a:lstStyle/>
          <a:p>
            <a:pPr marL="0" indent="0" algn="ctr">
              <a:buNone/>
            </a:pPr>
            <a:r>
              <a:rPr lang="en-US" sz="1600" b="1" dirty="0">
                <a:solidFill>
                  <a:srgbClr val="BE7F5E"/>
                </a:solidFill>
                <a:latin typeface="Cambria" pitchFamily="34" charset="0"/>
                <a:ea typeface="Cambria" pitchFamily="34" charset="-122"/>
                <a:cs typeface="Cambria" pitchFamily="34" charset="-120"/>
              </a:rPr>
              <a:t>Surplus</a:t>
            </a:r>
            <a:endParaRPr lang="en-US" sz="1600" dirty="0"/>
          </a:p>
        </p:txBody>
      </p:sp>
      <p:sp>
        <p:nvSpPr>
          <p:cNvPr id="29" name="Shape 27"/>
          <p:cNvSpPr/>
          <p:nvPr/>
        </p:nvSpPr>
        <p:spPr>
          <a:xfrm>
            <a:off x="6899148" y="3101645"/>
            <a:ext cx="274320" cy="601675"/>
          </a:xfrm>
          <a:prstGeom prst="downArrow">
            <a:avLst/>
          </a:prstGeom>
          <a:solidFill>
            <a:srgbClr val="BE7F5E"/>
          </a:solidFill>
          <a:ln/>
        </p:spPr>
        <p:txBody>
          <a:bodyPr/>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46</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Shortage</a:t>
            </a:r>
            <a:endParaRPr lang="en-US" sz="3200" dirty="0"/>
          </a:p>
        </p:txBody>
      </p:sp>
      <p:sp>
        <p:nvSpPr>
          <p:cNvPr id="7" name="Shape 5"/>
          <p:cNvSpPr/>
          <p:nvPr/>
        </p:nvSpPr>
        <p:spPr>
          <a:xfrm>
            <a:off x="548640" y="1783080"/>
            <a:ext cx="5394960" cy="640080"/>
          </a:xfrm>
          <a:prstGeom prst="roundRect">
            <a:avLst>
              <a:gd name="adj" fmla="val 11429"/>
            </a:avLst>
          </a:prstGeom>
          <a:solidFill>
            <a:srgbClr val="DCEAE8"/>
          </a:solidFill>
          <a:ln/>
        </p:spPr>
        <p:txBody>
          <a:bodyPr/>
          <a:lstStyle/>
          <a:p>
            <a:endParaRPr/>
          </a:p>
        </p:txBody>
      </p:sp>
      <p:sp>
        <p:nvSpPr>
          <p:cNvPr id="8" name="Text 6"/>
          <p:cNvSpPr txBox="1"/>
          <p:nvPr/>
        </p:nvSpPr>
        <p:spPr>
          <a:xfrm>
            <a:off x="868680" y="1783080"/>
            <a:ext cx="4754880" cy="640080"/>
          </a:xfrm>
          <a:prstGeom prst="rect">
            <a:avLst/>
          </a:prstGeom>
          <a:noFill/>
          <a:ln/>
        </p:spPr>
        <p:txBody>
          <a:bodyPr wrap="square" lIns="0" tIns="0" rIns="0" bIns="0" rtlCol="0" anchor="ctr"/>
          <a:lstStyle/>
          <a:p>
            <a:pPr marL="0" indent="0" algn="ctr">
              <a:buNone/>
            </a:pPr>
            <a:r>
              <a:rPr lang="en-US" sz="1800" b="1" dirty="0">
                <a:solidFill>
                  <a:srgbClr val="1C2321"/>
                </a:solidFill>
                <a:latin typeface="Cambria" pitchFamily="34" charset="0"/>
                <a:ea typeface="Cambria" pitchFamily="34" charset="-122"/>
                <a:cs typeface="Cambria" pitchFamily="34" charset="-120"/>
              </a:rPr>
              <a:t>Equilibrium is where Qd = Qs.</a:t>
            </a:r>
            <a:endParaRPr lang="en-US" sz="1800" dirty="0"/>
          </a:p>
        </p:txBody>
      </p:sp>
      <p:sp>
        <p:nvSpPr>
          <p:cNvPr id="9" name="Text 7"/>
          <p:cNvSpPr txBox="1"/>
          <p:nvPr/>
        </p:nvSpPr>
        <p:spPr>
          <a:xfrm>
            <a:off x="548640" y="2697480"/>
            <a:ext cx="5394960" cy="3017520"/>
          </a:xfrm>
          <a:prstGeom prst="rect">
            <a:avLst/>
          </a:prstGeom>
          <a:noFill/>
          <a:ln/>
        </p:spPr>
        <p:txBody>
          <a:bodyPr wrap="square" lIns="0" tIns="0" rIns="0" bIns="0" rtlCol="0" anchor="t"/>
          <a:lstStyle/>
          <a:p>
            <a:pPr marL="0" indent="0">
              <a:spcAft>
                <a:spcPts val="1000"/>
              </a:spcAft>
              <a:buNone/>
            </a:pPr>
            <a:r>
              <a:rPr lang="en-US" sz="1900" b="1" dirty="0">
                <a:solidFill>
                  <a:srgbClr val="1C2321"/>
                </a:solidFill>
                <a:latin typeface="Cambria" pitchFamily="34" charset="0"/>
                <a:ea typeface="Cambria" pitchFamily="34" charset="-122"/>
                <a:cs typeface="Cambria" pitchFamily="34" charset="-120"/>
              </a:rPr>
              <a:t>If the price is below the equilibrium price…</a:t>
            </a:r>
            <a:endParaRPr lang="en-US" sz="1900" dirty="0"/>
          </a:p>
          <a:p>
            <a:pPr marL="0" indent="0">
              <a:spcAft>
                <a:spcPts val="1000"/>
              </a:spcAft>
              <a:buNone/>
            </a:pPr>
            <a:r>
              <a:rPr lang="en-US" sz="1900" i="1" dirty="0">
                <a:solidFill>
                  <a:srgbClr val="3E7C79"/>
                </a:solidFill>
                <a:latin typeface="Cambria" pitchFamily="34" charset="0"/>
                <a:ea typeface="Cambria" pitchFamily="34" charset="-122"/>
                <a:cs typeface="Cambria" pitchFamily="34" charset="-120"/>
              </a:rPr>
              <a:t>…then more is demanded than supplied: Qd &gt; Qs.</a:t>
            </a:r>
            <a:endParaRPr lang="en-US" sz="1900" dirty="0"/>
          </a:p>
          <a:p>
            <a:pPr marL="0" indent="0">
              <a:spcAft>
                <a:spcPts val="1000"/>
              </a:spcAft>
              <a:buNone/>
            </a:pPr>
            <a:r>
              <a:rPr lang="en-US" sz="1000" dirty="0">
                <a:solidFill>
                  <a:srgbClr val="1C2321"/>
                </a:solidFill>
                <a:latin typeface="Cambria" pitchFamily="34" charset="0"/>
                <a:ea typeface="Cambria" pitchFamily="34" charset="-122"/>
                <a:cs typeface="Cambria" pitchFamily="34" charset="-120"/>
              </a:rPr>
              <a:t> </a:t>
            </a:r>
            <a:endParaRPr lang="en-US" sz="1900" dirty="0"/>
          </a:p>
          <a:p>
            <a:pPr marL="0" indent="0">
              <a:spcAft>
                <a:spcPts val="1000"/>
              </a:spcAft>
              <a:buNone/>
            </a:pPr>
            <a:r>
              <a:rPr lang="en-US" sz="1900" b="1" dirty="0">
                <a:solidFill>
                  <a:srgbClr val="1C2321"/>
                </a:solidFill>
                <a:latin typeface="Cambria" pitchFamily="34" charset="0"/>
                <a:ea typeface="Cambria" pitchFamily="34" charset="-122"/>
                <a:cs typeface="Cambria" pitchFamily="34" charset="-120"/>
              </a:rPr>
              <a:t>Economic forces put upward pressure on price.</a:t>
            </a:r>
            <a:endParaRPr lang="en-US" sz="1900" dirty="0"/>
          </a:p>
        </p:txBody>
      </p:sp>
      <p:sp>
        <p:nvSpPr>
          <p:cNvPr id="10" name="Shape 8"/>
          <p:cNvSpPr/>
          <p:nvPr/>
        </p:nvSpPr>
        <p:spPr>
          <a:xfrm>
            <a:off x="6675120" y="1920240"/>
            <a:ext cx="914" cy="3657600"/>
          </a:xfrm>
          <a:prstGeom prst="line">
            <a:avLst/>
          </a:prstGeom>
          <a:noFill/>
          <a:ln w="19050">
            <a:solidFill>
              <a:srgbClr val="1C2321"/>
            </a:solidFill>
            <a:prstDash val="solid"/>
          </a:ln>
        </p:spPr>
        <p:txBody>
          <a:bodyPr/>
          <a:lstStyle/>
          <a:p>
            <a:endParaRPr/>
          </a:p>
        </p:txBody>
      </p:sp>
      <p:sp>
        <p:nvSpPr>
          <p:cNvPr id="11" name="Shape 9"/>
          <p:cNvSpPr/>
          <p:nvPr/>
        </p:nvSpPr>
        <p:spPr>
          <a:xfrm>
            <a:off x="6675120" y="5577840"/>
            <a:ext cx="4572000" cy="914"/>
          </a:xfrm>
          <a:prstGeom prst="line">
            <a:avLst/>
          </a:prstGeom>
          <a:noFill/>
          <a:ln w="19050">
            <a:solidFill>
              <a:srgbClr val="1C2321"/>
            </a:solidFill>
            <a:prstDash val="solid"/>
          </a:ln>
        </p:spPr>
        <p:txBody>
          <a:bodyPr/>
          <a:lstStyle/>
          <a:p>
            <a:endParaRPr/>
          </a:p>
        </p:txBody>
      </p:sp>
      <p:sp>
        <p:nvSpPr>
          <p:cNvPr id="12" name="Text 10"/>
          <p:cNvSpPr txBox="1"/>
          <p:nvPr/>
        </p:nvSpPr>
        <p:spPr>
          <a:xfrm>
            <a:off x="6263640" y="1554480"/>
            <a:ext cx="82296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Price</a:t>
            </a:r>
            <a:endParaRPr lang="en-US" sz="1500" dirty="0"/>
          </a:p>
        </p:txBody>
      </p:sp>
      <p:sp>
        <p:nvSpPr>
          <p:cNvPr id="13" name="Text 11"/>
          <p:cNvSpPr txBox="1"/>
          <p:nvPr/>
        </p:nvSpPr>
        <p:spPr>
          <a:xfrm>
            <a:off x="8366760" y="5925312"/>
            <a:ext cx="1097280" cy="274320"/>
          </a:xfrm>
          <a:prstGeom prst="rect">
            <a:avLst/>
          </a:prstGeom>
          <a:noFill/>
          <a:ln/>
        </p:spPr>
        <p:txBody>
          <a:bodyPr wrap="square" lIns="0" tIns="0" rIns="0" bIns="0" rtlCol="0" anchor="ctr"/>
          <a:lstStyle/>
          <a:p>
            <a:pPr marL="0" indent="0" algn="ctr">
              <a:buNone/>
            </a:pPr>
            <a:r>
              <a:rPr lang="en-US" sz="1500" dirty="0">
                <a:solidFill>
                  <a:srgbClr val="1C2321"/>
                </a:solidFill>
                <a:latin typeface="Cambria" pitchFamily="34" charset="0"/>
                <a:ea typeface="Cambria" pitchFamily="34" charset="-122"/>
                <a:cs typeface="Cambria" pitchFamily="34" charset="-120"/>
              </a:rPr>
              <a:t>Quantity</a:t>
            </a:r>
            <a:endParaRPr lang="en-US" sz="1500" dirty="0"/>
          </a:p>
        </p:txBody>
      </p:sp>
      <p:sp>
        <p:nvSpPr>
          <p:cNvPr id="14" name="Shape 12"/>
          <p:cNvSpPr/>
          <p:nvPr/>
        </p:nvSpPr>
        <p:spPr>
          <a:xfrm>
            <a:off x="7212787" y="2710647"/>
            <a:ext cx="3405226" cy="2168225"/>
          </a:xfrm>
          <a:prstGeom prst="line">
            <a:avLst/>
          </a:prstGeom>
          <a:noFill/>
          <a:ln w="31750">
            <a:solidFill>
              <a:srgbClr val="3E7C79"/>
            </a:solidFill>
            <a:prstDash val="solid"/>
          </a:ln>
        </p:spPr>
        <p:txBody>
          <a:bodyPr/>
          <a:lstStyle/>
          <a:p>
            <a:endParaRPr/>
          </a:p>
        </p:txBody>
      </p:sp>
      <p:sp>
        <p:nvSpPr>
          <p:cNvPr id="15" name="Shape 13"/>
          <p:cNvSpPr/>
          <p:nvPr/>
        </p:nvSpPr>
        <p:spPr>
          <a:xfrm flipV="1">
            <a:off x="7212787" y="2710647"/>
            <a:ext cx="3405226" cy="2168225"/>
          </a:xfrm>
          <a:prstGeom prst="line">
            <a:avLst/>
          </a:prstGeom>
          <a:noFill/>
          <a:ln w="31750">
            <a:solidFill>
              <a:srgbClr val="BE7F5E"/>
            </a:solidFill>
            <a:prstDash val="solid"/>
          </a:ln>
        </p:spPr>
        <p:txBody>
          <a:bodyPr/>
          <a:lstStyle/>
          <a:p>
            <a:endParaRPr/>
          </a:p>
        </p:txBody>
      </p:sp>
      <p:sp>
        <p:nvSpPr>
          <p:cNvPr id="16" name="Text 14"/>
          <p:cNvSpPr txBox="1"/>
          <p:nvPr/>
        </p:nvSpPr>
        <p:spPr>
          <a:xfrm>
            <a:off x="10259568" y="4952025"/>
            <a:ext cx="914400" cy="274320"/>
          </a:xfrm>
          <a:prstGeom prst="rect">
            <a:avLst/>
          </a:prstGeom>
          <a:noFill/>
          <a:ln/>
        </p:spPr>
        <p:txBody>
          <a:bodyPr wrap="square" lIns="0" tIns="0" rIns="0" bIns="0" rtlCol="0" anchor="ctr"/>
          <a:lstStyle/>
          <a:p>
            <a:pPr marL="0" indent="0" algn="l">
              <a:buNone/>
            </a:pPr>
            <a:r>
              <a:rPr lang="en-US" sz="1500" dirty="0">
                <a:solidFill>
                  <a:srgbClr val="3E7C79"/>
                </a:solidFill>
                <a:latin typeface="Cambria" pitchFamily="34" charset="0"/>
                <a:ea typeface="Cambria" pitchFamily="34" charset="-122"/>
                <a:cs typeface="Cambria" pitchFamily="34" charset="-120"/>
              </a:rPr>
              <a:t>Demand</a:t>
            </a:r>
            <a:endParaRPr lang="en-US" sz="1500" dirty="0"/>
          </a:p>
        </p:txBody>
      </p:sp>
      <p:sp>
        <p:nvSpPr>
          <p:cNvPr id="17" name="Text 15"/>
          <p:cNvSpPr txBox="1"/>
          <p:nvPr/>
        </p:nvSpPr>
        <p:spPr>
          <a:xfrm>
            <a:off x="10259568" y="2326599"/>
            <a:ext cx="914400" cy="274320"/>
          </a:xfrm>
          <a:prstGeom prst="rect">
            <a:avLst/>
          </a:prstGeom>
          <a:noFill/>
          <a:ln/>
        </p:spPr>
        <p:txBody>
          <a:bodyPr wrap="square" lIns="0" tIns="0" rIns="0" bIns="0" rtlCol="0" anchor="ctr"/>
          <a:lstStyle/>
          <a:p>
            <a:pPr marL="0" indent="0" algn="l">
              <a:buNone/>
            </a:pPr>
            <a:r>
              <a:rPr lang="en-US" sz="1500" dirty="0">
                <a:solidFill>
                  <a:srgbClr val="BE7F5E"/>
                </a:solidFill>
                <a:latin typeface="Cambria" pitchFamily="34" charset="0"/>
                <a:ea typeface="Cambria" pitchFamily="34" charset="-122"/>
                <a:cs typeface="Cambria" pitchFamily="34" charset="-120"/>
              </a:rPr>
              <a:t>Supply</a:t>
            </a:r>
            <a:endParaRPr lang="en-US" sz="1500" dirty="0"/>
          </a:p>
        </p:txBody>
      </p:sp>
      <p:sp>
        <p:nvSpPr>
          <p:cNvPr id="18" name="Shape 16"/>
          <p:cNvSpPr/>
          <p:nvPr/>
        </p:nvSpPr>
        <p:spPr>
          <a:xfrm>
            <a:off x="6675120" y="3794760"/>
            <a:ext cx="2240280" cy="914"/>
          </a:xfrm>
          <a:prstGeom prst="line">
            <a:avLst/>
          </a:prstGeom>
          <a:noFill/>
          <a:ln w="9525">
            <a:solidFill>
              <a:srgbClr val="657278"/>
            </a:solidFill>
            <a:prstDash val="dash"/>
          </a:ln>
        </p:spPr>
        <p:txBody>
          <a:bodyPr/>
          <a:lstStyle/>
          <a:p>
            <a:endParaRPr/>
          </a:p>
        </p:txBody>
      </p:sp>
      <p:sp>
        <p:nvSpPr>
          <p:cNvPr id="19" name="Text 17"/>
          <p:cNvSpPr txBox="1"/>
          <p:nvPr/>
        </p:nvSpPr>
        <p:spPr>
          <a:xfrm>
            <a:off x="6172200" y="3657600"/>
            <a:ext cx="411480" cy="274320"/>
          </a:xfrm>
          <a:prstGeom prst="rect">
            <a:avLst/>
          </a:prstGeom>
          <a:noFill/>
          <a:ln/>
        </p:spPr>
        <p:txBody>
          <a:bodyPr wrap="square" lIns="0" tIns="0" rIns="0" bIns="0" rtlCol="0" anchor="ctr"/>
          <a:lstStyle/>
          <a:p>
            <a:pPr marL="0" indent="0" algn="r">
              <a:buNone/>
            </a:pPr>
            <a:r>
              <a:rPr lang="en-US" sz="1500" dirty="0">
                <a:solidFill>
                  <a:srgbClr val="657278"/>
                </a:solidFill>
                <a:latin typeface="Cambria" pitchFamily="34" charset="0"/>
                <a:ea typeface="Cambria" pitchFamily="34" charset="-122"/>
                <a:cs typeface="Cambria" pitchFamily="34" charset="-120"/>
              </a:rPr>
              <a:t>P*</a:t>
            </a:r>
            <a:endParaRPr lang="en-US" sz="1500" dirty="0"/>
          </a:p>
        </p:txBody>
      </p:sp>
      <p:sp>
        <p:nvSpPr>
          <p:cNvPr id="20" name="Shape 18"/>
          <p:cNvSpPr/>
          <p:nvPr/>
        </p:nvSpPr>
        <p:spPr>
          <a:xfrm>
            <a:off x="8860536" y="3739896"/>
            <a:ext cx="109728" cy="109728"/>
          </a:xfrm>
          <a:prstGeom prst="ellipse">
            <a:avLst/>
          </a:prstGeom>
          <a:solidFill>
            <a:srgbClr val="FFFFFF"/>
          </a:solidFill>
          <a:ln w="12700">
            <a:solidFill>
              <a:srgbClr val="657278"/>
            </a:solidFill>
            <a:prstDash val="solid"/>
          </a:ln>
        </p:spPr>
        <p:txBody>
          <a:bodyPr/>
          <a:lstStyle/>
          <a:p>
            <a:endParaRPr/>
          </a:p>
        </p:txBody>
      </p:sp>
      <p:sp>
        <p:nvSpPr>
          <p:cNvPr id="21" name="Shape 19"/>
          <p:cNvSpPr/>
          <p:nvPr/>
        </p:nvSpPr>
        <p:spPr>
          <a:xfrm>
            <a:off x="6675120" y="4579315"/>
            <a:ext cx="3472434" cy="914"/>
          </a:xfrm>
          <a:prstGeom prst="line">
            <a:avLst/>
          </a:prstGeom>
          <a:noFill/>
          <a:ln w="12700">
            <a:solidFill>
              <a:srgbClr val="1C2321"/>
            </a:solidFill>
            <a:prstDash val="dash"/>
          </a:ln>
        </p:spPr>
        <p:txBody>
          <a:bodyPr/>
          <a:lstStyle/>
          <a:p>
            <a:endParaRPr/>
          </a:p>
        </p:txBody>
      </p:sp>
      <p:sp>
        <p:nvSpPr>
          <p:cNvPr id="22" name="Text 20"/>
          <p:cNvSpPr txBox="1"/>
          <p:nvPr/>
        </p:nvSpPr>
        <p:spPr>
          <a:xfrm>
            <a:off x="5715000" y="4442155"/>
            <a:ext cx="868680" cy="274320"/>
          </a:xfrm>
          <a:prstGeom prst="rect">
            <a:avLst/>
          </a:prstGeom>
          <a:noFill/>
          <a:ln/>
        </p:spPr>
        <p:txBody>
          <a:bodyPr wrap="square" lIns="0" tIns="0" rIns="0" bIns="0" rtlCol="0" anchor="ctr"/>
          <a:lstStyle/>
          <a:p>
            <a:pPr marL="0" indent="0" algn="r">
              <a:buNone/>
            </a:pPr>
            <a:r>
              <a:rPr lang="en-US" sz="1500" b="1" dirty="0">
                <a:solidFill>
                  <a:srgbClr val="1C2321"/>
                </a:solidFill>
                <a:latin typeface="Cambria" pitchFamily="34" charset="0"/>
                <a:ea typeface="Cambria" pitchFamily="34" charset="-122"/>
                <a:cs typeface="Cambria" pitchFamily="34" charset="-120"/>
              </a:rPr>
              <a:t>P₁ &lt; P*</a:t>
            </a:r>
            <a:endParaRPr lang="en-US" sz="1500" dirty="0"/>
          </a:p>
        </p:txBody>
      </p:sp>
      <p:sp>
        <p:nvSpPr>
          <p:cNvPr id="23" name="Shape 21"/>
          <p:cNvSpPr/>
          <p:nvPr/>
        </p:nvSpPr>
        <p:spPr>
          <a:xfrm>
            <a:off x="7683246" y="4579315"/>
            <a:ext cx="914" cy="998525"/>
          </a:xfrm>
          <a:prstGeom prst="line">
            <a:avLst/>
          </a:prstGeom>
          <a:noFill/>
          <a:ln w="9525">
            <a:solidFill>
              <a:srgbClr val="657278"/>
            </a:solidFill>
            <a:prstDash val="dash"/>
          </a:ln>
        </p:spPr>
        <p:txBody>
          <a:bodyPr/>
          <a:lstStyle/>
          <a:p>
            <a:endParaRPr/>
          </a:p>
        </p:txBody>
      </p:sp>
      <p:sp>
        <p:nvSpPr>
          <p:cNvPr id="24" name="Shape 22"/>
          <p:cNvSpPr/>
          <p:nvPr/>
        </p:nvSpPr>
        <p:spPr>
          <a:xfrm>
            <a:off x="10147554" y="4579315"/>
            <a:ext cx="914" cy="998525"/>
          </a:xfrm>
          <a:prstGeom prst="line">
            <a:avLst/>
          </a:prstGeom>
          <a:noFill/>
          <a:ln w="9525">
            <a:solidFill>
              <a:srgbClr val="657278"/>
            </a:solidFill>
            <a:prstDash val="dash"/>
          </a:ln>
        </p:spPr>
        <p:txBody>
          <a:bodyPr/>
          <a:lstStyle/>
          <a:p>
            <a:endParaRPr/>
          </a:p>
        </p:txBody>
      </p:sp>
      <p:sp>
        <p:nvSpPr>
          <p:cNvPr id="25" name="Text 23"/>
          <p:cNvSpPr txBox="1"/>
          <p:nvPr/>
        </p:nvSpPr>
        <p:spPr>
          <a:xfrm>
            <a:off x="7408926" y="5623560"/>
            <a:ext cx="548640" cy="274320"/>
          </a:xfrm>
          <a:prstGeom prst="rect">
            <a:avLst/>
          </a:prstGeom>
          <a:noFill/>
          <a:ln/>
        </p:spPr>
        <p:txBody>
          <a:bodyPr wrap="square" lIns="0" tIns="0" rIns="0" bIns="0" rtlCol="0" anchor="ctr"/>
          <a:lstStyle/>
          <a:p>
            <a:pPr marL="0" indent="0" algn="ctr">
              <a:buNone/>
            </a:pPr>
            <a:r>
              <a:rPr lang="en-US" sz="1400" b="1" dirty="0">
                <a:solidFill>
                  <a:srgbClr val="1C2321"/>
                </a:solidFill>
                <a:latin typeface="Cambria" pitchFamily="34" charset="0"/>
                <a:ea typeface="Cambria" pitchFamily="34" charset="-122"/>
                <a:cs typeface="Cambria" pitchFamily="34" charset="-120"/>
              </a:rPr>
              <a:t>Qs</a:t>
            </a:r>
            <a:endParaRPr lang="en-US" sz="1400" dirty="0"/>
          </a:p>
        </p:txBody>
      </p:sp>
      <p:sp>
        <p:nvSpPr>
          <p:cNvPr id="26" name="Text 24"/>
          <p:cNvSpPr txBox="1"/>
          <p:nvPr/>
        </p:nvSpPr>
        <p:spPr>
          <a:xfrm>
            <a:off x="9873234" y="5623560"/>
            <a:ext cx="548640" cy="274320"/>
          </a:xfrm>
          <a:prstGeom prst="rect">
            <a:avLst/>
          </a:prstGeom>
          <a:noFill/>
          <a:ln/>
        </p:spPr>
        <p:txBody>
          <a:bodyPr wrap="square" lIns="0" tIns="0" rIns="0" bIns="0" rtlCol="0" anchor="ctr"/>
          <a:lstStyle/>
          <a:p>
            <a:pPr marL="0" indent="0" algn="ctr">
              <a:buNone/>
            </a:pPr>
            <a:r>
              <a:rPr lang="en-US" sz="1400" b="1" dirty="0">
                <a:solidFill>
                  <a:srgbClr val="1C2321"/>
                </a:solidFill>
                <a:latin typeface="Cambria" pitchFamily="34" charset="0"/>
                <a:ea typeface="Cambria" pitchFamily="34" charset="-122"/>
                <a:cs typeface="Cambria" pitchFamily="34" charset="-120"/>
              </a:rPr>
              <a:t>Qd</a:t>
            </a:r>
            <a:endParaRPr lang="en-US" sz="1400" dirty="0"/>
          </a:p>
        </p:txBody>
      </p:sp>
      <p:sp>
        <p:nvSpPr>
          <p:cNvPr id="27" name="Shape 25"/>
          <p:cNvSpPr/>
          <p:nvPr/>
        </p:nvSpPr>
        <p:spPr>
          <a:xfrm>
            <a:off x="7683246" y="4524451"/>
            <a:ext cx="2464308" cy="109728"/>
          </a:xfrm>
          <a:prstGeom prst="rect">
            <a:avLst/>
          </a:prstGeom>
          <a:solidFill>
            <a:srgbClr val="3E7C79">
              <a:alpha val="55000"/>
            </a:srgbClr>
          </a:solidFill>
          <a:ln w="6350">
            <a:solidFill>
              <a:srgbClr val="3E7C79"/>
            </a:solidFill>
            <a:prstDash val="solid"/>
          </a:ln>
        </p:spPr>
        <p:txBody>
          <a:bodyPr/>
          <a:lstStyle/>
          <a:p>
            <a:endParaRPr/>
          </a:p>
        </p:txBody>
      </p:sp>
      <p:sp>
        <p:nvSpPr>
          <p:cNvPr id="28" name="Text 26"/>
          <p:cNvSpPr txBox="1"/>
          <p:nvPr/>
        </p:nvSpPr>
        <p:spPr>
          <a:xfrm>
            <a:off x="8183880" y="4707331"/>
            <a:ext cx="1463040" cy="310896"/>
          </a:xfrm>
          <a:prstGeom prst="rect">
            <a:avLst/>
          </a:prstGeom>
          <a:noFill/>
          <a:ln/>
        </p:spPr>
        <p:txBody>
          <a:bodyPr wrap="square" lIns="0" tIns="0" rIns="0" bIns="0" rtlCol="0" anchor="ctr"/>
          <a:lstStyle/>
          <a:p>
            <a:pPr marL="0" indent="0" algn="ctr">
              <a:buNone/>
            </a:pPr>
            <a:r>
              <a:rPr lang="en-US" sz="1600" b="1" dirty="0">
                <a:solidFill>
                  <a:srgbClr val="3E7C79"/>
                </a:solidFill>
                <a:latin typeface="Cambria" pitchFamily="34" charset="0"/>
                <a:ea typeface="Cambria" pitchFamily="34" charset="-122"/>
                <a:cs typeface="Cambria" pitchFamily="34" charset="-120"/>
              </a:rPr>
              <a:t>Shortage</a:t>
            </a:r>
            <a:endParaRPr lang="en-US" sz="1600" dirty="0"/>
          </a:p>
        </p:txBody>
      </p:sp>
      <p:sp>
        <p:nvSpPr>
          <p:cNvPr id="29" name="Shape 27"/>
          <p:cNvSpPr/>
          <p:nvPr/>
        </p:nvSpPr>
        <p:spPr>
          <a:xfrm>
            <a:off x="6899148" y="3886200"/>
            <a:ext cx="274320" cy="601675"/>
          </a:xfrm>
          <a:prstGeom prst="upArrow">
            <a:avLst/>
          </a:prstGeom>
          <a:solidFill>
            <a:srgbClr val="3E7C79"/>
          </a:solidFill>
          <a:ln/>
        </p:spPr>
        <p:txBody>
          <a:bodyPr/>
          <a:lstStyle/>
          <a: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47</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Who Is Competing?</a:t>
            </a:r>
            <a:endParaRPr lang="en-US" sz="3200" dirty="0"/>
          </a:p>
        </p:txBody>
      </p:sp>
      <p:sp>
        <p:nvSpPr>
          <p:cNvPr id="7" name="Text 5"/>
          <p:cNvSpPr txBox="1"/>
          <p:nvPr/>
        </p:nvSpPr>
        <p:spPr>
          <a:xfrm>
            <a:off x="548640" y="1737360"/>
            <a:ext cx="11091672" cy="457200"/>
          </a:xfrm>
          <a:prstGeom prst="rect">
            <a:avLst/>
          </a:prstGeom>
          <a:noFill/>
          <a:ln/>
        </p:spPr>
        <p:txBody>
          <a:bodyPr wrap="square" lIns="0" tIns="0" rIns="0" bIns="0" rtlCol="0" anchor="ctr"/>
          <a:lstStyle/>
          <a:p>
            <a:pPr marL="0" indent="0">
              <a:buNone/>
            </a:pPr>
            <a:r>
              <a:rPr lang="en-US" sz="1800" i="1" dirty="0">
                <a:solidFill>
                  <a:srgbClr val="51605E"/>
                </a:solidFill>
                <a:latin typeface="Cambria" pitchFamily="34" charset="0"/>
                <a:ea typeface="Cambria" pitchFamily="34" charset="-122"/>
                <a:cs typeface="Cambria" pitchFamily="34" charset="-120"/>
              </a:rPr>
              <a:t>Away from equilibrium, economic forces push or pull us back to the equilibrium price. How?</a:t>
            </a:r>
            <a:endParaRPr lang="en-US" sz="1800" dirty="0"/>
          </a:p>
        </p:txBody>
      </p:sp>
      <p:sp>
        <p:nvSpPr>
          <p:cNvPr id="8" name="Shape 6"/>
          <p:cNvSpPr/>
          <p:nvPr/>
        </p:nvSpPr>
        <p:spPr>
          <a:xfrm>
            <a:off x="548640" y="2377440"/>
            <a:ext cx="5449824" cy="3017520"/>
          </a:xfrm>
          <a:prstGeom prst="roundRect">
            <a:avLst>
              <a:gd name="adj" fmla="val 1818"/>
            </a:avLst>
          </a:prstGeom>
          <a:solidFill>
            <a:srgbClr val="F1E3DA"/>
          </a:solidFill>
          <a:ln/>
        </p:spPr>
        <p:txBody>
          <a:bodyPr/>
          <a:lstStyle/>
          <a:p>
            <a:endParaRPr/>
          </a:p>
        </p:txBody>
      </p:sp>
      <p:sp>
        <p:nvSpPr>
          <p:cNvPr id="9" name="Text 7"/>
          <p:cNvSpPr txBox="1"/>
          <p:nvPr/>
        </p:nvSpPr>
        <p:spPr>
          <a:xfrm>
            <a:off x="868680" y="265176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IF THERE IS A SURPLUS</a:t>
            </a:r>
            <a:endParaRPr lang="en-US" sz="1300" dirty="0"/>
          </a:p>
        </p:txBody>
      </p:sp>
      <p:sp>
        <p:nvSpPr>
          <p:cNvPr id="10" name="Text 8"/>
          <p:cNvSpPr txBox="1"/>
          <p:nvPr/>
        </p:nvSpPr>
        <p:spPr>
          <a:xfrm>
            <a:off x="868680" y="3154680"/>
            <a:ext cx="4809744" cy="2011680"/>
          </a:xfrm>
          <a:prstGeom prst="rect">
            <a:avLst/>
          </a:prstGeom>
          <a:noFill/>
          <a:ln/>
        </p:spPr>
        <p:txBody>
          <a:bodyPr wrap="square" lIns="0" tIns="0" rIns="0" bIns="0" rtlCol="0" anchor="t"/>
          <a:lstStyle/>
          <a:p>
            <a:pPr marL="0" indent="0">
              <a:spcAft>
                <a:spcPts val="800"/>
              </a:spcAft>
              <a:buNone/>
            </a:pPr>
            <a:r>
              <a:rPr lang="en-US" sz="1800" b="1" dirty="0">
                <a:solidFill>
                  <a:srgbClr val="1C2321"/>
                </a:solidFill>
                <a:latin typeface="Cambria" pitchFamily="34" charset="0"/>
                <a:ea typeface="Cambria" pitchFamily="34" charset="-122"/>
                <a:cs typeface="Cambria" pitchFamily="34" charset="-120"/>
              </a:rPr>
              <a:t>Sellers compete with one another.</a:t>
            </a:r>
            <a:endParaRPr lang="en-US" sz="1800" dirty="0"/>
          </a:p>
          <a:p>
            <a:pPr marL="0" indent="0">
              <a:spcAft>
                <a:spcPts val="800"/>
              </a:spcAft>
              <a:buNone/>
            </a:pPr>
            <a:r>
              <a:rPr lang="en-US" sz="1800" dirty="0">
                <a:solidFill>
                  <a:srgbClr val="1C2321"/>
                </a:solidFill>
                <a:latin typeface="Cambria" pitchFamily="34" charset="0"/>
                <a:ea typeface="Cambria" pitchFamily="34" charset="-122"/>
                <a:cs typeface="Cambria" pitchFamily="34" charset="-120"/>
              </a:rPr>
              <a:t>Each lowers their price so that buyers purchase from them. This competition among sellers bids the price down until Qd = Qs.</a:t>
            </a:r>
            <a:endParaRPr lang="en-US" sz="1800" dirty="0"/>
          </a:p>
        </p:txBody>
      </p:sp>
      <p:sp>
        <p:nvSpPr>
          <p:cNvPr id="11" name="Shape 9"/>
          <p:cNvSpPr/>
          <p:nvPr/>
        </p:nvSpPr>
        <p:spPr>
          <a:xfrm>
            <a:off x="6190488" y="2377440"/>
            <a:ext cx="5449824" cy="3017520"/>
          </a:xfrm>
          <a:prstGeom prst="roundRect">
            <a:avLst>
              <a:gd name="adj" fmla="val 1818"/>
            </a:avLst>
          </a:prstGeom>
          <a:solidFill>
            <a:srgbClr val="DCEAE8"/>
          </a:solidFill>
          <a:ln/>
        </p:spPr>
        <p:txBody>
          <a:bodyPr/>
          <a:lstStyle/>
          <a:p>
            <a:endParaRPr/>
          </a:p>
        </p:txBody>
      </p:sp>
      <p:sp>
        <p:nvSpPr>
          <p:cNvPr id="12" name="Text 10"/>
          <p:cNvSpPr txBox="1"/>
          <p:nvPr/>
        </p:nvSpPr>
        <p:spPr>
          <a:xfrm>
            <a:off x="6510528" y="265176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IF THERE IS A SHORTAGE</a:t>
            </a:r>
            <a:endParaRPr lang="en-US" sz="1300" dirty="0"/>
          </a:p>
        </p:txBody>
      </p:sp>
      <p:sp>
        <p:nvSpPr>
          <p:cNvPr id="13" name="Text 11"/>
          <p:cNvSpPr txBox="1"/>
          <p:nvPr/>
        </p:nvSpPr>
        <p:spPr>
          <a:xfrm>
            <a:off x="6510528" y="3154680"/>
            <a:ext cx="4809744" cy="2011680"/>
          </a:xfrm>
          <a:prstGeom prst="rect">
            <a:avLst/>
          </a:prstGeom>
          <a:noFill/>
          <a:ln/>
        </p:spPr>
        <p:txBody>
          <a:bodyPr wrap="square" lIns="0" tIns="0" rIns="0" bIns="0" rtlCol="0" anchor="t"/>
          <a:lstStyle/>
          <a:p>
            <a:pPr marL="0" indent="0">
              <a:spcAft>
                <a:spcPts val="800"/>
              </a:spcAft>
              <a:buNone/>
            </a:pPr>
            <a:r>
              <a:rPr lang="en-US" sz="1800" b="1" dirty="0">
                <a:solidFill>
                  <a:srgbClr val="1C2321"/>
                </a:solidFill>
                <a:latin typeface="Cambria" pitchFamily="34" charset="0"/>
                <a:ea typeface="Cambria" pitchFamily="34" charset="-122"/>
                <a:cs typeface="Cambria" pitchFamily="34" charset="-120"/>
              </a:rPr>
              <a:t>Buyers compete with one another.</a:t>
            </a:r>
            <a:endParaRPr lang="en-US" sz="1800" dirty="0"/>
          </a:p>
          <a:p>
            <a:pPr marL="0" indent="0">
              <a:spcAft>
                <a:spcPts val="800"/>
              </a:spcAft>
              <a:buNone/>
            </a:pPr>
            <a:r>
              <a:rPr lang="en-US" sz="1800" dirty="0">
                <a:solidFill>
                  <a:srgbClr val="1C2321"/>
                </a:solidFill>
                <a:latin typeface="Cambria" pitchFamily="34" charset="0"/>
                <a:ea typeface="Cambria" pitchFamily="34" charset="-122"/>
                <a:cs typeface="Cambria" pitchFamily="34" charset="-120"/>
              </a:rPr>
              <a:t>Each offers a higher price to outbid the others. This competition among buyers bids the price up until Qd = Qs.</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12064"/>
            <a:ext cx="128016" cy="128016"/>
          </a:xfrm>
          <a:prstGeom prst="rect">
            <a:avLst/>
          </a:prstGeom>
          <a:solidFill>
            <a:srgbClr val="BE7F5E"/>
          </a:solidFill>
          <a:ln/>
        </p:spPr>
        <p:txBody>
          <a:bodyPr/>
          <a:lstStyle/>
          <a:p>
            <a:endParaRPr/>
          </a:p>
        </p:txBody>
      </p:sp>
      <p:sp>
        <p:nvSpPr>
          <p:cNvPr id="3" name="Text 1"/>
          <p:cNvSpPr txBox="1"/>
          <p:nvPr/>
        </p:nvSpPr>
        <p:spPr>
          <a:xfrm>
            <a:off x="777240" y="438912"/>
            <a:ext cx="10789920" cy="292608"/>
          </a:xfrm>
          <a:prstGeom prst="rect">
            <a:avLst/>
          </a:prstGeom>
          <a:noFill/>
          <a:ln/>
        </p:spPr>
        <p:txBody>
          <a:bodyPr wrap="square" lIns="0" tIns="0" rIns="0" bIns="0" rtlCol="0" anchor="ctr"/>
          <a:lstStyle/>
          <a:p>
            <a:pPr marL="0" indent="0">
              <a:buNone/>
            </a:pPr>
            <a:r>
              <a:rPr lang="en-US" sz="1300" b="1" kern="0" spc="200" dirty="0">
                <a:solidFill>
                  <a:srgbClr val="1C2321"/>
                </a:solidFill>
                <a:latin typeface="Cambria" pitchFamily="34" charset="0"/>
                <a:ea typeface="Cambria" pitchFamily="34" charset="-122"/>
                <a:cs typeface="Cambria" pitchFamily="34" charset="-120"/>
              </a:rPr>
              <a:t>INTRODUCTION TO EQUILIBRIUM</a:t>
            </a:r>
            <a:endParaRPr lang="en-US" sz="1300" dirty="0"/>
          </a:p>
        </p:txBody>
      </p:sp>
      <p:sp>
        <p:nvSpPr>
          <p:cNvPr id="4" name="Text 2"/>
          <p:cNvSpPr txBox="1"/>
          <p:nvPr/>
        </p:nvSpPr>
        <p:spPr>
          <a:xfrm>
            <a:off x="548640" y="6528816"/>
            <a:ext cx="8229600" cy="274320"/>
          </a:xfrm>
          <a:prstGeom prst="rect">
            <a:avLst/>
          </a:prstGeom>
          <a:noFill/>
          <a:ln/>
        </p:spPr>
        <p:txBody>
          <a:bodyPr wrap="square" lIns="0" tIns="0" rIns="0" bIns="0" rtlCol="0" anchor="ctr"/>
          <a:lstStyle/>
          <a:p>
            <a:pPr marL="0" indent="0">
              <a:buNone/>
            </a:pPr>
            <a:r>
              <a:rPr lang="en-US" sz="1000" kern="0" spc="100" dirty="0">
                <a:solidFill>
                  <a:srgbClr val="51605E"/>
                </a:solidFill>
                <a:latin typeface="Cambria" pitchFamily="34" charset="0"/>
                <a:ea typeface="Cambria" pitchFamily="34" charset="-122"/>
                <a:cs typeface="Cambria" pitchFamily="34" charset="-120"/>
              </a:rPr>
              <a:t>ECON 103  ·  CONTEMPORARY MICROECONOMIC PRINCIPLES</a:t>
            </a:r>
            <a:endParaRPr lang="en-US" sz="1000" dirty="0"/>
          </a:p>
        </p:txBody>
      </p:sp>
      <p:sp>
        <p:nvSpPr>
          <p:cNvPr id="5" name="Text 3"/>
          <p:cNvSpPr txBox="1"/>
          <p:nvPr/>
        </p:nvSpPr>
        <p:spPr>
          <a:xfrm>
            <a:off x="11155680" y="6528816"/>
            <a:ext cx="548640" cy="274320"/>
          </a:xfrm>
          <a:prstGeom prst="rect">
            <a:avLst/>
          </a:prstGeom>
          <a:noFill/>
          <a:ln/>
        </p:spPr>
        <p:txBody>
          <a:bodyPr wrap="square" lIns="0" tIns="0" rIns="0" bIns="0" rtlCol="0" anchor="ctr"/>
          <a:lstStyle/>
          <a:p>
            <a:pPr marL="0" indent="0" algn="r">
              <a:buNone/>
            </a:pPr>
            <a:r>
              <a:rPr lang="en-US" sz="1000" dirty="0">
                <a:solidFill>
                  <a:srgbClr val="51605E"/>
                </a:solidFill>
                <a:latin typeface="Cambria" pitchFamily="34" charset="0"/>
                <a:ea typeface="Cambria" pitchFamily="34" charset="-122"/>
                <a:cs typeface="Cambria" pitchFamily="34" charset="-120"/>
              </a:rPr>
              <a:t>48</a:t>
            </a:r>
            <a:endParaRPr lang="en-US" sz="1000" dirty="0"/>
          </a:p>
        </p:txBody>
      </p:sp>
      <p:sp>
        <p:nvSpPr>
          <p:cNvPr id="6" name="Text 4"/>
          <p:cNvSpPr>
            <a:spLocks noGrp="1"/>
          </p:cNvSpPr>
          <p:nvPr>
            <p:ph type="title"/>
          </p:nvPr>
        </p:nvSpPr>
        <p:spPr>
          <a:xfrm>
            <a:off x="548640" y="786384"/>
            <a:ext cx="11091672" cy="822960"/>
          </a:xfrm>
          <a:prstGeom prst="rect">
            <a:avLst/>
          </a:prstGeom>
          <a:noFill/>
          <a:ln/>
        </p:spPr>
        <p:txBody>
          <a:bodyPr wrap="square" lIns="0" tIns="0" rIns="0" bIns="0" rtlCol="0" anchor="t"/>
          <a:lstStyle/>
          <a:p>
            <a:pPr marL="0" indent="0" algn="l">
              <a:buNone/>
            </a:pPr>
            <a:r>
              <a:rPr lang="en-US" sz="3200" b="1" dirty="0">
                <a:solidFill>
                  <a:srgbClr val="1C2321"/>
                </a:solidFill>
                <a:latin typeface="Cambria" pitchFamily="34" charset="0"/>
                <a:ea typeface="Cambria" pitchFamily="34" charset="-122"/>
                <a:cs typeface="Cambria" pitchFamily="34" charset="-120"/>
              </a:rPr>
              <a:t>Who Is Competing?</a:t>
            </a:r>
            <a:endParaRPr lang="en-US" sz="3200" dirty="0"/>
          </a:p>
        </p:txBody>
      </p:sp>
      <p:sp>
        <p:nvSpPr>
          <p:cNvPr id="7" name="Shape 5"/>
          <p:cNvSpPr/>
          <p:nvPr/>
        </p:nvSpPr>
        <p:spPr>
          <a:xfrm>
            <a:off x="548640" y="1783080"/>
            <a:ext cx="11091672" cy="777240"/>
          </a:xfrm>
          <a:prstGeom prst="roundRect">
            <a:avLst>
              <a:gd name="adj" fmla="val 9412"/>
            </a:avLst>
          </a:prstGeom>
          <a:solidFill>
            <a:srgbClr val="FAF6F3"/>
          </a:solidFill>
          <a:ln/>
        </p:spPr>
        <p:txBody>
          <a:bodyPr/>
          <a:lstStyle/>
          <a:p>
            <a:endParaRPr/>
          </a:p>
        </p:txBody>
      </p:sp>
      <p:sp>
        <p:nvSpPr>
          <p:cNvPr id="8" name="Text 6"/>
          <p:cNvSpPr txBox="1"/>
          <p:nvPr/>
        </p:nvSpPr>
        <p:spPr>
          <a:xfrm>
            <a:off x="868680" y="1783080"/>
            <a:ext cx="10451592" cy="777240"/>
          </a:xfrm>
          <a:prstGeom prst="rect">
            <a:avLst/>
          </a:prstGeom>
          <a:noFill/>
          <a:ln/>
        </p:spPr>
        <p:txBody>
          <a:bodyPr wrap="square" lIns="0" tIns="0" rIns="0" bIns="0" rtlCol="0" anchor="ctr"/>
          <a:lstStyle/>
          <a:p>
            <a:pPr marL="0" indent="0" algn="ctr">
              <a:buNone/>
            </a:pPr>
            <a:r>
              <a:rPr lang="en-US" sz="1900" i="1" dirty="0">
                <a:solidFill>
                  <a:srgbClr val="1C2321"/>
                </a:solidFill>
                <a:latin typeface="Cambria" pitchFamily="34" charset="0"/>
                <a:ea typeface="Cambria" pitchFamily="34" charset="-122"/>
                <a:cs typeface="Cambria" pitchFamily="34" charset="-120"/>
              </a:rPr>
              <a:t>Many people see buyers and sellers as competing with each other.</a:t>
            </a:r>
            <a:endParaRPr lang="en-US" sz="1900" dirty="0"/>
          </a:p>
        </p:txBody>
      </p:sp>
      <p:sp>
        <p:nvSpPr>
          <p:cNvPr id="9" name="Text 7"/>
          <p:cNvSpPr txBox="1"/>
          <p:nvPr/>
        </p:nvSpPr>
        <p:spPr>
          <a:xfrm>
            <a:off x="548640" y="2788920"/>
            <a:ext cx="11091672" cy="411480"/>
          </a:xfrm>
          <a:prstGeom prst="rect">
            <a:avLst/>
          </a:prstGeom>
          <a:noFill/>
          <a:ln/>
        </p:spPr>
        <p:txBody>
          <a:bodyPr wrap="square" lIns="0" tIns="0" rIns="0" bIns="0" rtlCol="0" anchor="ctr"/>
          <a:lstStyle/>
          <a:p>
            <a:pPr marL="0" indent="0">
              <a:buNone/>
            </a:pPr>
            <a:r>
              <a:rPr lang="en-US" sz="2000" b="1" dirty="0">
                <a:solidFill>
                  <a:srgbClr val="1C2321"/>
                </a:solidFill>
                <a:latin typeface="Cambria" pitchFamily="34" charset="0"/>
                <a:ea typeface="Cambria" pitchFamily="34" charset="-122"/>
                <a:cs typeface="Cambria" pitchFamily="34" charset="-120"/>
              </a:rPr>
              <a:t>The reality:</a:t>
            </a:r>
            <a:endParaRPr lang="en-US" sz="2000" dirty="0"/>
          </a:p>
        </p:txBody>
      </p:sp>
      <p:sp>
        <p:nvSpPr>
          <p:cNvPr id="10" name="Shape 8"/>
          <p:cNvSpPr/>
          <p:nvPr/>
        </p:nvSpPr>
        <p:spPr>
          <a:xfrm>
            <a:off x="548640" y="3337560"/>
            <a:ext cx="5449824" cy="2103120"/>
          </a:xfrm>
          <a:prstGeom prst="roundRect">
            <a:avLst>
              <a:gd name="adj" fmla="val 2609"/>
            </a:avLst>
          </a:prstGeom>
          <a:solidFill>
            <a:srgbClr val="F1E3DA"/>
          </a:solidFill>
          <a:ln/>
        </p:spPr>
        <p:txBody>
          <a:bodyPr/>
          <a:lstStyle/>
          <a:p>
            <a:endParaRPr/>
          </a:p>
        </p:txBody>
      </p:sp>
      <p:sp>
        <p:nvSpPr>
          <p:cNvPr id="11" name="Text 9"/>
          <p:cNvSpPr txBox="1"/>
          <p:nvPr/>
        </p:nvSpPr>
        <p:spPr>
          <a:xfrm>
            <a:off x="868680" y="361188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SELLERS VS. SELLERS</a:t>
            </a:r>
            <a:endParaRPr lang="en-US" sz="1300" dirty="0"/>
          </a:p>
        </p:txBody>
      </p:sp>
      <p:sp>
        <p:nvSpPr>
          <p:cNvPr id="12" name="Text 10"/>
          <p:cNvSpPr txBox="1"/>
          <p:nvPr/>
        </p:nvSpPr>
        <p:spPr>
          <a:xfrm>
            <a:off x="868680" y="4114800"/>
            <a:ext cx="4809744" cy="1097280"/>
          </a:xfrm>
          <a:prstGeom prst="rect">
            <a:avLst/>
          </a:prstGeom>
          <a:noFill/>
          <a:ln/>
        </p:spPr>
        <p:txBody>
          <a:bodyPr wrap="square" lIns="0" tIns="0" rIns="0" bIns="0" rtlCol="0" anchor="t"/>
          <a:lstStyle/>
          <a:p>
            <a:pPr marL="0" indent="0">
              <a:spcAft>
                <a:spcPts val="800"/>
              </a:spcAft>
              <a:buNone/>
            </a:pPr>
            <a:r>
              <a:rPr lang="en-US" sz="2200" dirty="0">
                <a:solidFill>
                  <a:srgbClr val="1C2321"/>
                </a:solidFill>
                <a:latin typeface="Cambria" pitchFamily="34" charset="0"/>
                <a:ea typeface="Cambria" pitchFamily="34" charset="-122"/>
                <a:cs typeface="Cambria" pitchFamily="34" charset="-120"/>
              </a:rPr>
              <a:t>Sellers are constantly competing with other sellers to win customers.</a:t>
            </a:r>
            <a:endParaRPr lang="en-US" sz="2200" dirty="0"/>
          </a:p>
        </p:txBody>
      </p:sp>
      <p:sp>
        <p:nvSpPr>
          <p:cNvPr id="13" name="Shape 11"/>
          <p:cNvSpPr/>
          <p:nvPr/>
        </p:nvSpPr>
        <p:spPr>
          <a:xfrm>
            <a:off x="6190488" y="3337560"/>
            <a:ext cx="5449824" cy="2103120"/>
          </a:xfrm>
          <a:prstGeom prst="roundRect">
            <a:avLst>
              <a:gd name="adj" fmla="val 2609"/>
            </a:avLst>
          </a:prstGeom>
          <a:solidFill>
            <a:srgbClr val="DCEAE8"/>
          </a:solidFill>
          <a:ln/>
        </p:spPr>
        <p:txBody>
          <a:bodyPr/>
          <a:lstStyle/>
          <a:p>
            <a:endParaRPr/>
          </a:p>
        </p:txBody>
      </p:sp>
      <p:sp>
        <p:nvSpPr>
          <p:cNvPr id="14" name="Text 12"/>
          <p:cNvSpPr txBox="1"/>
          <p:nvPr/>
        </p:nvSpPr>
        <p:spPr>
          <a:xfrm>
            <a:off x="6510528" y="3611880"/>
            <a:ext cx="4809744" cy="411480"/>
          </a:xfrm>
          <a:prstGeom prst="rect">
            <a:avLst/>
          </a:prstGeom>
          <a:noFill/>
          <a:ln/>
        </p:spPr>
        <p:txBody>
          <a:bodyPr wrap="square" lIns="0" tIns="0" rIns="0" bIns="0" rtlCol="0" anchor="t"/>
          <a:lstStyle/>
          <a:p>
            <a:pPr marL="0" indent="0">
              <a:buNone/>
            </a:pPr>
            <a:r>
              <a:rPr lang="en-US" sz="1300" b="1" kern="0" spc="200" dirty="0">
                <a:solidFill>
                  <a:srgbClr val="1C2321"/>
                </a:solidFill>
                <a:latin typeface="Cambria" pitchFamily="34" charset="0"/>
                <a:ea typeface="Cambria" pitchFamily="34" charset="-122"/>
                <a:cs typeface="Cambria" pitchFamily="34" charset="-120"/>
              </a:rPr>
              <a:t>BUYERS VS. BUYERS</a:t>
            </a:r>
            <a:endParaRPr lang="en-US" sz="1300" dirty="0"/>
          </a:p>
        </p:txBody>
      </p:sp>
      <p:sp>
        <p:nvSpPr>
          <p:cNvPr id="15" name="Text 13"/>
          <p:cNvSpPr txBox="1"/>
          <p:nvPr/>
        </p:nvSpPr>
        <p:spPr>
          <a:xfrm>
            <a:off x="6510528" y="4114800"/>
            <a:ext cx="4809744" cy="1097280"/>
          </a:xfrm>
          <a:prstGeom prst="rect">
            <a:avLst/>
          </a:prstGeom>
          <a:noFill/>
          <a:ln/>
        </p:spPr>
        <p:txBody>
          <a:bodyPr wrap="square" lIns="0" tIns="0" rIns="0" bIns="0" rtlCol="0" anchor="t"/>
          <a:lstStyle/>
          <a:p>
            <a:pPr marL="0" indent="0">
              <a:spcAft>
                <a:spcPts val="800"/>
              </a:spcAft>
              <a:buNone/>
            </a:pPr>
            <a:r>
              <a:rPr lang="en-US" sz="2200" dirty="0">
                <a:solidFill>
                  <a:srgbClr val="1C2321"/>
                </a:solidFill>
                <a:latin typeface="Cambria" pitchFamily="34" charset="0"/>
                <a:ea typeface="Cambria" pitchFamily="34" charset="-122"/>
                <a:cs typeface="Cambria" pitchFamily="34" charset="-120"/>
              </a:rPr>
              <a:t>Buyers are constantly competing with other buyers to obtain goods and services.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10240</Words>
  <Application>Microsoft Macintosh PowerPoint</Application>
  <DocSecurity>0</DocSecurity>
  <PresentationFormat>Widescreen</PresentationFormat>
  <Paragraphs>752</Paragraphs>
  <Slides>48</Slides>
  <Notes>48</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Cambria</vt:lpstr>
      <vt:lpstr>Office Theme</vt:lpstr>
      <vt:lpstr>Quiz Review &amp; Exam Overview Introduction to Equilibrium</vt:lpstr>
      <vt:lpstr>Today’s Objectives</vt:lpstr>
      <vt:lpstr>Question 1a &amp; 1b: Inferior vs. Normal Good</vt:lpstr>
      <vt:lpstr>Question 1a &amp; 1b: Inferior vs. Normal Good</vt:lpstr>
      <vt:lpstr>Question 1c &amp; 1d: Substitute vs. Complement Goods</vt:lpstr>
      <vt:lpstr>Question 1c &amp; 1d: Substitute vs. Complement Goods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Consumer Surplus</vt:lpstr>
      <vt:lpstr>Producer Surplus: Beer</vt:lpstr>
      <vt:lpstr>Producer Surplus: Beer</vt:lpstr>
      <vt:lpstr>Let’s Do This for Producer Surplus</vt:lpstr>
      <vt:lpstr>Any Questions on the Quiz?</vt:lpstr>
      <vt:lpstr>Exam Overview</vt:lpstr>
      <vt:lpstr>Question Format</vt:lpstr>
      <vt:lpstr>Exam Grading</vt:lpstr>
      <vt:lpstr>Exam Materials</vt:lpstr>
      <vt:lpstr>Any Questions on the Exam?</vt:lpstr>
      <vt:lpstr>Reviewing Our Concepts</vt:lpstr>
      <vt:lpstr>Moneyball</vt:lpstr>
      <vt:lpstr>Friends</vt:lpstr>
      <vt:lpstr>The Simpsons</vt:lpstr>
      <vt:lpstr>Futurama</vt:lpstr>
      <vt:lpstr>Seinfeld</vt:lpstr>
      <vt:lpstr>Elf</vt:lpstr>
      <vt:lpstr>Your Turn</vt:lpstr>
      <vt:lpstr>From This Point Forward, We Are Discussing Exam 2 Content</vt:lpstr>
      <vt:lpstr>Equilibrium</vt:lpstr>
      <vt:lpstr>Introduction to Equilibrium</vt:lpstr>
      <vt:lpstr>Bringing Supply and Demand Together</vt:lpstr>
      <vt:lpstr>Equilibrium Point</vt:lpstr>
      <vt:lpstr>Deviations from Equilibrium</vt:lpstr>
      <vt:lpstr>Surplus &amp; Shortage</vt:lpstr>
      <vt:lpstr>Surplus</vt:lpstr>
      <vt:lpstr>Shortage</vt:lpstr>
      <vt:lpstr>Who Is Competing?</vt:lpstr>
      <vt:lpstr>Who Is Competing?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Molly Rose Rovinski</cp:lastModifiedBy>
  <cp:revision>3</cp:revision>
  <dcterms:created xsi:type="dcterms:W3CDTF">2026-09-21T02:49:23Z</dcterms:created>
  <dcterms:modified xsi:type="dcterms:W3CDTF">2026-09-22T14:05:35Z</dcterms:modified>
</cp:coreProperties>
</file>